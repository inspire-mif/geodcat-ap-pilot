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73" r:id="rId5"/>
    <p:sldId id="258" r:id="rId6"/>
    <p:sldId id="276" r:id="rId7"/>
    <p:sldId id="263" r:id="rId8"/>
    <p:sldId id="259" r:id="rId9"/>
    <p:sldId id="269" r:id="rId10"/>
    <p:sldId id="260" r:id="rId11"/>
    <p:sldId id="261" r:id="rId12"/>
    <p:sldId id="277" r:id="rId13"/>
    <p:sldId id="280" r:id="rId14"/>
    <p:sldId id="265" r:id="rId15"/>
    <p:sldId id="266" r:id="rId16"/>
    <p:sldId id="282" r:id="rId17"/>
    <p:sldId id="267" r:id="rId18"/>
    <p:sldId id="274" r:id="rId19"/>
    <p:sldId id="275" r:id="rId20"/>
    <p:sldId id="262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38E5-B52E-C538-1763-D8EFADEC1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1AA76-6F46-758A-1177-499C7649F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83CB4-6DE6-A154-C5BB-3AE66259C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FAA0D-A4C6-4BD4-7B0B-C112FFD8F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3E931-6811-2D56-0F46-DC0C5E68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7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97A3-4D88-194A-8C6A-FFED4370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E269D-30BB-F29F-024D-59371924B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F6667-117C-74A7-7E7F-2A1C5548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E3D3B-424C-D9A2-0FE5-D78B640B5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B2D9F-3D88-CE5D-FD38-A4FF069C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15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B025-DB9E-CF99-2E78-8EC6E09B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88BAE-D8EA-4B97-ABF1-35F2CE348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00F5B-4400-FF9D-569A-8CC9510F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F51BC-8498-9827-3595-9666F92D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CBD6A-6AFF-F5BA-917E-B8DD108F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83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3856-84C2-F91F-3700-3F82EF93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3AA77-73FE-A711-88DE-E3468EE8D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FC599-F55C-AED4-16F5-F0D854A06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EC493-0F63-5EA4-2CB6-F3030404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B7A99-43D2-E8D2-D64F-73FC714E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61372-4F44-AE32-8E79-59BD53D7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49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4D5AC-2B71-8F3C-2117-1D901F7CC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4D450-4FD4-F4B4-0831-4A8DBD820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CEB5E-423B-738A-C584-F0DD375F5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15C559-7F29-48CD-3392-CB86FF91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D1B4E-F030-B753-35D9-F3A00FBF0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4E51F2-565D-14A5-9CC5-BAA50EE45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9E699A-F84B-4781-DD79-B49FBA09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56BA1C-6360-CD38-5D62-C862DF910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75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2C1F7-BC59-0C70-7CF8-F364DE4F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41DA9A-AA9B-213A-9EC6-E88CD371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0C1F9-F93C-A475-4E5E-A85382C7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AC3AA-D14F-6C90-0A5B-65FDEE4A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81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3524D5-F154-C343-FE90-3272B619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B2A50-448C-5CDA-5465-27EE9C0D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B94DE-A412-8C6D-4F77-F64C4F10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22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00624-48C9-B93A-0E31-689A21ECC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2594D-DE7D-A25A-AA2E-E9E081F7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9E945-429C-879A-9C99-EAD491D53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57176-B25C-F712-798D-DF9263C7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B68C6-70B4-D4D4-DE6C-00523CEB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6A864-CF0F-DBDF-06E1-7CD023E8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09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6806-87DA-4DA2-E7E8-A1EACB62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AA910-ABE8-06B4-104F-A5006D6E5B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3F8B5-D00E-7B23-92E8-389D0B6DF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E61F1-A007-CD3B-13A8-3A32661A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5F4B8-9889-D169-5015-99893E44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EFB39-828F-6DCC-EE97-D86C8FEE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77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DD0C-8BB1-DFC5-A402-CE4EC944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B2420-EEB9-459E-E83F-8E082A792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5B315-17F4-9BB3-7848-2E3D12EF6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E674E-4108-E64F-2363-26D406C8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C93D9-38A5-6828-5A1E-53FFCD4C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745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D79BB-5D13-85C2-1296-223443AC8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70B05-D97E-5652-0726-F4EE04C56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C608B-643E-5BB8-7519-BA6704B45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3DB2-FCA7-8861-0876-FC8956EF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A3B89-C362-CAE5-23A8-E1F160AC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155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6F14B5-F25B-39A5-62C4-2BC5BDF1A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ABF2F-13A2-8D08-AC12-FE32208FA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8C3E6-ECA8-E36D-F591-5F6F698B7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6ABF2-EBF2-4F5A-952C-FFA5DB519F1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4195A-CCD0-615B-59DF-EE522786C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8BA34-F900-1847-7F35-B7F3A1F75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05242-EE1A-46EF-BA3F-4B96976544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84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SEMICeu/GeoDCAT-AP/issues/139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INSPIRE-MIF/GeoDCAT-AP-pilot/issues/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SEMICeu/iso-19139-to-dcat-ap/issues/5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SEMICeu/GeoDCAT-AP/issues/135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SEMICeu/iso-19139-to-dcat-ap/issues/7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SEMICeu/iso-19139-to-dcat-ap/issues/98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INSPIRE-MIF/GeoDCAT-AP-pilot/issues/8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MICeu/GeoDCAT-AP/issues/147" TargetMode="External"/><Relationship Id="rId2" Type="http://schemas.openxmlformats.org/officeDocument/2006/relationships/hyperlink" Target="https://github.com/INSPIRE-MIF/GeoDCAT-AP-pilot/issues/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SPIRE-MIF/GeoDCAT-AP-pilot/issues/7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INSPIRE-MIF/GeoDCAT-AP-pilot/issues/2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SEMICeu/GeoDCAT-AP/issues/134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SEMICeu/GeoDCAT-AP/issues/140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SEMICeu/iso-19139-to-dcat-ap/issues/78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SEMICeu/iso-19139-to-dcat-ap/issues/84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MICeu/iso-19139-to-dcat-ap/issues/64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SPIRE-MIF/GeoDCAT-AP-pilot/issues/11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MICeu/iso-19139-to-dcat-ap/issues/71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MICeu/iso-19139-to-dcat-ap/issues/72" TargetMode="External"/><Relationship Id="rId2" Type="http://schemas.openxmlformats.org/officeDocument/2006/relationships/hyperlink" Target="https://www.w3.org/TR/vocab-dcat-2/#Property:period_start_dat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MICeu/GeoDCAT-AP/issues/17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2064-1C44-DCE0-ADB6-97ED661943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Issues Working Team T-1A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45E0B-8E9D-387C-00AA-8547DECBFF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24-02-2026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5837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ADCB-80EF-DA2D-4BDC-C8A9B939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3BD2C-FAFB-5CB3-EACA-1F3ED78E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Prioritised i</a:t>
            </a:r>
            <a:r>
              <a:rPr lang="en-GB" noProof="0" dirty="0" err="1">
                <a:solidFill>
                  <a:srgbClr val="0070C0"/>
                </a:solidFill>
              </a:rPr>
              <a:t>ssues</a:t>
            </a:r>
            <a:endParaRPr lang="en-GB" noProof="0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357C1-E86F-8422-82B4-BF799CD85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176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689F-9ADD-85E4-4296-C97A21FF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Geo-DCAT-AP #139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7A2AD-4E41-2029-514B-08B62EF59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351338"/>
          </a:xfrm>
        </p:spPr>
        <p:txBody>
          <a:bodyPr tIns="45720">
            <a:noAutofit/>
          </a:bodyPr>
          <a:lstStyle/>
          <a:p>
            <a:r>
              <a:rPr lang="en-US" b="1" dirty="0"/>
              <a:t>A.7.4 Resource locator - *On-line resource</a:t>
            </a:r>
            <a:endParaRPr lang="en-GB" b="1" dirty="0"/>
          </a:p>
          <a:p>
            <a:pPr>
              <a:spcBef>
                <a:spcPts val="1800"/>
              </a:spcBef>
            </a:pPr>
            <a:endParaRPr lang="en-GB" dirty="0">
              <a:solidFill>
                <a:srgbClr val="0070C0"/>
              </a:solidFill>
            </a:endParaRPr>
          </a:p>
          <a:p>
            <a:pPr>
              <a:spcBef>
                <a:spcPts val="1800"/>
              </a:spcBef>
            </a:pPr>
            <a:endParaRPr lang="en-GB" dirty="0">
              <a:solidFill>
                <a:srgbClr val="0070C0"/>
              </a:solidFill>
            </a:endParaRPr>
          </a:p>
          <a:p>
            <a:pPr>
              <a:spcBef>
                <a:spcPts val="1800"/>
              </a:spcBef>
            </a:pPr>
            <a:endParaRPr lang="en-GB" dirty="0">
              <a:solidFill>
                <a:srgbClr val="0070C0"/>
              </a:solidFill>
            </a:endParaRPr>
          </a:p>
          <a:p>
            <a:pPr>
              <a:spcBef>
                <a:spcPts val="1800"/>
              </a:spcBef>
            </a:pPr>
            <a:endParaRPr lang="en-GB" dirty="0">
              <a:solidFill>
                <a:srgbClr val="0070C0"/>
              </a:solidFill>
            </a:endParaRPr>
          </a:p>
          <a:p>
            <a:pPr>
              <a:spcBef>
                <a:spcPts val="1800"/>
              </a:spcBef>
            </a:pPr>
            <a:r>
              <a:rPr lang="en-GB" sz="2400" dirty="0">
                <a:solidFill>
                  <a:srgbClr val="0070C0"/>
                </a:solidFill>
              </a:rPr>
              <a:t>Proposal to base the mapping based on the </a:t>
            </a:r>
            <a:r>
              <a:rPr lang="en-US" sz="2400" dirty="0">
                <a:solidFill>
                  <a:srgbClr val="0070C0"/>
                </a:solidFill>
              </a:rPr>
              <a:t>service URL, protocol and application profile (Data-service-linking simplification fields), instead of</a:t>
            </a:r>
            <a:endParaRPr lang="en-GB" sz="2400" dirty="0">
              <a:solidFill>
                <a:srgbClr val="0070C0"/>
              </a:solidFill>
            </a:endParaRPr>
          </a:p>
          <a:p>
            <a:pPr>
              <a:spcBef>
                <a:spcPts val="1800"/>
              </a:spcBef>
            </a:pPr>
            <a:r>
              <a:rPr lang="en-GB" sz="2400" dirty="0">
                <a:solidFill>
                  <a:srgbClr val="0070C0"/>
                </a:solidFill>
              </a:rPr>
              <a:t>Current ISO-to-GeoDCAT-AP mapping - based on </a:t>
            </a:r>
            <a:r>
              <a:rPr lang="en-GB" sz="2400" dirty="0" err="1">
                <a:solidFill>
                  <a:srgbClr val="0070C0"/>
                </a:solidFill>
              </a:rPr>
              <a:t>CI_OnlineFunctionCode</a:t>
            </a:r>
            <a:r>
              <a:rPr lang="en-GB" sz="2400" dirty="0">
                <a:solidFill>
                  <a:srgbClr val="0070C0"/>
                </a:solidFill>
              </a:rPr>
              <a:t>.</a:t>
            </a:r>
          </a:p>
          <a:p>
            <a:pPr marL="233363" indent="0">
              <a:spcBef>
                <a:spcPts val="1800"/>
              </a:spcBef>
              <a:buNone/>
            </a:pPr>
            <a:r>
              <a:rPr lang="en-GB" sz="2400" dirty="0">
                <a:hlinkClick r:id="rId2"/>
              </a:rPr>
              <a:t>https://github.com/SEMICeu/GeoDCAT-AP/issues/139</a:t>
            </a:r>
            <a:r>
              <a:rPr lang="en-GB" sz="2400" dirty="0"/>
              <a:t> </a:t>
            </a:r>
          </a:p>
          <a:p>
            <a:pPr>
              <a:spcBef>
                <a:spcPts val="1800"/>
              </a:spcBef>
            </a:pPr>
            <a:endParaRPr lang="en-GB" sz="2400" dirty="0">
              <a:solidFill>
                <a:srgbClr val="0070C0"/>
              </a:solidFill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C0050-CF46-DFF8-2445-80D397D93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240" y="2192079"/>
            <a:ext cx="7209145" cy="22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73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7BF2-47A2-1A81-8C0A-1BFE7A69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Pilot #9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E2D15-EC83-D719-7B92-121B85A34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0896600" cy="4351338"/>
          </a:xfrm>
        </p:spPr>
        <p:txBody>
          <a:bodyPr>
            <a:noAutofit/>
          </a:bodyPr>
          <a:lstStyle/>
          <a:p>
            <a:r>
              <a:rPr lang="en-GB" b="1" noProof="0" dirty="0"/>
              <a:t>Transformation:                                                                                       Distribution,                                                                                                 LandingPage and                                                                             Documentation                                                                                                                                              </a:t>
            </a:r>
          </a:p>
          <a:p>
            <a:r>
              <a:rPr lang="en-US" sz="2400" noProof="0" dirty="0">
                <a:solidFill>
                  <a:srgbClr val="0070C0"/>
                </a:solidFill>
              </a:rPr>
              <a:t>Currently, only resources                                                                                                        that have capabilities and/or are                                                                                                               defined as “download” are                                                                                                      mapped to distributions                                                                                                                      (and potentially linked                                                                                                                     services).</a:t>
            </a:r>
            <a:endParaRPr lang="en-GB" sz="2400" noProof="0" dirty="0">
              <a:solidFill>
                <a:srgbClr val="0070C0"/>
              </a:solidFill>
            </a:endParaRPr>
          </a:p>
          <a:p>
            <a:r>
              <a:rPr lang="en-GB" sz="2400" noProof="0" dirty="0">
                <a:solidFill>
                  <a:srgbClr val="0070C0"/>
                </a:solidFill>
              </a:rPr>
              <a:t>Related to Geo-DCAT-AP #139.</a:t>
            </a:r>
            <a:endParaRPr lang="en-GB" sz="2400" noProof="0" dirty="0"/>
          </a:p>
          <a:p>
            <a:pPr marL="233363" indent="0">
              <a:spcBef>
                <a:spcPts val="3600"/>
              </a:spcBef>
              <a:buNone/>
            </a:pPr>
            <a:r>
              <a:rPr lang="en-GB" noProof="0" dirty="0">
                <a:hlinkClick r:id="rId2"/>
              </a:rPr>
              <a:t>https://github.com/INSPIRE-MIF/GeoDCAT-AP-pilot/issues/9</a:t>
            </a:r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DD384-F32A-AE6A-5B03-EB8175F98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577" y="571252"/>
            <a:ext cx="7216765" cy="57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37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7EA6-513F-F384-9886-CF606854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XSLT #57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5DC8D-F493-EF8C-A2BF-8ED1434E4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b="1" noProof="0" dirty="0"/>
              <a:t>Improve mapping to                                                         </a:t>
            </a:r>
            <a:r>
              <a:rPr lang="en-GB" b="1" noProof="0" dirty="0" err="1"/>
              <a:t>dcat:Distribution</a:t>
            </a:r>
            <a:endParaRPr lang="en-GB" b="1" noProof="0" dirty="0"/>
          </a:p>
          <a:p>
            <a:pPr>
              <a:spcBef>
                <a:spcPts val="1800"/>
              </a:spcBef>
            </a:pPr>
            <a:r>
              <a:rPr lang="en-GB" sz="2400" noProof="0" dirty="0">
                <a:solidFill>
                  <a:srgbClr val="0070C0"/>
                </a:solidFill>
              </a:rPr>
              <a:t>Related to                                                                                                                                             Geo-DCAT-AP #139.</a:t>
            </a:r>
            <a:endParaRPr lang="en-GB" noProof="0" dirty="0"/>
          </a:p>
          <a:p>
            <a:pPr marL="233363" indent="0">
              <a:buNone/>
            </a:pPr>
            <a:endParaRPr lang="en-GB" dirty="0"/>
          </a:p>
          <a:p>
            <a:pPr marL="233363" indent="0">
              <a:buNone/>
            </a:pPr>
            <a:endParaRPr lang="en-GB" dirty="0"/>
          </a:p>
          <a:p>
            <a:pPr marL="233363" indent="0">
              <a:buNone/>
            </a:pPr>
            <a:endParaRPr lang="en-GB" dirty="0"/>
          </a:p>
          <a:p>
            <a:pPr marL="233363" indent="0">
              <a:buNone/>
            </a:pPr>
            <a:endParaRPr lang="en-GB" dirty="0"/>
          </a:p>
          <a:p>
            <a:pPr marL="233363" indent="0">
              <a:buNone/>
            </a:pPr>
            <a:endParaRPr lang="en-GB" dirty="0"/>
          </a:p>
          <a:p>
            <a:pPr marL="233363" indent="0">
              <a:spcBef>
                <a:spcPts val="1800"/>
              </a:spcBef>
              <a:buNone/>
            </a:pPr>
            <a:r>
              <a:rPr lang="en-GB" dirty="0">
                <a:hlinkClick r:id="rId2"/>
              </a:rPr>
              <a:t>https://github.com/SEMICeu/iso-19139-to-dcat-ap/issues/57</a:t>
            </a:r>
            <a:r>
              <a:rPr lang="en-GB" dirty="0"/>
              <a:t> 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D8E3B-311C-1739-D75C-C90017B31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011" y="365125"/>
            <a:ext cx="7132938" cy="57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89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8DF3-2C02-E39D-87FD-2B8ADB3D9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Geo-DCAT-AP </a:t>
            </a:r>
            <a:br>
              <a:rPr lang="en-GB" dirty="0"/>
            </a:br>
            <a:r>
              <a:rPr lang="en-GB" dirty="0"/>
              <a:t>#135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DD1A-EC57-0EF8-4EF1-59834D778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b="1" noProof="0" dirty="0"/>
              <a:t>Why default Dataset                                                                                 resources to                                                                                 </a:t>
            </a:r>
            <a:r>
              <a:rPr lang="en-GB" b="1" noProof="0" dirty="0" err="1"/>
              <a:t>dcat:landingPage</a:t>
            </a:r>
            <a:r>
              <a:rPr lang="en-GB" b="1" noProof="0" dirty="0"/>
              <a:t>                                                                                       instead of                                                                                                             </a:t>
            </a:r>
            <a:r>
              <a:rPr lang="en-GB" b="1" noProof="0" dirty="0" err="1"/>
              <a:t>foaf:page</a:t>
            </a:r>
            <a:r>
              <a:rPr lang="en-GB" b="1" noProof="0" dirty="0"/>
              <a:t>?</a:t>
            </a:r>
          </a:p>
          <a:p>
            <a:r>
              <a:rPr lang="en-GB" noProof="0" dirty="0">
                <a:solidFill>
                  <a:srgbClr val="0070C0"/>
                </a:solidFill>
              </a:rPr>
              <a:t>Related to                                                                                                               Geo-DCAT-AP #139.</a:t>
            </a:r>
            <a:endParaRPr lang="en-GB" noProof="0" dirty="0"/>
          </a:p>
          <a:p>
            <a:endParaRPr lang="it-IT" dirty="0">
              <a:hlinkClick r:id="rId2"/>
            </a:endParaRPr>
          </a:p>
          <a:p>
            <a:endParaRPr lang="it-IT" dirty="0">
              <a:hlinkClick r:id="rId2"/>
            </a:endParaRPr>
          </a:p>
          <a:p>
            <a:pPr marL="233363" indent="0">
              <a:spcBef>
                <a:spcPts val="4200"/>
              </a:spcBef>
              <a:buNone/>
            </a:pPr>
            <a:r>
              <a:rPr lang="it-IT" dirty="0">
                <a:hlinkClick r:id="rId2"/>
              </a:rPr>
              <a:t>https://github.com/SEMICeu/GeoDCAT-AP/issues/135</a:t>
            </a:r>
            <a:r>
              <a:rPr lang="it-IT" dirty="0"/>
              <a:t> 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03AF3-D3F4-D1FE-131B-97CD4C80D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475" y="365125"/>
            <a:ext cx="7216765" cy="57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40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697A-6254-40EA-4740-14E1E0A5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DA7E6-ABF7-9AA9-D2F1-4D2EBE7B0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XSLT #</a:t>
            </a:r>
            <a:r>
              <a:rPr lang="es-ES" dirty="0"/>
              <a:t>74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A4EB-BB58-FBA8-E9CB-5680CB144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Add transformation for                                                                     </a:t>
            </a:r>
            <a:r>
              <a:rPr lang="en-US" b="1" dirty="0" err="1"/>
              <a:t>dct:downloadURL</a:t>
            </a:r>
            <a:r>
              <a:rPr lang="en-US" b="1" dirty="0"/>
              <a:t>                                                                                         property</a:t>
            </a:r>
            <a:r>
              <a:rPr lang="en-US" dirty="0"/>
              <a:t> </a:t>
            </a:r>
          </a:p>
          <a:p>
            <a:pPr>
              <a:spcBef>
                <a:spcPts val="1800"/>
              </a:spcBef>
            </a:pPr>
            <a:r>
              <a:rPr lang="en-GB" dirty="0">
                <a:solidFill>
                  <a:srgbClr val="0070C0"/>
                </a:solidFill>
              </a:rPr>
              <a:t>Related to                                                                                                                     Geo-DCAT-AP #139.</a:t>
            </a:r>
          </a:p>
          <a:p>
            <a:pPr>
              <a:spcBef>
                <a:spcPts val="1800"/>
              </a:spcBef>
            </a:pPr>
            <a:r>
              <a:rPr lang="en-GB" dirty="0">
                <a:solidFill>
                  <a:srgbClr val="0070C0"/>
                </a:solidFill>
              </a:rPr>
              <a:t>‘Bulk download’ option                                                                                 between the cases                                                                                            difficult to filter in                                                                                                    ISO 19115 metadata.</a:t>
            </a:r>
          </a:p>
          <a:p>
            <a:pPr marL="233363" indent="0">
              <a:spcBef>
                <a:spcPts val="3000"/>
              </a:spcBef>
              <a:buNone/>
            </a:pPr>
            <a:r>
              <a:rPr lang="en-US" dirty="0">
                <a:hlinkClick r:id="rId2"/>
              </a:rPr>
              <a:t>https://github.com/SEMICeu/iso-19139-to-dcat-ap/issues/74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D1CC56-D9D7-ED99-BAC2-2A33236C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305" y="1903560"/>
            <a:ext cx="7033870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260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4EEA5-2F15-2008-8D58-D1934093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5A75-FCB4-0FE9-E1A1-1E3163F23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XSLT #98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43E12-47ED-0766-7844-26BA88B1C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b="1" noProof="0" dirty="0"/>
              <a:t>Only one                                                                                           </a:t>
            </a:r>
            <a:r>
              <a:rPr lang="en-GB" b="1" noProof="0" dirty="0" err="1"/>
              <a:t>dcat:accessService</a:t>
            </a:r>
            <a:r>
              <a:rPr lang="en-GB" b="1" noProof="0" dirty="0"/>
              <a:t>                                                                                                   is generated</a:t>
            </a:r>
          </a:p>
          <a:p>
            <a:pPr>
              <a:spcBef>
                <a:spcPts val="1800"/>
              </a:spcBef>
            </a:pPr>
            <a:r>
              <a:rPr lang="en-GB" sz="2400" noProof="0" dirty="0">
                <a:solidFill>
                  <a:srgbClr val="0070C0"/>
                </a:solidFill>
              </a:rPr>
              <a:t>Granularity inside the                                                                                                                       Digital Transfer Options                                                                                                    affects the output in                                                                                                   GeoDCAT-AP.</a:t>
            </a:r>
          </a:p>
          <a:p>
            <a:pPr>
              <a:spcBef>
                <a:spcPts val="1800"/>
              </a:spcBef>
            </a:pPr>
            <a:r>
              <a:rPr lang="en-GB" sz="2400" noProof="0" dirty="0">
                <a:solidFill>
                  <a:srgbClr val="0070C0"/>
                </a:solidFill>
              </a:rPr>
              <a:t>Related to                                                                                                                                                Geo-DCAT-AP #139.</a:t>
            </a:r>
          </a:p>
          <a:p>
            <a:pPr>
              <a:spcBef>
                <a:spcPts val="1800"/>
              </a:spcBef>
            </a:pPr>
            <a:r>
              <a:rPr lang="en-GB" sz="2400" noProof="0" dirty="0">
                <a:solidFill>
                  <a:srgbClr val="0070C0"/>
                </a:solidFill>
              </a:rPr>
              <a:t>Agree on mapping first.</a:t>
            </a:r>
            <a:endParaRPr lang="en-GB" sz="2400" noProof="0" dirty="0"/>
          </a:p>
          <a:p>
            <a:pPr marL="233363" indent="0">
              <a:spcBef>
                <a:spcPts val="1800"/>
              </a:spcBef>
              <a:buNone/>
            </a:pPr>
            <a:r>
              <a:rPr lang="en-GB" noProof="0" dirty="0">
                <a:hlinkClick r:id="rId2"/>
              </a:rPr>
              <a:t>https://github.com/SEMICeu/iso-19139-to-dcat-ap/issues/98</a:t>
            </a:r>
            <a:r>
              <a:rPr lang="en-GB" noProof="0" dirty="0"/>
              <a:t>  </a:t>
            </a:r>
          </a:p>
          <a:p>
            <a:pPr>
              <a:spcBef>
                <a:spcPts val="1800"/>
              </a:spcBef>
            </a:pPr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54BE7-6419-4DA0-3A97-005E86500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851" y="527495"/>
            <a:ext cx="7277731" cy="534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2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81409-5876-82D1-AA0F-5F9CB3431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Pilot #8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72EC6-FF57-3A3D-3D35-7EF73BD90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b="1" noProof="0" dirty="0"/>
              <a:t>All formats                                                                                       (</a:t>
            </a:r>
            <a:r>
              <a:rPr lang="en-GB" b="1" noProof="0" dirty="0" err="1"/>
              <a:t>gmd:distributionFormat</a:t>
            </a:r>
            <a:r>
              <a:rPr lang="en-GB" b="1" noProof="0" dirty="0"/>
              <a:t>)                                                                            are listed in each                                                                        </a:t>
            </a:r>
            <a:r>
              <a:rPr lang="en-GB" b="1" noProof="0" dirty="0" err="1"/>
              <a:t>dcat:Distribution</a:t>
            </a:r>
            <a:endParaRPr lang="en-GB" b="1" noProof="0" dirty="0"/>
          </a:p>
          <a:p>
            <a:r>
              <a:rPr lang="en-GB" noProof="0" dirty="0">
                <a:solidFill>
                  <a:srgbClr val="0070C0"/>
                </a:solidFill>
              </a:rPr>
              <a:t>Formats in ISO 19115                                                                                     metadata are unlinked                                                                                         from service distributions.</a:t>
            </a:r>
          </a:p>
          <a:p>
            <a:r>
              <a:rPr lang="en-GB" noProof="0" dirty="0">
                <a:solidFill>
                  <a:srgbClr val="0070C0"/>
                </a:solidFill>
              </a:rPr>
              <a:t>Indirectly related to                                                                                Geo-DCAT-AP #139.</a:t>
            </a:r>
          </a:p>
          <a:p>
            <a:pPr marL="233363" indent="0">
              <a:buNone/>
            </a:pPr>
            <a:endParaRPr lang="en-GB" noProof="0" dirty="0">
              <a:hlinkClick r:id="rId2"/>
            </a:endParaRPr>
          </a:p>
          <a:p>
            <a:pPr marL="233363" indent="0">
              <a:buNone/>
            </a:pPr>
            <a:r>
              <a:rPr lang="en-GB" noProof="0" dirty="0">
                <a:hlinkClick r:id="rId2"/>
              </a:rPr>
              <a:t>https://github.com/INSPIRE-MIF/GeoDCAT-AP-pilot/issues/8</a:t>
            </a:r>
            <a:r>
              <a:rPr lang="en-GB" noProof="0" dirty="0"/>
              <a:t>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733A4-3DAD-E6F3-CB08-5F1BC014F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747" y="1011218"/>
            <a:ext cx="6616295" cy="502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04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2E82B-A30B-DC02-E87C-3E3365C91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0A5D5-3836-6305-1E87-E6365F57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Pilot #3 / GeoDCAT-AP #147 / Pilot #7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D98B5-AACA-29DB-EE9C-7AE3A257A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noProof="0" dirty="0"/>
              <a:t>Proposal to add </a:t>
            </a:r>
            <a:r>
              <a:rPr lang="en-GB" b="1" noProof="0" dirty="0" err="1"/>
              <a:t>hvdCategory</a:t>
            </a:r>
            <a:r>
              <a:rPr lang="en-GB" b="1" noProof="0" dirty="0"/>
              <a:t> as optional to GeoDCAT-AP 3.0</a:t>
            </a:r>
          </a:p>
          <a:p>
            <a:pPr marL="233363" indent="0">
              <a:buNone/>
            </a:pPr>
            <a:r>
              <a:rPr lang="en-GB" noProof="0" dirty="0">
                <a:hlinkClick r:id="rId2"/>
              </a:rPr>
              <a:t>https://github.com/INSPIRE-MIF/GeoDCAT-AP-pilot/issues/3</a:t>
            </a:r>
            <a:r>
              <a:rPr lang="en-GB" noProof="0" dirty="0"/>
              <a:t>  </a:t>
            </a:r>
          </a:p>
          <a:p>
            <a:r>
              <a:rPr lang="en-GB" b="1" noProof="0" dirty="0"/>
              <a:t>Add 'HVD category' and 'documentation' properties related to high-value datasets</a:t>
            </a:r>
          </a:p>
          <a:p>
            <a:pPr marL="233363" indent="0">
              <a:buNone/>
            </a:pPr>
            <a:r>
              <a:rPr lang="en-GB" noProof="0" dirty="0">
                <a:hlinkClick r:id="rId3"/>
              </a:rPr>
              <a:t>https://github.com/SEMICeu/GeoDCAT-AP/issues/147</a:t>
            </a:r>
            <a:r>
              <a:rPr lang="en-GB" noProof="0" dirty="0"/>
              <a:t>  </a:t>
            </a:r>
          </a:p>
          <a:p>
            <a:r>
              <a:rPr lang="en-GB" b="1" noProof="0" dirty="0"/>
              <a:t>Transformation: HVD Category</a:t>
            </a:r>
          </a:p>
          <a:p>
            <a:pPr marL="233363" indent="0">
              <a:buNone/>
            </a:pPr>
            <a:r>
              <a:rPr lang="en-GB" noProof="0" dirty="0">
                <a:hlinkClick r:id="rId4"/>
              </a:rPr>
              <a:t>https://github.com/INSPIRE-MIF/GeoDCAT-AP-pilot/issues/7</a:t>
            </a:r>
            <a:r>
              <a:rPr lang="en-GB" noProof="0" dirty="0"/>
              <a:t>  </a:t>
            </a:r>
          </a:p>
          <a:p>
            <a:pPr>
              <a:spcBef>
                <a:spcPts val="1800"/>
              </a:spcBef>
            </a:pPr>
            <a:r>
              <a:rPr lang="en-GB" noProof="0" dirty="0">
                <a:solidFill>
                  <a:srgbClr val="0070C0"/>
                </a:solidFill>
              </a:rPr>
              <a:t>Three issues related to the implementation of the geospatial HVD tagging good practice, now implemented in the SEMIC XSLT.</a:t>
            </a:r>
          </a:p>
          <a:p>
            <a:pPr>
              <a:spcBef>
                <a:spcPts val="1800"/>
              </a:spcBef>
            </a:pPr>
            <a:r>
              <a:rPr lang="en-GB" noProof="0" dirty="0">
                <a:solidFill>
                  <a:srgbClr val="0070C0"/>
                </a:solidFill>
              </a:rPr>
              <a:t>The three proposed now to be closed.</a:t>
            </a:r>
          </a:p>
          <a:p>
            <a:r>
              <a:rPr lang="en-GB" noProof="0" dirty="0">
                <a:solidFill>
                  <a:srgbClr val="0070C0"/>
                </a:solidFill>
              </a:rPr>
              <a:t>Any further aspects to be considered regarding keyword transformation and HVD categories assigned in GeoDCAT-AP?</a:t>
            </a:r>
          </a:p>
        </p:txBody>
      </p:sp>
    </p:spTree>
    <p:extLst>
      <p:ext uri="{BB962C8B-B14F-4D97-AF65-F5344CB8AC3E}">
        <p14:creationId xmlns:p14="http://schemas.microsoft.com/office/powerpoint/2010/main" val="3052547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F20D9-D7E8-ABA4-A6B3-6C9DAF3B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4A63-95F7-3284-C88E-E66AD1F6D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Pilot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AB348-60BD-6372-3AA7-F43D31457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0" y="1825625"/>
            <a:ext cx="10916920" cy="4351338"/>
          </a:xfrm>
        </p:spPr>
        <p:txBody>
          <a:bodyPr>
            <a:noAutofit/>
          </a:bodyPr>
          <a:lstStyle/>
          <a:p>
            <a:r>
              <a:rPr lang="en-US" b="1" dirty="0"/>
              <a:t>Proposals related to the                                                                                                  HVD tagging good practice                                                                                                  and the XSL transformation</a:t>
            </a:r>
            <a:endParaRPr lang="en-GB" b="1" dirty="0"/>
          </a:p>
          <a:p>
            <a:r>
              <a:rPr lang="en-GB" sz="2200" dirty="0">
                <a:solidFill>
                  <a:srgbClr val="0070C0"/>
                </a:solidFill>
              </a:rPr>
              <a:t>Proposals discussed and clarified.</a:t>
            </a:r>
          </a:p>
          <a:p>
            <a:r>
              <a:rPr lang="en-US" sz="2200" dirty="0">
                <a:solidFill>
                  <a:srgbClr val="0070C0"/>
                </a:solidFill>
              </a:rPr>
              <a:t>Now the SEMIC XSLT implements                                                                                                                    the geospatial HVD tagging good                                                                                                            practice.</a:t>
            </a:r>
          </a:p>
          <a:p>
            <a:r>
              <a:rPr lang="en-US" sz="2200" dirty="0">
                <a:solidFill>
                  <a:srgbClr val="0070C0"/>
                </a:solidFill>
              </a:rPr>
              <a:t>Pending to discuss by the                                                                                                                            community how to refer in GeoDCAT-AP to other legislations different from the ELI-codes of High Value Dataset/ODD legislation, such as the ones from the Priority Datasets code list.</a:t>
            </a:r>
          </a:p>
          <a:p>
            <a:pPr marL="233363" indent="0">
              <a:buNone/>
            </a:pPr>
            <a:r>
              <a:rPr lang="en-GB" dirty="0">
                <a:hlinkClick r:id="rId2"/>
              </a:rPr>
              <a:t>https://github.com/INSPIRE-MIF/GeoDCAT-AP-pilot/issues/2</a:t>
            </a:r>
            <a:r>
              <a:rPr lang="en-GB" dirty="0"/>
              <a:t>  </a:t>
            </a:r>
          </a:p>
          <a:p>
            <a:pPr marL="0" indent="0">
              <a:buNone/>
            </a:pPr>
            <a:endParaRPr lang="en-GB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49CDE5-7B02-1257-6083-19C4C2C23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720" y="793920"/>
            <a:ext cx="6791548" cy="400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80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2954-E7A4-F3D1-CDC7-85C52EC1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GeoDCAT-AP </a:t>
            </a:r>
            <a:br>
              <a:rPr lang="en-GB" dirty="0"/>
            </a:br>
            <a:r>
              <a:rPr lang="en-GB" dirty="0"/>
              <a:t>#134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DDAC0-17FA-2D2C-66FE-6D70B50C5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Little information retrieved                                                                          by XSLT from keywords                                                                                       in Anchor form</a:t>
            </a:r>
            <a:endParaRPr lang="en-GB" b="1" dirty="0"/>
          </a:p>
          <a:p>
            <a:r>
              <a:rPr lang="en-GB" dirty="0">
                <a:solidFill>
                  <a:srgbClr val="0070C0"/>
                </a:solidFill>
              </a:rPr>
              <a:t>Related to Pilot #2.</a:t>
            </a:r>
          </a:p>
          <a:p>
            <a:r>
              <a:rPr lang="en-GB" dirty="0">
                <a:solidFill>
                  <a:srgbClr val="0070C0"/>
                </a:solidFill>
              </a:rPr>
              <a:t>Closed in October 2024,                                                                                         waiting for a common                                                                                        approach on geospatial                                                                                            HVD tagging</a:t>
            </a:r>
          </a:p>
          <a:p>
            <a:r>
              <a:rPr lang="en-GB" dirty="0">
                <a:solidFill>
                  <a:srgbClr val="0070C0"/>
                </a:solidFill>
              </a:rPr>
              <a:t>Should it be now revisited?</a:t>
            </a:r>
          </a:p>
          <a:p>
            <a:pPr marL="233363" indent="0">
              <a:buNone/>
            </a:pPr>
            <a:endParaRPr lang="en-GB" dirty="0">
              <a:hlinkClick r:id="rId2"/>
            </a:endParaRPr>
          </a:p>
          <a:p>
            <a:pPr marL="233363" indent="0">
              <a:buNone/>
            </a:pPr>
            <a:r>
              <a:rPr lang="en-GB" dirty="0">
                <a:hlinkClick r:id="rId2"/>
              </a:rPr>
              <a:t>https://github.com/SEMICeu/GeoDCAT-AP/issues/134</a:t>
            </a:r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7A9335-C7D9-872D-012E-AEA07F81A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448" y="1483386"/>
            <a:ext cx="63847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23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9036-89E5-7FE2-340A-F3DE6CBC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DAB0-9C34-F5D8-9241-156189ECA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Less prioritised issues </a:t>
            </a:r>
            <a:endParaRPr lang="en-GB" noProof="0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2218B-88A5-4885-A115-710A47D1E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022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38FAB-2692-0818-360D-CA7870AB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B229-F06E-9D47-9904-CCB53DF49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GeoDCAT-AP </a:t>
            </a:r>
            <a:br>
              <a:rPr lang="en-GB" dirty="0"/>
            </a:br>
            <a:r>
              <a:rPr lang="it-IT" dirty="0"/>
              <a:t>#140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F4393-2703-1CE9-11BD-0B85ADD13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b="1" dirty="0"/>
              <a:t>A.7.6 Coupled resource</a:t>
            </a:r>
            <a:endParaRPr lang="it-IT" dirty="0"/>
          </a:p>
          <a:p>
            <a:pPr>
              <a:spcBef>
                <a:spcPts val="1800"/>
              </a:spcBef>
            </a:pPr>
            <a:r>
              <a:rPr lang="en-GB" sz="2200" dirty="0">
                <a:solidFill>
                  <a:srgbClr val="0070C0"/>
                </a:solidFill>
              </a:rPr>
              <a:t>INSPIRE indirectly points the                                                                                                                   dataset (or dataset series), though                                                                                                  the corresponding metadata.</a:t>
            </a:r>
          </a:p>
          <a:p>
            <a:pPr>
              <a:spcBef>
                <a:spcPts val="1800"/>
              </a:spcBef>
            </a:pPr>
            <a:r>
              <a:rPr lang="en-GB" sz="2200" dirty="0">
                <a:solidFill>
                  <a:srgbClr val="0070C0"/>
                </a:solidFill>
              </a:rPr>
              <a:t>Not exactly the unique resource                                                                                                   identifier of the dataset (or series).</a:t>
            </a:r>
          </a:p>
          <a:p>
            <a:pPr>
              <a:spcBef>
                <a:spcPts val="1800"/>
              </a:spcBef>
            </a:pPr>
            <a:r>
              <a:rPr lang="en-GB" sz="2200" dirty="0">
                <a:solidFill>
                  <a:srgbClr val="0070C0"/>
                </a:solidFill>
              </a:rPr>
              <a:t>Not really an issue.</a:t>
            </a:r>
          </a:p>
          <a:p>
            <a:pPr>
              <a:spcBef>
                <a:spcPts val="1800"/>
              </a:spcBef>
            </a:pPr>
            <a:r>
              <a:rPr lang="en-GB" sz="2200" dirty="0">
                <a:solidFill>
                  <a:srgbClr val="0070C0"/>
                </a:solidFill>
              </a:rPr>
              <a:t>Proposed to be resolved adding a                                                                                                      usage note.</a:t>
            </a:r>
          </a:p>
          <a:p>
            <a:pPr marL="233363" indent="0">
              <a:spcBef>
                <a:spcPts val="3000"/>
              </a:spcBef>
              <a:buNone/>
            </a:pPr>
            <a:r>
              <a:rPr lang="en-GB" dirty="0">
                <a:hlinkClick r:id="rId2"/>
              </a:rPr>
              <a:t>https://github.com/SEMICeu/GeoDCAT-AP/issues/140</a:t>
            </a:r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C38EC-BEAC-B792-CC46-AE7CAAF1B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047" y="1920240"/>
            <a:ext cx="6383795" cy="373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91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2DFB-F30B-C3B3-257F-991ED8206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109FA-46E9-0B46-3447-3C61A426D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XSLT #78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E322A-E75F-4518-3B18-9FFC89A8C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320"/>
            <a:ext cx="10515600" cy="4632643"/>
          </a:xfrm>
        </p:spPr>
        <p:txBody>
          <a:bodyPr>
            <a:noAutofit/>
          </a:bodyPr>
          <a:lstStyle/>
          <a:p>
            <a:r>
              <a:rPr lang="en-GB" b="1" noProof="0" dirty="0"/>
              <a:t>Identifier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solidFill>
                  <a:srgbClr val="0070C0"/>
                </a:solidFill>
              </a:rPr>
              <a:t>‘parentIdentifier’ ISO metadata field                                                                                           currently not mapped to                                                                                                                  DCAT-AP / GeoDCAT-AP –                                                                                                                 Mapping alternatives:</a:t>
            </a:r>
          </a:p>
          <a:p>
            <a:pPr lvl="1">
              <a:spcBef>
                <a:spcPts val="600"/>
              </a:spcBef>
            </a:pPr>
            <a:r>
              <a:rPr lang="en-US" sz="1800" dirty="0">
                <a:solidFill>
                  <a:srgbClr val="0070C0"/>
                </a:solidFill>
              </a:rPr>
              <a:t>dcterms:isPartOf</a:t>
            </a:r>
          </a:p>
          <a:p>
            <a:pPr lvl="1">
              <a:spcBef>
                <a:spcPts val="600"/>
              </a:spcBef>
            </a:pPr>
            <a:r>
              <a:rPr lang="en-US" sz="1800" dirty="0">
                <a:solidFill>
                  <a:srgbClr val="0070C0"/>
                </a:solidFill>
              </a:rPr>
              <a:t>dcat:inSeries                                                                                                                                                             (dcterms:isPartOf sub-property in DCAT 3)</a:t>
            </a:r>
          </a:p>
          <a:p>
            <a:pPr lvl="1">
              <a:spcBef>
                <a:spcPts val="600"/>
              </a:spcBef>
            </a:pPr>
            <a:r>
              <a:rPr lang="en-US" sz="1800" dirty="0">
                <a:solidFill>
                  <a:srgbClr val="0070C0"/>
                </a:solidFill>
              </a:rPr>
              <a:t>any other?</a:t>
            </a:r>
            <a:endParaRPr lang="en-GB" sz="1800" dirty="0">
              <a:solidFill>
                <a:srgbClr val="0070C0"/>
              </a:solidFill>
            </a:endParaRPr>
          </a:p>
          <a:p>
            <a:pPr>
              <a:spcBef>
                <a:spcPts val="1200"/>
              </a:spcBef>
            </a:pPr>
            <a:r>
              <a:rPr lang="en-GB" sz="2200" dirty="0">
                <a:solidFill>
                  <a:srgbClr val="0070C0"/>
                </a:solidFill>
              </a:rPr>
              <a:t>Note: ‘gmx:Anchor’ encodings seem                                                                                                                        neither be considered in the XSLT (nor                                                                                                         in the ISO-to-GeoDCAT-AP mapping).</a:t>
            </a:r>
          </a:p>
          <a:p>
            <a:pPr marL="233363" indent="0">
              <a:spcBef>
                <a:spcPts val="1200"/>
              </a:spcBef>
              <a:buNone/>
            </a:pPr>
            <a:r>
              <a:rPr lang="en-GB" sz="2200" noProof="0" dirty="0">
                <a:solidFill>
                  <a:srgbClr val="0070C0"/>
                </a:solidFill>
              </a:rPr>
              <a:t>Priority topic deserving a separated discussion thread.</a:t>
            </a:r>
          </a:p>
          <a:p>
            <a:pPr marL="233363" indent="0">
              <a:spcBef>
                <a:spcPts val="1200"/>
              </a:spcBef>
              <a:buNone/>
            </a:pPr>
            <a:r>
              <a:rPr lang="en-GB" dirty="0">
                <a:hlinkClick r:id="rId2"/>
              </a:rPr>
              <a:t>https://github.com/SEMICeu/iso-19139-to-dcat-ap/issues/78</a:t>
            </a:r>
            <a:endParaRPr lang="en-GB" noProof="0" dirty="0">
              <a:solidFill>
                <a:srgbClr val="0070C0"/>
              </a:solidFill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BF1129-A6D8-3873-9DE6-C6A981A06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014" y="1765965"/>
            <a:ext cx="6112816" cy="389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44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7DEC8-9DBE-9EFC-FE05-C02E86BF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525B-62F2-3466-1896-F323DC77C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Not discussed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(for next meeting)</a:t>
            </a:r>
            <a:endParaRPr lang="en-GB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03E6D-E40B-3E1C-6634-BC7B455B4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903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CFA2E-1631-D055-B94E-99244D78D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FE51-41E9-6D4B-0371-364CB74F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XSLT #84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F2170-AE93-DF62-4490-DC168567D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b="1" noProof="0" dirty="0"/>
              <a:t>Add support for </a:t>
            </a:r>
            <a:r>
              <a:rPr lang="en-GB" b="1" noProof="0" dirty="0" err="1"/>
              <a:t>gmd:status</a:t>
            </a:r>
            <a:endParaRPr lang="en-GB" b="1" noProof="0" dirty="0"/>
          </a:p>
          <a:p>
            <a:pPr>
              <a:spcBef>
                <a:spcPts val="1800"/>
              </a:spcBef>
            </a:pPr>
            <a:r>
              <a:rPr lang="en-US" sz="2200" dirty="0">
                <a:solidFill>
                  <a:srgbClr val="0070C0"/>
                </a:solidFill>
              </a:rPr>
              <a:t>‘</a:t>
            </a:r>
            <a:r>
              <a:rPr lang="en-US" sz="2200" dirty="0" err="1">
                <a:solidFill>
                  <a:srgbClr val="0070C0"/>
                </a:solidFill>
              </a:rPr>
              <a:t>gmd:status</a:t>
            </a:r>
            <a:r>
              <a:rPr lang="en-US" sz="2200" dirty="0">
                <a:solidFill>
                  <a:srgbClr val="0070C0"/>
                </a:solidFill>
              </a:rPr>
              <a:t>’ ISO metadata field                                                                                                     currently not mapped to                                                                                                                  DCAT-AP / GeoDCAT-AP –                                                                                                                Mapping alternatives:</a:t>
            </a:r>
          </a:p>
          <a:p>
            <a:pPr lvl="1">
              <a:spcBef>
                <a:spcPts val="1200"/>
              </a:spcBef>
            </a:pPr>
            <a:r>
              <a:rPr lang="en-US" sz="2200" dirty="0" err="1">
                <a:solidFill>
                  <a:srgbClr val="0070C0"/>
                </a:solidFill>
              </a:rPr>
              <a:t>adms:status</a:t>
            </a:r>
            <a:endParaRPr lang="en-US" sz="2200" dirty="0">
              <a:solidFill>
                <a:srgbClr val="0070C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200" dirty="0">
                <a:solidFill>
                  <a:srgbClr val="0070C0"/>
                </a:solidFill>
              </a:rPr>
              <a:t>Community discussion required.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solidFill>
                  <a:srgbClr val="0070C0"/>
                </a:solidFill>
              </a:rPr>
              <a:t>Some pre-discussions would be                                                                                                              needed.</a:t>
            </a:r>
          </a:p>
          <a:p>
            <a:pPr marL="233363" indent="0">
              <a:spcBef>
                <a:spcPts val="1800"/>
              </a:spcBef>
              <a:buNone/>
            </a:pPr>
            <a:endParaRPr lang="en-GB" dirty="0">
              <a:hlinkClick r:id="rId2"/>
            </a:endParaRPr>
          </a:p>
          <a:p>
            <a:pPr marL="233363" indent="0">
              <a:spcBef>
                <a:spcPts val="1800"/>
              </a:spcBef>
              <a:buNone/>
            </a:pPr>
            <a:r>
              <a:rPr lang="en-GB" dirty="0">
                <a:hlinkClick r:id="rId2"/>
              </a:rPr>
              <a:t>https://github.com/SEMICeu/iso-19139-to-dcat-ap/issues/84</a:t>
            </a:r>
            <a:r>
              <a:rPr lang="en-GB" dirty="0"/>
              <a:t> </a:t>
            </a:r>
          </a:p>
          <a:p>
            <a:pPr>
              <a:spcBef>
                <a:spcPts val="1200"/>
              </a:spcBef>
            </a:pPr>
            <a:endParaRPr lang="en-US" dirty="0">
              <a:solidFill>
                <a:srgbClr val="0070C0"/>
              </a:solidFill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2B909-52D2-448E-EC7A-D1A0380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047" y="756531"/>
            <a:ext cx="6160457" cy="522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54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3BE72-3212-0E4A-58F6-7C650FF6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XSLT #64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B2AF3-AA00-2137-204E-D05C51AEE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b="1" dirty="0"/>
              <a:t>M</a:t>
            </a:r>
            <a:r>
              <a:rPr lang="en-GB" b="1" noProof="0" dirty="0" err="1"/>
              <a:t>ultiple</a:t>
            </a:r>
            <a:r>
              <a:rPr lang="en-GB" b="1" noProof="0" dirty="0"/>
              <a:t> geometry serialisations for </a:t>
            </a:r>
            <a:r>
              <a:rPr lang="en-GB" b="1" noProof="0" dirty="0" err="1"/>
              <a:t>dcat:bbox</a:t>
            </a:r>
            <a:endParaRPr lang="en-GB" b="1" noProof="0" dirty="0"/>
          </a:p>
          <a:p>
            <a:r>
              <a:rPr lang="en-GB" dirty="0">
                <a:solidFill>
                  <a:srgbClr val="0070C0"/>
                </a:solidFill>
              </a:rPr>
              <a:t>The current transformation of ISO geospatial extent as both, locn:geometry and dcat:bbox attributes of locations, should be revisited and only kept the latter.</a:t>
            </a:r>
          </a:p>
          <a:p>
            <a:r>
              <a:rPr lang="en-GB" dirty="0">
                <a:solidFill>
                  <a:srgbClr val="0070C0"/>
                </a:solidFill>
              </a:rPr>
              <a:t>Whereby the geometries are serialised in various datatypes, there was no specific preference on which serialisation to use if only a single type is to be maintained.</a:t>
            </a:r>
          </a:p>
          <a:p>
            <a:r>
              <a:rPr lang="en-GB" dirty="0">
                <a:solidFill>
                  <a:srgbClr val="0070C0"/>
                </a:solidFill>
              </a:rPr>
              <a:t>European data portal </a:t>
            </a:r>
            <a:r>
              <a:rPr lang="en-GB" dirty="0" err="1">
                <a:solidFill>
                  <a:srgbClr val="0070C0"/>
                </a:solidFill>
              </a:rPr>
              <a:t>geoharvester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uses a single datatype</a:t>
            </a:r>
            <a:r>
              <a:rPr lang="en-GB" dirty="0">
                <a:solidFill>
                  <a:srgbClr val="0070C0"/>
                </a:solidFill>
              </a:rPr>
              <a:t> (technical choice). It only exposes the coordinates available in the ISO metadata.</a:t>
            </a:r>
          </a:p>
          <a:p>
            <a:r>
              <a:rPr lang="en-GB" dirty="0">
                <a:hlinkClick r:id="rId2"/>
              </a:rPr>
              <a:t>https://github.com/SEMICeu/iso-19139-to-dcat-ap/issues/64</a:t>
            </a:r>
            <a:r>
              <a:rPr lang="en-GB" dirty="0"/>
              <a:t> </a:t>
            </a:r>
            <a:endParaRPr lang="en-US" dirty="0">
              <a:solidFill>
                <a:srgbClr val="FF000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4211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9CFA-26F5-4A1B-9544-410A1F90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Pilot #11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8C0F7-B179-BF45-059C-9271F0997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Have you faced issues when transforming service and multilingual metadata?</a:t>
            </a:r>
            <a:endParaRPr lang="it-IT" b="1" dirty="0"/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rgbClr val="0070C0"/>
                </a:solidFill>
              </a:rPr>
              <a:t>Feedback requested on issues detected when transforming multilingual datasets, depending on the use of the core or extended profile.</a:t>
            </a:r>
          </a:p>
          <a:p>
            <a:pPr marL="173038" indent="0">
              <a:spcBef>
                <a:spcPts val="1800"/>
              </a:spcBef>
              <a:buNone/>
            </a:pPr>
            <a:r>
              <a:rPr lang="en-GB" dirty="0">
                <a:hlinkClick r:id="rId2"/>
              </a:rPr>
              <a:t>https://github.com/INSPIRE-MIF/GeoDCAT-AP-pilot/issues/11</a:t>
            </a:r>
            <a:endParaRPr lang="en-GB" dirty="0"/>
          </a:p>
          <a:p>
            <a:pPr>
              <a:spcBef>
                <a:spcPts val="1800"/>
              </a:spcBef>
            </a:pP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609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6C5A-1775-E476-DD4B-C6F44A02B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7619-C6BF-E486-92D2-FC7A591B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XSLT #71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E1202-61F9-6A8A-E49A-46D71127F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More than one dataset identifier</a:t>
            </a:r>
            <a:endParaRPr lang="en-GB" b="1" dirty="0"/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rgbClr val="0070C0"/>
                </a:solidFill>
              </a:rPr>
              <a:t>Multiple dataset identifiers are also possible in GeoDCAT-AP (cardinality 0..*).</a:t>
            </a:r>
            <a:r>
              <a:rPr lang="en-GB" dirty="0">
                <a:solidFill>
                  <a:srgbClr val="0070C0"/>
                </a:solidFill>
              </a:rPr>
              <a:t> </a:t>
            </a:r>
          </a:p>
          <a:p>
            <a:pPr>
              <a:spcBef>
                <a:spcPts val="1800"/>
              </a:spcBef>
            </a:pPr>
            <a:r>
              <a:rPr lang="en-GB" dirty="0">
                <a:solidFill>
                  <a:srgbClr val="0070C0"/>
                </a:solidFill>
              </a:rPr>
              <a:t>User asked to provide input examples in ISO 19115.</a:t>
            </a:r>
          </a:p>
          <a:p>
            <a:pPr marL="233363" indent="0">
              <a:spcBef>
                <a:spcPts val="1800"/>
              </a:spcBef>
              <a:buNone/>
            </a:pPr>
            <a:r>
              <a:rPr lang="en-GB" dirty="0">
                <a:hlinkClick r:id="rId2"/>
              </a:rPr>
              <a:t>https://github.com/SEMICeu/iso-19139-to-dcat-ap/issues/71</a:t>
            </a:r>
            <a:r>
              <a:rPr lang="en-GB" dirty="0"/>
              <a:t>  </a:t>
            </a:r>
          </a:p>
          <a:p>
            <a:pPr>
              <a:spcBef>
                <a:spcPts val="1800"/>
              </a:spcBef>
            </a:pPr>
            <a:endParaRPr lang="en-GB" dirty="0">
              <a:solidFill>
                <a:srgbClr val="0070C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9559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11B50-AD15-D0EB-60B9-B18D442B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XSLT #72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D8496-C1F2-FBD4-5D2A-2055FC836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Duplicity of </a:t>
            </a:r>
            <a:r>
              <a:rPr lang="en-US" b="1" dirty="0" err="1"/>
              <a:t>schema:startDate</a:t>
            </a:r>
            <a:r>
              <a:rPr lang="en-US" b="1" dirty="0"/>
              <a:t>/</a:t>
            </a:r>
            <a:r>
              <a:rPr lang="en-US" b="1" dirty="0" err="1"/>
              <a:t>schema:endDate</a:t>
            </a:r>
            <a:r>
              <a:rPr lang="en-US" b="1" dirty="0"/>
              <a:t> after transformation</a:t>
            </a:r>
            <a:endParaRPr lang="es-ES" b="1" dirty="0"/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rgbClr val="0070C0"/>
                </a:solidFill>
              </a:rPr>
              <a:t>Note: once as schema:startDate and once as dcat:startDate.</a:t>
            </a:r>
          </a:p>
          <a:p>
            <a:r>
              <a:rPr lang="en-US" dirty="0">
                <a:solidFill>
                  <a:srgbClr val="0070C0"/>
                </a:solidFill>
              </a:rPr>
              <a:t>SEMIC to explain: This fact derives from a </a:t>
            </a:r>
            <a:r>
              <a:rPr lang="en-US" dirty="0">
                <a:solidFill>
                  <a:srgbClr val="0070C0"/>
                </a:solidFill>
                <a:hlinkClick r:id="rId2"/>
              </a:rPr>
              <a:t>change from DCAT 1 to DCAT 2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r>
              <a:rPr lang="en-US" dirty="0">
                <a:solidFill>
                  <a:srgbClr val="0070C0"/>
                </a:solidFill>
              </a:rPr>
              <a:t>A user suggested to remove the DCAT 1 schema:startDate / schema: </a:t>
            </a:r>
            <a:r>
              <a:rPr lang="en-US" dirty="0" err="1">
                <a:solidFill>
                  <a:srgbClr val="0070C0"/>
                </a:solidFill>
              </a:rPr>
              <a:t>endDate</a:t>
            </a:r>
            <a:r>
              <a:rPr lang="en-US" dirty="0">
                <a:solidFill>
                  <a:srgbClr val="0070C0"/>
                </a:solidFill>
              </a:rPr>
              <a:t> version.</a:t>
            </a:r>
          </a:p>
          <a:p>
            <a:r>
              <a:rPr lang="en-US" dirty="0">
                <a:solidFill>
                  <a:srgbClr val="0070C0"/>
                </a:solidFill>
              </a:rPr>
              <a:t>Feedback is requested by the community.</a:t>
            </a:r>
          </a:p>
          <a:p>
            <a:pPr marL="233363" indent="0">
              <a:buNone/>
            </a:pPr>
            <a:r>
              <a:rPr lang="es-ES" dirty="0">
                <a:hlinkClick r:id="rId3"/>
              </a:rPr>
              <a:t>https://github.com/SEMICeu/iso-19139-to-dcat-ap/issues/72</a:t>
            </a:r>
            <a:r>
              <a:rPr lang="es-ES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4641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FD65-EE1E-C7C2-E75D-F62FA12A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GeoDCAT-AP #171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68F8A-0C1C-67B0-5AAD-ACDF2B4ED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9320" cy="4351338"/>
          </a:xfrm>
        </p:spPr>
        <p:txBody>
          <a:bodyPr>
            <a:noAutofit/>
          </a:bodyPr>
          <a:lstStyle/>
          <a:p>
            <a:r>
              <a:rPr lang="en-US" b="1" dirty="0"/>
              <a:t>"OGC EPSG Coordinate Reference Systems Register" too narrow?</a:t>
            </a:r>
            <a:endParaRPr lang="es-ES" b="1" dirty="0"/>
          </a:p>
          <a:p>
            <a:pPr marL="233363" indent="0">
              <a:buNone/>
            </a:pPr>
            <a:r>
              <a:rPr lang="es-ES" dirty="0">
                <a:hlinkClick r:id="rId2"/>
              </a:rPr>
              <a:t>https://github.com/SEMICeu/GeoDCAT-AP/issues/171</a:t>
            </a:r>
            <a:r>
              <a:rPr lang="es-ES" dirty="0"/>
              <a:t> </a:t>
            </a:r>
          </a:p>
          <a:p>
            <a:endParaRPr lang="es-E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882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5506</TotalTime>
  <Words>1093</Words>
  <Application>Microsoft Office PowerPoint</Application>
  <PresentationFormat>Widescreen</PresentationFormat>
  <Paragraphs>123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Issues Working Team T-1A</vt:lpstr>
      <vt:lpstr>Prioritised issues</vt:lpstr>
      <vt:lpstr>Geo-DCAT-AP #139</vt:lpstr>
      <vt:lpstr>Pilot #9</vt:lpstr>
      <vt:lpstr>XSLT #57</vt:lpstr>
      <vt:lpstr>Geo-DCAT-AP  #135</vt:lpstr>
      <vt:lpstr>XSLT #74</vt:lpstr>
      <vt:lpstr>XSLT #98</vt:lpstr>
      <vt:lpstr>Pilot #8</vt:lpstr>
      <vt:lpstr>Pilot #3 / GeoDCAT-AP #147 / Pilot #7</vt:lpstr>
      <vt:lpstr>Pilot #2</vt:lpstr>
      <vt:lpstr>GeoDCAT-AP  #134</vt:lpstr>
      <vt:lpstr>Less prioritised issues </vt:lpstr>
      <vt:lpstr>GeoDCAT-AP  #140</vt:lpstr>
      <vt:lpstr>XSLT #78</vt:lpstr>
      <vt:lpstr>Not discussed (for next meeting)</vt:lpstr>
      <vt:lpstr>XSLT #84</vt:lpstr>
      <vt:lpstr>XSLT #64</vt:lpstr>
      <vt:lpstr>Pilot #11</vt:lpstr>
      <vt:lpstr>XSLT #71</vt:lpstr>
      <vt:lpstr>XSLT #72</vt:lpstr>
      <vt:lpstr>GeoDCAT-AP #171</vt:lpstr>
    </vt:vector>
  </TitlesOfParts>
  <Company>European Commission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ESCRIU Jordi (JRC-ISPRA)</dc:creator>
  <cp:lastModifiedBy>ESCRIU Jordi (JRC-ISPRA)</cp:lastModifiedBy>
  <cp:revision>33</cp:revision>
  <dcterms:created xsi:type="dcterms:W3CDTF">2026-02-20T15:03:55Z</dcterms:created>
  <dcterms:modified xsi:type="dcterms:W3CDTF">2026-02-24T12:52:55Z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d9ddd1-4d20-43f6-abfa-fc3c07406f94_Enabled">
    <vt:lpwstr>true</vt:lpwstr>
  </property>
  <property fmtid="{D5CDD505-2E9C-101B-9397-08002B2CF9AE}" pid="3" name="MSIP_Label_6bd9ddd1-4d20-43f6-abfa-fc3c07406f94_SetDate">
    <vt:lpwstr>2026-02-20T15:23:35Z</vt:lpwstr>
  </property>
  <property fmtid="{D5CDD505-2E9C-101B-9397-08002B2CF9AE}" pid="4" name="MSIP_Label_6bd9ddd1-4d20-43f6-abfa-fc3c07406f94_Method">
    <vt:lpwstr>Standard</vt:lpwstr>
  </property>
  <property fmtid="{D5CDD505-2E9C-101B-9397-08002B2CF9AE}" pid="5" name="MSIP_Label_6bd9ddd1-4d20-43f6-abfa-fc3c07406f94_Name">
    <vt:lpwstr>Commission Use</vt:lpwstr>
  </property>
  <property fmtid="{D5CDD505-2E9C-101B-9397-08002B2CF9AE}" pid="6" name="MSIP_Label_6bd9ddd1-4d20-43f6-abfa-fc3c07406f94_SiteId">
    <vt:lpwstr>b24c8b06-522c-46fe-9080-70926f8dddb1</vt:lpwstr>
  </property>
  <property fmtid="{D5CDD505-2E9C-101B-9397-08002B2CF9AE}" pid="7" name="MSIP_Label_6bd9ddd1-4d20-43f6-abfa-fc3c07406f94_ActionId">
    <vt:lpwstr>b2541afa-2a85-4f17-9b7a-98e582069865</vt:lpwstr>
  </property>
  <property fmtid="{D5CDD505-2E9C-101B-9397-08002B2CF9AE}" pid="8" name="MSIP_Label_6bd9ddd1-4d20-43f6-abfa-fc3c07406f94_ContentBits">
    <vt:lpwstr>0</vt:lpwstr>
  </property>
  <property fmtid="{D5CDD505-2E9C-101B-9397-08002B2CF9AE}" pid="9" name="MSIP_Label_6bd9ddd1-4d20-43f6-abfa-fc3c07406f94_Tag">
    <vt:lpwstr>10, 3, 0, 1</vt:lpwstr>
  </property>
</Properties>
</file>