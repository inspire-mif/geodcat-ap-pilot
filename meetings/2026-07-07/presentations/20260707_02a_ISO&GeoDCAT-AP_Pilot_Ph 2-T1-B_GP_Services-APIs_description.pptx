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335" r:id="rId7"/>
    <p:sldId id="336" r:id="rId8"/>
    <p:sldId id="322" r:id="rId9"/>
    <p:sldId id="321" r:id="rId10"/>
    <p:sldId id="337" r:id="rId11"/>
    <p:sldId id="339" r:id="rId12"/>
    <p:sldId id="338" r:id="rId13"/>
    <p:sldId id="260" r:id="rId14"/>
    <p:sldId id="340" r:id="rId15"/>
    <p:sldId id="341" r:id="rId16"/>
    <p:sldId id="342" r:id="rId17"/>
    <p:sldId id="345" r:id="rId18"/>
    <p:sldId id="347" r:id="rId19"/>
    <p:sldId id="344" r:id="rId20"/>
    <p:sldId id="343" r:id="rId21"/>
    <p:sldId id="346" r:id="rId22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5CFE3B-F1A6-A43E-9CE9-37FCDE5489C4}" name="Christian Larsen (DK, Agency for Digitisation)" initials="CD" userId="S::cnila_digst.dk#ext#@eceuropaeu.onmicrosoft.com::25e2181a-147f-4fa8-85d9-083bc4043829" providerId="AD"/>
  <p188:author id="{950A9D51-EF49-C722-EF2C-CAB08EAE913A}" name="ESCRIU Jordi (JRC-ISPRA)" initials="JE" userId="S::Jordi.ESCRIU@ec.europa.eu::10c941ab-08e8-4f68-a669-fae8eb2dcb6d" providerId="AD"/>
  <p188:author id="{E09059B5-59B6-E1A5-1759-9C9D5FB7727A}" name="Ine de Visser" initials="IV" userId="S::i.devisser_geonovum.nl#ext#@eceuropaeu.onmicrosoft.com::f12bd9c0-9088-452b-b677-bdbcae6b017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FE0E7C-3E42-44BA-B204-0191C77ECECE}" v="10" dt="2026-07-07T07:37:12.287"/>
    <p1510:client id="{65C8F6BC-CD9E-46EE-B26D-96A3342D6112}" v="38" dt="2026-07-06T15:07:35.376"/>
    <p1510:client id="{8AA272B2-D77C-BF1C-98A9-2F7A32413E9F}" v="85" dt="2026-07-06T12:11:19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3DCE-1B05-A007-3880-B55B726EA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4727B-BB35-483E-FBFF-637ACD06B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641AA-B463-802F-0146-250294DEE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E22C-96BD-4163-8FF7-8272BB964BAC}" type="datetimeFigureOut">
              <a:rPr lang="fi-FI" smtClean="0"/>
              <a:t>7.7.2026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BDF92-B24C-3A98-891F-0EAAC1F95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41A07-88CA-ABEA-88D8-C5461A4B1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D9EE-6234-4617-8574-C4CAD0820ED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78072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15C2-F43A-9DA4-366D-7C2D5B18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5D526-728A-2528-697D-79D15C07A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D9628-D4F9-F69D-9DC1-C0E8D2C99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E22C-96BD-4163-8FF7-8272BB964BAC}" type="datetimeFigureOut">
              <a:rPr lang="fi-FI" smtClean="0"/>
              <a:t>7.7.2026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EC8D5-9E84-DCB1-EC2A-2B223D8DE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848AD-CE70-2947-E283-CEFBA571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D9EE-6234-4617-8574-C4CAD0820ED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01489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1BA2-20AC-5FFE-3DB6-DBE17571B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60E93-CAE2-954A-85F5-86F567D09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6C675-730A-0357-E2B7-47225415A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E22C-96BD-4163-8FF7-8272BB964BAC}" type="datetimeFigureOut">
              <a:rPr lang="fi-FI" smtClean="0"/>
              <a:t>7.7.2026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AC6F5-E626-34F4-0B2B-0363D4ADC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F7D6B-FDD0-9764-6AEF-83179D87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D9EE-6234-4617-8574-C4CAD0820ED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46071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8C14C-A770-8E78-218B-DC6410F8B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91956-950C-424E-0F3E-E81944AB6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3817A-97A5-85D5-691F-F3FC3622F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2E170-360D-D3E4-B099-D095CA3CB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E22C-96BD-4163-8FF7-8272BB964BAC}" type="datetimeFigureOut">
              <a:rPr lang="fi-FI" smtClean="0"/>
              <a:t>7.7.2026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52ABD-CE32-CFF0-C654-924FBB932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19978-8134-1FBE-6886-DA0288561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D9EE-6234-4617-8574-C4CAD0820ED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7457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9B1D-C1E3-4BB1-ADA0-19958A67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E46D5-A76F-ECCB-7664-7CF4AF931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E9961-2F8C-8960-572F-553EA3458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541C1-694A-DC04-E046-2B7DF9A707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5568CE-1EA6-675C-112B-FD363C11B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2E2538-0C6B-9EB0-2E86-E08B2B14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E22C-96BD-4163-8FF7-8272BB964BAC}" type="datetimeFigureOut">
              <a:rPr lang="fi-FI" smtClean="0"/>
              <a:t>7.7.2026</a:t>
            </a:fld>
            <a:endParaRPr lang="fi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346465-B21F-51C5-DAD2-2539E7D6C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7BC06A-D215-E961-6D17-ED064324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D9EE-6234-4617-8574-C4CAD0820ED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69810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14CE-6858-6582-F6C9-1E185DB5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D70D91-D020-2901-1C31-E17198C57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E22C-96BD-4163-8FF7-8272BB964BAC}" type="datetimeFigureOut">
              <a:rPr lang="fi-FI" smtClean="0"/>
              <a:t>7.7.2026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3B8AF-310E-7516-2370-9A1EA9952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5BE6C-A07E-4551-E3FE-1BB35E4B6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D9EE-6234-4617-8574-C4CAD0820ED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5831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7C665E-1FBF-00B8-3D65-A039BDCDC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E22C-96BD-4163-8FF7-8272BB964BAC}" type="datetimeFigureOut">
              <a:rPr lang="fi-FI" smtClean="0"/>
              <a:t>7.7.2026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8C6C0F-7E2B-51EF-0C36-88C8C21A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8A800-524C-6A3A-45E1-D52F9E18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D9EE-6234-4617-8574-C4CAD0820ED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46682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C9B2-7B8E-C279-3178-7241369E4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CCA63-E64D-C2C4-A70D-684D4D83A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65EF0-2C9F-B59C-475B-22CBCCEEB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ABBE2-008C-5205-0614-C6A6D248A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E22C-96BD-4163-8FF7-8272BB964BAC}" type="datetimeFigureOut">
              <a:rPr lang="fi-FI" smtClean="0"/>
              <a:t>7.7.2026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27A27-9C8D-9FEA-A478-FED2C4F0C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114B5-5D83-2F32-977C-C4DDAA05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D9EE-6234-4617-8574-C4CAD0820ED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54281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FB443-59A5-DC3B-3DE7-975EB9E9B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7023B-8CCB-76A5-8205-8AC2343FB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DF416-8240-6122-B2D2-C5941E61A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E5EE5-AB6F-2B35-59A0-CA1ABF272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E22C-96BD-4163-8FF7-8272BB964BAC}" type="datetimeFigureOut">
              <a:rPr lang="fi-FI" smtClean="0"/>
              <a:t>7.7.2026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022DE-560C-6AF6-84A4-F4D65A72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0234E-22B5-C123-A3F5-F1369A1F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D9EE-6234-4617-8574-C4CAD0820ED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19809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BC90-293D-E274-0B16-14A41A2A4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965AC-EBD2-CE8B-0C0C-719C28357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427D4-EDCD-98BF-BAA3-A5F72532E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E22C-96BD-4163-8FF7-8272BB964BAC}" type="datetimeFigureOut">
              <a:rPr lang="fi-FI" smtClean="0"/>
              <a:t>7.7.2026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E1E59-0A8B-F1D9-7F6F-AF80CA457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DFF0C-E979-B0A4-303A-E35EDC23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D9EE-6234-4617-8574-C4CAD0820ED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152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1D1D83-C6BA-87FB-C0C1-9889C4BDF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03EF5-5587-0021-27E5-26781DB57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57093-25E3-3E97-1A5D-711312588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E22C-96BD-4163-8FF7-8272BB964BAC}" type="datetimeFigureOut">
              <a:rPr lang="fi-FI" smtClean="0"/>
              <a:t>7.7.2026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16008-BECA-6430-B854-236E69E43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BCB28-8A90-E732-8CA6-D25FCAA6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D9EE-6234-4617-8574-C4CAD0820ED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5321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FB5432-3644-FDB4-4DD1-A80B23D8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4EBB1-9CC2-D54F-2ADA-0F00F2144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78407-2CDB-01D9-2956-22E33AB51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0E22C-96BD-4163-8FF7-8272BB964BAC}" type="datetimeFigureOut">
              <a:rPr lang="fi-FI" smtClean="0"/>
              <a:t>7.7.2026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400AE-EE1B-6069-5A95-DBDCF065F5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E8069-7EA1-ED07-1A3A-7A3702A2F0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1D9EE-6234-4617-8574-C4CAD0820ED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60816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inspire.ec.europa.eu/metadata-codelist/SpatialDataServiceType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defs.opengis.net/prez/catalogs/ogc-cat:hosted/col/defisotc211org:codesets/it1/codeset:OnLineFunctionCod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inspire.ec.europa.eu/metadata-codelist/SpatialDataServiceCategory/" TargetMode="External"/><Relationship Id="rId4" Type="http://schemas.openxmlformats.org/officeDocument/2006/relationships/hyperlink" Target="https://inspire.ec.europa.eu/metadata-codelist/ProtocolValu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nspire.ec.europa.eu/metadata-codelist/SpatialDataServiceCategory/infoFeatureTypeService" TargetMode="External"/><Relationship Id="rId2" Type="http://schemas.openxmlformats.org/officeDocument/2006/relationships/hyperlink" Target="https://inspire.ec.europa.eu/metadata-codelist/SpatialDataServiceCategor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spire.ec.europa.eu/metadata-codelist/SpatialDataServiceCategory/infoMapAccessService" TargetMode="External"/><Relationship Id="rId5" Type="http://schemas.openxmlformats.org/officeDocument/2006/relationships/hyperlink" Target="https://inspire.ec.europa.eu/metadata-codelist/SpatialDataServiceCategory/infoCoverageAccessService" TargetMode="External"/><Relationship Id="rId4" Type="http://schemas.openxmlformats.org/officeDocument/2006/relationships/hyperlink" Target="https://inspire.ec.europa.eu/metadata-codelist/SpatialDataServiceCategory/infoFeatureAccessServic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INSPIRE-MIF/GeoDCAT-AP-pilot/tree/main/meetings/2026-07-07/T-1B-data-services-apis/example-metadata-file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opencode.de/sh/zit/opendata/csw2dcat" TargetMode="External"/><Relationship Id="rId2" Type="http://schemas.openxmlformats.org/officeDocument/2006/relationships/hyperlink" Target="https://interoperable-europe.ec.europa.eu/eu-oss-catalogue/solutions/csw2dcat-bridg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SPIRE-MIF/GeoDCAT-AP-pilot/blob/main/meetings/2026-07-07/T-1B-data-services-apis/20260707_Service-API_description_proposal.xlsx" TargetMode="External"/><Relationship Id="rId2" Type="http://schemas.openxmlformats.org/officeDocument/2006/relationships/hyperlink" Target="https://github.com/INSPIRE-MIF/GeoDCAT-AP-pilot/tree/main/meetings/2026-07-07/T-1B-data-services-api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SPIRE-MIF/gp-data-service-linking-simplification/blob/main/good-practice/data-service-linking-simplification-spec.md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SPIRE-MIF/GeoDCAT-AP-pilot/issues/15#issue-4826314143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C6AA-158E-453A-9B9E-840D2F8050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Agreement on a good practice for describing Data Services / APIs</a:t>
            </a:r>
            <a:endParaRPr lang="fi-F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4DD28-2824-A4B6-6102-56C4CC402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602038"/>
            <a:ext cx="10734675" cy="1655762"/>
          </a:xfrm>
        </p:spPr>
        <p:txBody>
          <a:bodyPr>
            <a:normAutofit fontScale="92500" lnSpcReduction="10000"/>
          </a:bodyPr>
          <a:lstStyle/>
          <a:p>
            <a:r>
              <a:rPr lang="en-GB" sz="2600" noProof="0" dirty="0">
                <a:solidFill>
                  <a:srgbClr val="0070C0"/>
                </a:solidFill>
              </a:rPr>
              <a:t>ISO &amp; GeoDCAT-AP Pilot – 2</a:t>
            </a:r>
            <a:r>
              <a:rPr lang="en-GB" sz="2600" baseline="30000" noProof="0" dirty="0">
                <a:solidFill>
                  <a:srgbClr val="0070C0"/>
                </a:solidFill>
              </a:rPr>
              <a:t>nd</a:t>
            </a:r>
            <a:r>
              <a:rPr lang="en-GB" sz="2600" noProof="0" dirty="0">
                <a:solidFill>
                  <a:srgbClr val="0070C0"/>
                </a:solidFill>
              </a:rPr>
              <a:t> Meeting Phase 2, 7 July 2026</a:t>
            </a:r>
          </a:p>
          <a:p>
            <a:endParaRPr lang="en-GB" sz="2600" dirty="0"/>
          </a:p>
          <a:p>
            <a:r>
              <a:rPr lang="en-GB" sz="2600" noProof="0" dirty="0"/>
              <a:t>Lena Hallin-Pihlatie (FI), Lars </a:t>
            </a:r>
            <a:r>
              <a:rPr lang="en-GB" sz="2800" dirty="0"/>
              <a:t>Storgaard (DK), Bianca Drepper (BE-Flanders), Jordi Escriu (JRC)</a:t>
            </a:r>
            <a:r>
              <a:rPr lang="en-GB" sz="26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4053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6DA8-FC62-4FB5-00F6-AA45AEB9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Goals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62FB5-458A-585E-643D-8A46C9C9F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Agreement on a Good Practice for describing Data Services / APIs</a:t>
            </a:r>
          </a:p>
          <a:p>
            <a:endParaRPr lang="en-GB" noProof="0" dirty="0"/>
          </a:p>
          <a:p>
            <a:r>
              <a:rPr lang="en-GB" noProof="0" dirty="0"/>
              <a:t>Propose possible changes to the ISO to GeoDCAT-AP mapping behind SEMIC XSLT</a:t>
            </a:r>
          </a:p>
          <a:p>
            <a:endParaRPr lang="en-GB" noProof="0" dirty="0"/>
          </a:p>
          <a:p>
            <a:r>
              <a:rPr lang="en-GB" noProof="0" dirty="0"/>
              <a:t>Provide encoding examples in ISO (xml) and GeoDCAT-AP (</a:t>
            </a:r>
            <a:r>
              <a:rPr lang="en-GB" noProof="0" dirty="0" err="1"/>
              <a:t>rdf</a:t>
            </a:r>
            <a:r>
              <a:rPr lang="en-GB" noProof="0" dirty="0"/>
              <a:t>)</a:t>
            </a:r>
          </a:p>
          <a:p>
            <a:endParaRPr lang="en-GB" noProof="0" dirty="0"/>
          </a:p>
          <a:p>
            <a:r>
              <a:rPr lang="en-GB" noProof="0" dirty="0"/>
              <a:t>Perhaps:</a:t>
            </a:r>
          </a:p>
          <a:p>
            <a:pPr lvl="1"/>
            <a:r>
              <a:rPr lang="en-GB" noProof="0" dirty="0"/>
              <a:t>Come up with a new, optional way to provide format information</a:t>
            </a:r>
          </a:p>
        </p:txBody>
      </p:sp>
    </p:spTree>
    <p:extLst>
      <p:ext uri="{BB962C8B-B14F-4D97-AF65-F5344CB8AC3E}">
        <p14:creationId xmlns:p14="http://schemas.microsoft.com/office/powerpoint/2010/main" val="2891126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F5F3C-4205-31DE-8C42-25D8FA923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BC41-5A59-4167-A83F-4931DA070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625"/>
            <a:ext cx="10515600" cy="1325563"/>
          </a:xfrm>
        </p:spPr>
        <p:txBody>
          <a:bodyPr/>
          <a:lstStyle/>
          <a:p>
            <a:r>
              <a:rPr lang="en-GB" noProof="0" dirty="0"/>
              <a:t>Working procedure in short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470F4-03C4-E052-0553-D47D1CEC2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406071"/>
            <a:ext cx="11058525" cy="5661701"/>
          </a:xfrm>
        </p:spPr>
        <p:txBody>
          <a:bodyPr>
            <a:noAutofit/>
          </a:bodyPr>
          <a:lstStyle/>
          <a:p>
            <a:r>
              <a:rPr lang="en-GB" sz="2600" b="1" dirty="0"/>
              <a:t>Working Team T-1B meetings </a:t>
            </a:r>
          </a:p>
          <a:p>
            <a:pPr lvl="1"/>
            <a:r>
              <a:rPr lang="en-GB" sz="2200" noProof="0" dirty="0"/>
              <a:t>26 February (kick-off meeting) and 27 March (core team) </a:t>
            </a:r>
          </a:p>
          <a:p>
            <a:pPr lvl="1"/>
            <a:r>
              <a:rPr lang="en-GB" sz="2200" noProof="0" dirty="0"/>
              <a:t>Inventory and presentation of options </a:t>
            </a:r>
          </a:p>
          <a:p>
            <a:pPr lvl="2"/>
            <a:r>
              <a:rPr lang="en-GB" noProof="0" dirty="0"/>
              <a:t>Which code lists and values are relevant for APIs/Services?</a:t>
            </a:r>
          </a:p>
          <a:p>
            <a:pPr lvl="2"/>
            <a:r>
              <a:rPr lang="en-GB" noProof="0" dirty="0"/>
              <a:t>Workaround for the format of the distributions?</a:t>
            </a:r>
          </a:p>
          <a:p>
            <a:pPr lvl="2"/>
            <a:r>
              <a:rPr lang="en-GB" noProof="0" dirty="0"/>
              <a:t>Sharing of material in a Teams channel created for the core team</a:t>
            </a:r>
          </a:p>
          <a:p>
            <a:pPr>
              <a:spcBef>
                <a:spcPts val="1800"/>
              </a:spcBef>
            </a:pPr>
            <a:r>
              <a:rPr lang="en-GB" sz="2600" b="1" noProof="0" dirty="0"/>
              <a:t>Following steps (April-June)</a:t>
            </a:r>
          </a:p>
          <a:p>
            <a:pPr lvl="1"/>
            <a:r>
              <a:rPr lang="en-GB" sz="2200" noProof="0" dirty="0"/>
              <a:t>By-weekly Teams-meetings</a:t>
            </a:r>
          </a:p>
          <a:p>
            <a:pPr lvl="2"/>
            <a:r>
              <a:rPr lang="en-GB" noProof="0" dirty="0"/>
              <a:t>Analysed mandatory DCAT elements in relevant DCAT profiles</a:t>
            </a:r>
          </a:p>
          <a:p>
            <a:pPr lvl="2"/>
            <a:r>
              <a:rPr lang="en-GB" noProof="0" dirty="0"/>
              <a:t>Provided example files to demonstrate the mapping for the Ds-Ser Linking Simpl. approach</a:t>
            </a:r>
          </a:p>
          <a:p>
            <a:pPr lvl="2"/>
            <a:r>
              <a:rPr lang="en-GB" noProof="0" dirty="0"/>
              <a:t>Documented the mapping in Excel using a template found in the (draft)</a:t>
            </a:r>
          </a:p>
          <a:p>
            <a:pPr lvl="2"/>
            <a:r>
              <a:rPr lang="en-GB" noProof="0" dirty="0"/>
              <a:t>Asked for feedback from core team members in JRC Teams repository</a:t>
            </a:r>
          </a:p>
          <a:p>
            <a:pPr lvl="1">
              <a:spcBef>
                <a:spcPts val="1800"/>
              </a:spcBef>
            </a:pPr>
            <a:r>
              <a:rPr lang="en-GB" sz="2200" noProof="0" dirty="0"/>
              <a:t>Workaround for formats  -separate presentation by Belgium Flanders</a:t>
            </a:r>
          </a:p>
          <a:p>
            <a:pPr marL="0" indent="0">
              <a:buNone/>
            </a:pPr>
            <a:endParaRPr lang="fi-FI" sz="3800" dirty="0"/>
          </a:p>
          <a:p>
            <a:pPr lvl="1"/>
            <a:endParaRPr lang="fi-FI" dirty="0"/>
          </a:p>
          <a:p>
            <a:pPr lvl="1"/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119956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E12D4-4398-EE87-B3F7-C9831EB67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542229" cy="1325563"/>
          </a:xfrm>
        </p:spPr>
        <p:txBody>
          <a:bodyPr>
            <a:normAutofit/>
          </a:bodyPr>
          <a:lstStyle/>
          <a:p>
            <a:r>
              <a:rPr lang="en-GB" noProof="0" dirty="0"/>
              <a:t>Options for SEMIC XSLT </a:t>
            </a:r>
            <a:br>
              <a:rPr lang="en-GB" noProof="0" dirty="0"/>
            </a:br>
            <a:r>
              <a:rPr lang="en-GB" noProof="0" dirty="0"/>
              <a:t>to map services/APIs</a:t>
            </a:r>
            <a:endParaRPr lang="en-GB" i="1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1D992-8DDD-7788-B0A0-E162FC9F8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111242" cy="5146676"/>
          </a:xfrm>
        </p:spPr>
        <p:txBody>
          <a:bodyPr>
            <a:normAutofit fontScale="62500" lnSpcReduction="20000"/>
          </a:bodyPr>
          <a:lstStyle/>
          <a:p>
            <a:r>
              <a:rPr lang="en-GB" noProof="0" dirty="0"/>
              <a:t>Use ISO 19115 </a:t>
            </a:r>
            <a:r>
              <a:rPr lang="en-GB" b="1" noProof="0" dirty="0">
                <a:highlight>
                  <a:srgbClr val="FFFF00"/>
                </a:highlight>
              </a:rPr>
              <a:t>Online function codes </a:t>
            </a:r>
          </a:p>
          <a:p>
            <a:pPr lvl="1"/>
            <a:r>
              <a:rPr lang="en-GB" noProof="0" dirty="0">
                <a:hlinkClick r:id="rId2"/>
              </a:rPr>
              <a:t>https://defs.opengis.net/prez/catalogs/ogc-cat:hosted/col/defisotc211org:codesets/it1/codeset:OnLineFunctionCode</a:t>
            </a:r>
            <a:endParaRPr lang="en-GB" noProof="0" dirty="0"/>
          </a:p>
          <a:p>
            <a:pPr lvl="1"/>
            <a:r>
              <a:rPr lang="en-GB" noProof="0" dirty="0" err="1"/>
              <a:t>gmd:function</a:t>
            </a:r>
            <a:endParaRPr lang="en-GB" noProof="0" dirty="0"/>
          </a:p>
          <a:p>
            <a:pPr lvl="1"/>
            <a:endParaRPr lang="en-GB" noProof="0" dirty="0"/>
          </a:p>
          <a:p>
            <a:r>
              <a:rPr lang="en-GB" noProof="0" dirty="0"/>
              <a:t>Use INSPIRE  </a:t>
            </a:r>
            <a:r>
              <a:rPr lang="en-GB" b="1" noProof="0" dirty="0">
                <a:highlight>
                  <a:srgbClr val="00FF00"/>
                </a:highlight>
              </a:rPr>
              <a:t>Spatial Data Service Type</a:t>
            </a:r>
            <a:r>
              <a:rPr lang="en-GB" noProof="0" dirty="0">
                <a:highlight>
                  <a:srgbClr val="00FF00"/>
                </a:highlight>
              </a:rPr>
              <a:t> </a:t>
            </a:r>
            <a:r>
              <a:rPr lang="en-GB" b="1" noProof="0" dirty="0">
                <a:highlight>
                  <a:srgbClr val="00FF00"/>
                </a:highlight>
              </a:rPr>
              <a:t>codes </a:t>
            </a:r>
          </a:p>
          <a:p>
            <a:pPr lvl="1"/>
            <a:r>
              <a:rPr lang="en-GB" noProof="0" dirty="0">
                <a:hlinkClick r:id="rId3"/>
              </a:rPr>
              <a:t>https://inspire.ec.europa.eu/metadata-codelist/SpatialDataServiceType</a:t>
            </a:r>
            <a:endParaRPr lang="en-GB" noProof="0" dirty="0"/>
          </a:p>
          <a:p>
            <a:pPr lvl="1"/>
            <a:r>
              <a:rPr lang="en-GB" noProof="0" dirty="0" err="1"/>
              <a:t>gmd:applicationProfile</a:t>
            </a:r>
            <a:r>
              <a:rPr lang="en-GB" noProof="0" dirty="0"/>
              <a:t> or </a:t>
            </a:r>
            <a:r>
              <a:rPr lang="en-GB" noProof="0" dirty="0" err="1"/>
              <a:t>srv:serviceType</a:t>
            </a:r>
            <a:endParaRPr lang="en-GB" noProof="0" dirty="0"/>
          </a:p>
          <a:p>
            <a:pPr marL="457200" lvl="1" indent="0">
              <a:buNone/>
            </a:pPr>
            <a:endParaRPr lang="en-GB" noProof="0" dirty="0"/>
          </a:p>
          <a:p>
            <a:r>
              <a:rPr lang="en-GB" noProof="0" dirty="0"/>
              <a:t>Use INSPIRE </a:t>
            </a:r>
            <a:r>
              <a:rPr lang="en-GB" b="1" noProof="0" dirty="0">
                <a:highlight>
                  <a:srgbClr val="00FFFF"/>
                </a:highlight>
              </a:rPr>
              <a:t>Protocol Value codes</a:t>
            </a:r>
            <a:endParaRPr lang="en-GB" b="1" noProof="0" dirty="0"/>
          </a:p>
          <a:p>
            <a:pPr lvl="1"/>
            <a:r>
              <a:rPr lang="en-GB" noProof="0" dirty="0">
                <a:hlinkClick r:id="rId4"/>
              </a:rPr>
              <a:t>https://inspire.ec.europa.eu/metadata-codelist/ProtocolValue</a:t>
            </a:r>
            <a:endParaRPr lang="en-GB" noProof="0" dirty="0"/>
          </a:p>
          <a:p>
            <a:pPr lvl="1"/>
            <a:r>
              <a:rPr lang="en-GB" noProof="0" dirty="0" err="1"/>
              <a:t>gmd:protocol</a:t>
            </a:r>
            <a:endParaRPr lang="en-GB" noProof="0" dirty="0"/>
          </a:p>
          <a:p>
            <a:pPr lvl="1"/>
            <a:endParaRPr lang="en-GB" b="1" noProof="0" dirty="0"/>
          </a:p>
          <a:p>
            <a:r>
              <a:rPr lang="en-GB" noProof="0" dirty="0"/>
              <a:t>Use INSPIRE </a:t>
            </a:r>
            <a:r>
              <a:rPr lang="en-GB" b="1" noProof="0" dirty="0">
                <a:highlight>
                  <a:srgbClr val="FF00FF"/>
                </a:highlight>
              </a:rPr>
              <a:t>Spatial Data Service Category</a:t>
            </a:r>
          </a:p>
          <a:p>
            <a:pPr lvl="1"/>
            <a:r>
              <a:rPr lang="en-GB" noProof="0" dirty="0">
                <a:hlinkClick r:id="rId5"/>
              </a:rPr>
              <a:t>https://inspire.ec.europa.eu/metadata-codelist/SpatialDataServiceCategory/</a:t>
            </a:r>
            <a:endParaRPr lang="en-GB" noProof="0" dirty="0"/>
          </a:p>
          <a:p>
            <a:pPr lvl="1"/>
            <a:r>
              <a:rPr lang="en-GB" noProof="0" dirty="0" err="1"/>
              <a:t>gmd:keyword</a:t>
            </a:r>
            <a:endParaRPr lang="en-GB" b="1" noProof="0" dirty="0"/>
          </a:p>
          <a:p>
            <a:pPr marL="457200" lvl="1" indent="0">
              <a:buNone/>
            </a:pPr>
            <a:endParaRPr lang="en-GB" noProof="0" dirty="0"/>
          </a:p>
          <a:p>
            <a:r>
              <a:rPr lang="en-GB" noProof="0" dirty="0"/>
              <a:t>Use a </a:t>
            </a:r>
            <a:r>
              <a:rPr lang="en-GB" b="1" noProof="0" dirty="0"/>
              <a:t>combination</a:t>
            </a:r>
            <a:r>
              <a:rPr lang="en-GB" noProof="0" dirty="0"/>
              <a:t> of these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510DC1-3804-70B6-BA35-72E957B16F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" t="13061" r="72113" b="10250"/>
          <a:stretch/>
        </p:blipFill>
        <p:spPr>
          <a:xfrm>
            <a:off x="9149850" y="3578518"/>
            <a:ext cx="2840471" cy="3250907"/>
          </a:xfrm>
          <a:prstGeom prst="rect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FA367D-2CCA-287D-6928-3B8211EB5B2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074" t="2478" r="12493" b="3835"/>
          <a:stretch/>
        </p:blipFill>
        <p:spPr>
          <a:xfrm>
            <a:off x="9390299" y="37348"/>
            <a:ext cx="1616693" cy="3459871"/>
          </a:xfrm>
          <a:prstGeom prst="rect">
            <a:avLst/>
          </a:prstGeom>
          <a:ln w="38100">
            <a:solidFill>
              <a:srgbClr val="FFFF00"/>
            </a:solidFill>
          </a:ln>
          <a:effectLst>
            <a:softEdge rad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2FBC9F-9821-E770-0E3B-EAF290D7240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300" r="32891" b="8420"/>
          <a:stretch/>
        </p:blipFill>
        <p:spPr>
          <a:xfrm>
            <a:off x="6775334" y="2819177"/>
            <a:ext cx="2261311" cy="2133916"/>
          </a:xfrm>
          <a:prstGeom prst="rect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30" name="Callout: Left-Right Arrow 29">
            <a:extLst>
              <a:ext uri="{FF2B5EF4-FFF2-40B4-BE49-F238E27FC236}">
                <a16:creationId xmlns:a16="http://schemas.microsoft.com/office/drawing/2014/main" id="{043A11D3-4CE9-0DC0-EB69-E786C01AE924}"/>
              </a:ext>
            </a:extLst>
          </p:cNvPr>
          <p:cNvSpPr/>
          <p:nvPr/>
        </p:nvSpPr>
        <p:spPr>
          <a:xfrm>
            <a:off x="6775334" y="1493614"/>
            <a:ext cx="2423026" cy="622169"/>
          </a:xfrm>
          <a:prstGeom prst="left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err="1"/>
              <a:t>Present</a:t>
            </a:r>
            <a:r>
              <a:rPr lang="fi-FI"/>
              <a:t> </a:t>
            </a:r>
            <a:r>
              <a:rPr lang="fi-FI" err="1"/>
              <a:t>mapping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58832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66A6-AE70-4F8D-C8A5-139EE2CD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Spatial Data Service Category code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7FC51-6743-4792-671E-056A60983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/>
          </a:bodyPr>
          <a:lstStyle/>
          <a:p>
            <a:r>
              <a:rPr lang="en-GB" noProof="0" dirty="0">
                <a:hlinkClick r:id="rId2"/>
              </a:rPr>
              <a:t>https://inspire.ec.europa.eu/metadata-codelist/</a:t>
            </a:r>
            <a:r>
              <a:rPr lang="en-GB" noProof="0" dirty="0">
                <a:highlight>
                  <a:srgbClr val="FF00FF"/>
                </a:highlight>
                <a:hlinkClick r:id="rId2"/>
              </a:rPr>
              <a:t>SpatialDataServiceCategory/</a:t>
            </a:r>
            <a:endParaRPr lang="en-GB" noProof="0" dirty="0">
              <a:highlight>
                <a:srgbClr val="FF00FF"/>
              </a:highlight>
            </a:endParaRPr>
          </a:p>
          <a:p>
            <a:endParaRPr lang="en-GB" noProof="0" dirty="0"/>
          </a:p>
          <a:p>
            <a:pPr lvl="1"/>
            <a:r>
              <a:rPr lang="en-GB" noProof="0" dirty="0"/>
              <a:t>Atom-feed </a:t>
            </a:r>
            <a:r>
              <a:rPr lang="en-GB" i="1" noProof="0" dirty="0" err="1">
                <a:hlinkClick r:id="rId3"/>
              </a:rPr>
              <a:t>infoFeatureTypeService</a:t>
            </a:r>
            <a:r>
              <a:rPr lang="en-GB" noProof="0" dirty="0">
                <a:hlinkClick r:id="rId3"/>
              </a:rPr>
              <a:t> </a:t>
            </a:r>
            <a:endParaRPr lang="en-GB" noProof="0" dirty="0"/>
          </a:p>
          <a:p>
            <a:pPr lvl="1"/>
            <a:r>
              <a:rPr lang="en-GB" noProof="0" dirty="0"/>
              <a:t>WFS or OGC API Features </a:t>
            </a:r>
            <a:r>
              <a:rPr lang="en-GB" i="1" noProof="0" dirty="0" err="1">
                <a:hlinkClick r:id="rId4"/>
              </a:rPr>
              <a:t>infoFeatureAccessService</a:t>
            </a:r>
            <a:endParaRPr lang="en-GB" noProof="0" dirty="0"/>
          </a:p>
          <a:p>
            <a:pPr lvl="1"/>
            <a:r>
              <a:rPr lang="en-GB" noProof="0" dirty="0"/>
              <a:t>WCS </a:t>
            </a:r>
            <a:r>
              <a:rPr lang="en-GB" i="1" noProof="0" dirty="0" err="1">
                <a:hlinkClick r:id="rId5"/>
              </a:rPr>
              <a:t>infoCoverageAccessService</a:t>
            </a:r>
            <a:endParaRPr lang="en-GB" noProof="0" dirty="0"/>
          </a:p>
          <a:p>
            <a:pPr lvl="1"/>
            <a:r>
              <a:rPr lang="en-GB" noProof="0" dirty="0"/>
              <a:t>WMS or WMTS </a:t>
            </a:r>
            <a:r>
              <a:rPr lang="en-GB" i="1" noProof="0" dirty="0" err="1">
                <a:hlinkClick r:id="rId6"/>
              </a:rPr>
              <a:t>infoMapAccessService</a:t>
            </a:r>
            <a:endParaRPr lang="en-GB" i="1" noProof="0" dirty="0"/>
          </a:p>
          <a:p>
            <a:pPr lvl="1"/>
            <a:r>
              <a:rPr lang="en-GB" noProof="0" dirty="0"/>
              <a:t>And so on</a:t>
            </a:r>
          </a:p>
        </p:txBody>
      </p:sp>
    </p:spTree>
    <p:extLst>
      <p:ext uri="{BB962C8B-B14F-4D97-AF65-F5344CB8AC3E}">
        <p14:creationId xmlns:p14="http://schemas.microsoft.com/office/powerpoint/2010/main" val="705653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5555-1895-3392-8663-910B2675D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288"/>
            <a:ext cx="11353800" cy="1325563"/>
          </a:xfrm>
        </p:spPr>
        <p:txBody>
          <a:bodyPr/>
          <a:lstStyle/>
          <a:p>
            <a:r>
              <a:rPr lang="en-GB" noProof="0" dirty="0"/>
              <a:t>Requirement of codes in INSPIRE metadata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7BF52C-2D3D-62E9-1C14-489173450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956812"/>
              </p:ext>
            </p:extLst>
          </p:nvPr>
        </p:nvGraphicFramePr>
        <p:xfrm>
          <a:off x="150830" y="1179576"/>
          <a:ext cx="1204117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234">
                  <a:extLst>
                    <a:ext uri="{9D8B030D-6E8A-4147-A177-3AD203B41FA5}">
                      <a16:colId xmlns:a16="http://schemas.microsoft.com/office/drawing/2014/main" val="3794003645"/>
                    </a:ext>
                  </a:extLst>
                </a:gridCol>
                <a:gridCol w="2116631">
                  <a:extLst>
                    <a:ext uri="{9D8B030D-6E8A-4147-A177-3AD203B41FA5}">
                      <a16:colId xmlns:a16="http://schemas.microsoft.com/office/drawing/2014/main" val="689828317"/>
                    </a:ext>
                  </a:extLst>
                </a:gridCol>
                <a:gridCol w="2243579">
                  <a:extLst>
                    <a:ext uri="{9D8B030D-6E8A-4147-A177-3AD203B41FA5}">
                      <a16:colId xmlns:a16="http://schemas.microsoft.com/office/drawing/2014/main" val="1947687147"/>
                    </a:ext>
                  </a:extLst>
                </a:gridCol>
                <a:gridCol w="2187019">
                  <a:extLst>
                    <a:ext uri="{9D8B030D-6E8A-4147-A177-3AD203B41FA5}">
                      <a16:colId xmlns:a16="http://schemas.microsoft.com/office/drawing/2014/main" val="2548176437"/>
                    </a:ext>
                  </a:extLst>
                </a:gridCol>
                <a:gridCol w="3085707">
                  <a:extLst>
                    <a:ext uri="{9D8B030D-6E8A-4147-A177-3AD203B41FA5}">
                      <a16:colId xmlns:a16="http://schemas.microsoft.com/office/drawing/2014/main" val="2547561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Codes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INSPIRE dataset metadata </a:t>
                      </a:r>
                    </a:p>
                    <a:p>
                      <a:pPr algn="ctr"/>
                      <a:r>
                        <a:rPr lang="en-GB" noProof="0" dirty="0"/>
                        <a:t>(Ds-Ser Linking Simpl. approach)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INSPIRE service metadata</a:t>
                      </a:r>
                    </a:p>
                    <a:p>
                      <a:pPr algn="ctr"/>
                      <a:r>
                        <a:rPr lang="en-GB" noProof="0" dirty="0"/>
                        <a:t>(Classic Ds-Ser Linking approach)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noProof="0" dirty="0"/>
                        <a:t>INSPIRE dataset metadata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noProof="0" dirty="0"/>
                        <a:t>(Classic Ds-Ser Linking approach)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662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noProof="0" dirty="0">
                          <a:highlight>
                            <a:srgbClr val="FFFF00"/>
                          </a:highlight>
                        </a:rPr>
                        <a:t>Online function codes 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 </a:t>
                      </a:r>
                    </a:p>
                    <a:p>
                      <a:pPr algn="ctr"/>
                      <a:r>
                        <a:rPr lang="en-GB" noProof="0" dirty="0"/>
                        <a:t>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noProof="0" dirty="0"/>
                    </a:p>
                    <a:p>
                      <a:pPr algn="ctr"/>
                      <a:r>
                        <a:rPr lang="en-GB" noProof="0" dirty="0"/>
                        <a:t>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noProof="0" dirty="0"/>
                    </a:p>
                    <a:p>
                      <a:pPr algn="ctr"/>
                      <a:r>
                        <a:rPr lang="en-GB" noProof="0" dirty="0"/>
                        <a:t>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TG Recommendation 3.4: metadata/2.0/rec/</a:t>
                      </a:r>
                      <a:r>
                        <a:rPr lang="en-GB" noProof="0" dirty="0" err="1"/>
                        <a:t>sds</a:t>
                      </a:r>
                      <a:r>
                        <a:rPr lang="en-GB" noProof="0" dirty="0"/>
                        <a:t>/resource-locator-additional-info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144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noProof="0" dirty="0">
                          <a:highlight>
                            <a:srgbClr val="00FF00"/>
                          </a:highlight>
                        </a:rPr>
                        <a:t>Spatial Data Service Type</a:t>
                      </a:r>
                      <a:r>
                        <a:rPr lang="en-GB" noProof="0" dirty="0">
                          <a:highlight>
                            <a:srgbClr val="00FF00"/>
                          </a:highlight>
                        </a:rPr>
                        <a:t> </a:t>
                      </a:r>
                      <a:r>
                        <a:rPr lang="en-GB" b="1" noProof="0" dirty="0">
                          <a:highlight>
                            <a:srgbClr val="00FF00"/>
                          </a:highlight>
                        </a:rPr>
                        <a:t>codes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noProof="0" dirty="0"/>
                    </a:p>
                    <a:p>
                      <a:pPr algn="ctr"/>
                      <a:r>
                        <a:rPr lang="en-GB" b="1" noProof="0" dirty="0"/>
                        <a:t>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noProof="0" dirty="0"/>
                    </a:p>
                    <a:p>
                      <a:pPr algn="ctr"/>
                      <a:r>
                        <a:rPr lang="en-GB" b="1" noProof="0" dirty="0"/>
                        <a:t>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noProof="0" dirty="0"/>
                    </a:p>
                    <a:p>
                      <a:pPr algn="ctr"/>
                      <a:r>
                        <a:rPr lang="en-GB" noProof="0" dirty="0"/>
                        <a:t>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TG Requirement 3.5: metadata/2.0/</a:t>
                      </a:r>
                      <a:r>
                        <a:rPr lang="en-GB" noProof="0" dirty="0" err="1"/>
                        <a:t>req</a:t>
                      </a:r>
                      <a:r>
                        <a:rPr lang="en-GB" noProof="0" dirty="0"/>
                        <a:t>/</a:t>
                      </a:r>
                      <a:r>
                        <a:rPr lang="en-GB" noProof="0" dirty="0" err="1"/>
                        <a:t>sds</a:t>
                      </a:r>
                      <a:r>
                        <a:rPr lang="en-GB" noProof="0" dirty="0"/>
                        <a:t>/</a:t>
                      </a:r>
                      <a:r>
                        <a:rPr lang="en-GB" noProof="0" dirty="0" err="1"/>
                        <a:t>sds</a:t>
                      </a:r>
                      <a:r>
                        <a:rPr lang="en-GB" noProof="0" dirty="0"/>
                        <a:t>-type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60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noProof="0" dirty="0">
                          <a:highlight>
                            <a:srgbClr val="00FFFF"/>
                          </a:highlight>
                        </a:rPr>
                        <a:t>Protocol Value codes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noProof="0" dirty="0"/>
                    </a:p>
                    <a:p>
                      <a:pPr algn="ctr"/>
                      <a:r>
                        <a:rPr lang="en-GB" b="1" noProof="0" dirty="0"/>
                        <a:t>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noProof="0" dirty="0"/>
                    </a:p>
                    <a:p>
                      <a:pPr algn="ctr"/>
                      <a:r>
                        <a:rPr lang="en-GB" noProof="0" dirty="0"/>
                        <a:t>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noProof="0" dirty="0"/>
                    </a:p>
                    <a:p>
                      <a:pPr marL="0" algn="ctr" defTabSz="914400" rtl="0" eaLnBrk="1" latinLnBrk="0" hangingPunct="1"/>
                      <a:r>
                        <a:rPr lang="en-GB" sz="18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TG Requirement 3.4: metadata/2.0/</a:t>
                      </a:r>
                      <a:r>
                        <a:rPr lang="en-GB" noProof="0" dirty="0" err="1"/>
                        <a:t>req</a:t>
                      </a:r>
                      <a:r>
                        <a:rPr lang="en-GB" noProof="0" dirty="0"/>
                        <a:t>/</a:t>
                      </a:r>
                      <a:r>
                        <a:rPr lang="en-GB" noProof="0" dirty="0" err="1"/>
                        <a:t>sds</a:t>
                      </a:r>
                      <a:r>
                        <a:rPr lang="en-GB" noProof="0" dirty="0"/>
                        <a:t>/</a:t>
                      </a:r>
                      <a:r>
                        <a:rPr lang="en-GB" noProof="0" dirty="0" err="1"/>
                        <a:t>sds</a:t>
                      </a:r>
                      <a:r>
                        <a:rPr lang="en-GB" noProof="0" dirty="0"/>
                        <a:t>-category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878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noProof="0" dirty="0">
                          <a:highlight>
                            <a:srgbClr val="FF00FF"/>
                          </a:highlight>
                        </a:rPr>
                        <a:t>Spatial Data Service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noProof="0" dirty="0"/>
                    </a:p>
                    <a:p>
                      <a:pPr algn="ctr"/>
                      <a:r>
                        <a:rPr lang="en-GB" noProof="0" dirty="0"/>
                        <a:t>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noProof="0" dirty="0"/>
                    </a:p>
                    <a:p>
                      <a:pPr algn="ctr"/>
                      <a:r>
                        <a:rPr lang="en-GB" b="1" noProof="0" dirty="0"/>
                        <a:t>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noProof="0" dirty="0"/>
                    </a:p>
                    <a:p>
                      <a:pPr algn="ctr"/>
                      <a:r>
                        <a:rPr lang="en-GB" noProof="0" dirty="0"/>
                        <a:t>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TG Requirement 3.4: metadata/2.0/</a:t>
                      </a:r>
                      <a:r>
                        <a:rPr lang="en-GB" noProof="0" dirty="0" err="1"/>
                        <a:t>req</a:t>
                      </a:r>
                      <a:r>
                        <a:rPr lang="en-GB" noProof="0" dirty="0"/>
                        <a:t>/</a:t>
                      </a:r>
                      <a:r>
                        <a:rPr lang="en-GB" noProof="0" dirty="0" err="1"/>
                        <a:t>sds</a:t>
                      </a:r>
                      <a:r>
                        <a:rPr lang="en-GB" noProof="0" dirty="0"/>
                        <a:t>/</a:t>
                      </a:r>
                      <a:r>
                        <a:rPr lang="en-GB" noProof="0" dirty="0" err="1"/>
                        <a:t>sds</a:t>
                      </a:r>
                      <a:r>
                        <a:rPr lang="en-GB" noProof="0" dirty="0"/>
                        <a:t>-category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402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389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7A9D3-0630-C514-BC83-FADB1FC4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noProof="0" dirty="0"/>
              <a:t>The Data-Service linkage approach for dataset metadata uses </a:t>
            </a:r>
            <a:r>
              <a:rPr lang="en-GB" sz="3600" noProof="0" dirty="0" err="1"/>
              <a:t>ProtocolValue</a:t>
            </a:r>
            <a:r>
              <a:rPr lang="en-GB" sz="3600" noProof="0" dirty="0"/>
              <a:t> and </a:t>
            </a:r>
            <a:r>
              <a:rPr lang="en-GB" sz="3600" noProof="0" dirty="0" err="1"/>
              <a:t>SpatialDataService</a:t>
            </a:r>
            <a:endParaRPr lang="en-GB" sz="3600" noProof="0" dirty="0"/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F38B5E9A-4A78-2B9D-D9EA-A0580B66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98" y="1825625"/>
            <a:ext cx="11084804" cy="463210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FCDC89-8077-04A2-179A-70668BBF87C3}"/>
              </a:ext>
            </a:extLst>
          </p:cNvPr>
          <p:cNvSpPr/>
          <p:nvPr/>
        </p:nvSpPr>
        <p:spPr>
          <a:xfrm>
            <a:off x="1891553" y="5181601"/>
            <a:ext cx="9746849" cy="116615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rgbClr val="FF00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DCD201-768E-A6CC-DA18-FEA030ECC58C}"/>
              </a:ext>
            </a:extLst>
          </p:cNvPr>
          <p:cNvSpPr/>
          <p:nvPr/>
        </p:nvSpPr>
        <p:spPr>
          <a:xfrm>
            <a:off x="1828800" y="3612776"/>
            <a:ext cx="9746849" cy="156882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73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B58E2-44E0-7467-D27E-165D773B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Focus: Mandatory elements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B10129-E8BC-9961-622D-65AE2C8EC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870"/>
            <a:ext cx="12192000" cy="24894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034F92-C8E8-AAB5-B885-B3C27128B3AA}"/>
              </a:ext>
            </a:extLst>
          </p:cNvPr>
          <p:cNvSpPr txBox="1"/>
          <p:nvPr/>
        </p:nvSpPr>
        <p:spPr>
          <a:xfrm>
            <a:off x="714375" y="4371975"/>
            <a:ext cx="1090612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noProof="0" dirty="0"/>
              <a:t>The </a:t>
            </a:r>
            <a:r>
              <a:rPr lang="en-GB" b="1" noProof="0" dirty="0"/>
              <a:t>analysis</a:t>
            </a:r>
            <a:r>
              <a:rPr lang="en-GB" noProof="0" dirty="0"/>
              <a:t> started identifying the </a:t>
            </a:r>
            <a:r>
              <a:rPr lang="en-GB" b="1" noProof="0" dirty="0"/>
              <a:t>mandatory elements</a:t>
            </a:r>
            <a:r>
              <a:rPr lang="en-GB" noProof="0" dirty="0"/>
              <a:t> to be provided </a:t>
            </a:r>
            <a:r>
              <a:rPr lang="en-GB" b="1" noProof="0" dirty="0"/>
              <a:t>for reporting HVDs</a:t>
            </a:r>
            <a:r>
              <a:rPr lang="en-GB" noProof="0" dirty="0"/>
              <a:t>, extracted from different </a:t>
            </a:r>
            <a:r>
              <a:rPr lang="en-GB" b="1" noProof="0" dirty="0"/>
              <a:t>relevant sources</a:t>
            </a:r>
            <a:r>
              <a:rPr lang="en-GB" noProof="0" dirty="0"/>
              <a:t>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DCAT-AP 3.0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GeoDCAT-AP 3.0.0 (need to update to v3.1.0)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DCAT-AP for High Value Datasets</a:t>
            </a:r>
            <a:endParaRPr lang="en-GB" noProof="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noProof="0" dirty="0"/>
              <a:t>The proposed mapping has been scoped only to these mandatory items</a:t>
            </a:r>
          </a:p>
        </p:txBody>
      </p:sp>
    </p:spTree>
    <p:extLst>
      <p:ext uri="{BB962C8B-B14F-4D97-AF65-F5344CB8AC3E}">
        <p14:creationId xmlns:p14="http://schemas.microsoft.com/office/powerpoint/2010/main" val="440893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AB78C-3D5F-2053-59E9-231FE160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900" noProof="0" dirty="0"/>
              <a:t>Example metadata encodings </a:t>
            </a:r>
            <a:br>
              <a:rPr lang="en-GB" noProof="0" dirty="0"/>
            </a:br>
            <a:r>
              <a:rPr lang="en-GB" sz="4000" noProof="0" dirty="0"/>
              <a:t>For datasets following Ds-Ser Linking Simpl.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ADCE-D0F6-9C9F-EBA3-CACAD718F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68720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lvl="2"/>
            <a:endParaRPr lang="fi-FI" sz="2400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pPr marL="0" indent="0">
              <a:buNone/>
            </a:pPr>
            <a:endParaRPr lang="fi-FI" dirty="0"/>
          </a:p>
          <a:p>
            <a:pPr marL="0" indent="0">
              <a:buNone/>
            </a:pPr>
            <a:endParaRPr lang="fi-FI" dirty="0"/>
          </a:p>
          <a:p>
            <a:r>
              <a:rPr lang="en-GB" sz="2400" dirty="0">
                <a:hlinkClick r:id="rId2"/>
              </a:rPr>
              <a:t>https://github.com/INSPIRE-MIF/GeoDCAT-AP-pilot/tree/main/meetings/2026-07-07/T-1B-data-services-apis/example-metadata-files</a:t>
            </a:r>
            <a:r>
              <a:rPr lang="en-GB" sz="2400" dirty="0"/>
              <a:t> </a:t>
            </a:r>
          </a:p>
          <a:p>
            <a:r>
              <a:rPr lang="en-GB" sz="2400" noProof="0" dirty="0"/>
              <a:t>The example GeoDCAT-AP files passes SHACL validation, level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8164F6-EDE8-A8B2-D655-BFE0F9BA9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575" y="1707820"/>
            <a:ext cx="7562850" cy="39382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9751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87629-DDD4-E660-C50E-859AEECDB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7D3A-8920-7E99-18F5-79A53A84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German CSW2DCAT Bridge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1B624-0C64-3CFD-79FE-EA2E69B95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381" y="1825624"/>
            <a:ext cx="4370294" cy="4360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noProof="0" dirty="0"/>
              <a:t>CSW2DCAT bridge found on the Interoperable Europe Portal</a:t>
            </a:r>
          </a:p>
          <a:p>
            <a:pPr marL="0" indent="0">
              <a:buNone/>
            </a:pPr>
            <a:r>
              <a:rPr lang="en-GB" sz="2400" noProof="0" dirty="0">
                <a:hlinkClick r:id="rId2"/>
              </a:rPr>
              <a:t>https://interoperable-europe.ec.europa.eu/eu-oss-catalogue/solutions/csw2dcat-bridge</a:t>
            </a:r>
            <a:endParaRPr lang="en-GB" sz="2400" noProof="0" dirty="0"/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r>
              <a:rPr lang="en-GB" sz="2400" noProof="0" dirty="0"/>
              <a:t>German mapping to DCAT </a:t>
            </a:r>
            <a:r>
              <a:rPr lang="en-GB" sz="2400" noProof="0" dirty="0">
                <a:hlinkClick r:id="rId3"/>
              </a:rPr>
              <a:t>https://gitlab.opencode.de/sh/zit/opendata/csw2dcat</a:t>
            </a:r>
            <a:endParaRPr lang="en-GB" sz="2400" noProof="0" dirty="0"/>
          </a:p>
          <a:p>
            <a:pPr marL="0" indent="0">
              <a:buNone/>
            </a:pPr>
            <a:endParaRPr lang="fi-FI" dirty="0"/>
          </a:p>
          <a:p>
            <a:endParaRPr lang="fi-F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74E3F-7911-A6CF-D320-9E13854BB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25" y="1690687"/>
            <a:ext cx="6139827" cy="449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58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4A93-43BE-C844-3989-4154D759F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67334" cy="1325563"/>
          </a:xfrm>
        </p:spPr>
        <p:txBody>
          <a:bodyPr>
            <a:normAutofit fontScale="90000"/>
          </a:bodyPr>
          <a:lstStyle/>
          <a:p>
            <a:r>
              <a:rPr lang="en-GB" sz="4900" noProof="0" dirty="0"/>
              <a:t>Inspiration to the Excel: </a:t>
            </a:r>
            <a:br>
              <a:rPr lang="en-GB" noProof="0" dirty="0"/>
            </a:br>
            <a:r>
              <a:rPr lang="en-GB" sz="4000" dirty="0"/>
              <a:t>T</a:t>
            </a:r>
            <a:r>
              <a:rPr lang="en-GB" sz="4000" noProof="0" dirty="0" err="1"/>
              <a:t>aken</a:t>
            </a:r>
            <a:r>
              <a:rPr lang="en-GB" sz="4000" noProof="0" dirty="0"/>
              <a:t> from the German mapping, reusing relevant parts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518BF03-DD46-7823-AAC4-0AA473757D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5095" y="1825624"/>
            <a:ext cx="9781810" cy="470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326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1F307-3AB7-6539-2D6A-34DC4827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99607" cy="1325563"/>
          </a:xfrm>
        </p:spPr>
        <p:txBody>
          <a:bodyPr>
            <a:normAutofit/>
          </a:bodyPr>
          <a:lstStyle/>
          <a:p>
            <a:r>
              <a:rPr lang="en-GB" noProof="0" dirty="0"/>
              <a:t>'GP Dataset metadata mapping' spreadsheet:</a:t>
            </a:r>
            <a:br>
              <a:rPr lang="en-GB" noProof="0" dirty="0"/>
            </a:br>
            <a:r>
              <a:rPr lang="en-GB" sz="3200" noProof="0" dirty="0"/>
              <a:t>Own mapping proposal based on Ds-Ser Linking Simpl approach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779EB62-9C89-F285-D462-5646F0B60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45920"/>
            <a:ext cx="10972800" cy="497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39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552ED-DA00-C887-44F6-9151A416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41623-F196-41B8-59CB-2655D0D6A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/>
              <a:t>'GP Service metadata mapping' </a:t>
            </a:r>
            <a:r>
              <a:rPr lang="fi-FI" dirty="0"/>
              <a:t>spreadsheet</a:t>
            </a:r>
            <a:br>
              <a:rPr lang="fi-FI" dirty="0"/>
            </a:br>
            <a:r>
              <a:rPr lang="fi-FI" sz="3200" dirty="0"/>
              <a:t>Own (draft) mapping proposal for service metadata</a:t>
            </a:r>
            <a:endParaRPr lang="fi-FI" sz="32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7049B2-5579-6BBC-2B97-358D13F97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8079" y="1825625"/>
            <a:ext cx="9635842" cy="435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75C6F1-89EB-3F23-476E-54F77AEA7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45920"/>
            <a:ext cx="10972800" cy="494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32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6D5BB-0073-B7A9-C675-714B00FCD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Materials for pilot participant’s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0A54B-0CFE-D15D-485C-B52656A33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Available at: </a:t>
            </a:r>
            <a:r>
              <a:rPr lang="en-GB" dirty="0">
                <a:hlinkClick r:id="rId2"/>
              </a:rPr>
              <a:t>https://github.com/INSPIRE-MIF/GeoDCAT-AP-pilot/tree/main/meetings/2026-07-07/T-1B-data-services-apis</a:t>
            </a:r>
            <a:r>
              <a:rPr lang="en-GB" dirty="0"/>
              <a:t>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Proposed mapping </a:t>
            </a:r>
            <a:r>
              <a:rPr lang="en-US" dirty="0"/>
              <a:t>- focused only on mandatory elements </a:t>
            </a:r>
            <a:r>
              <a:rPr lang="en-GB" dirty="0"/>
              <a:t>to be provided for reporting HVDs</a:t>
            </a:r>
            <a:r>
              <a:rPr lang="es-ES" dirty="0"/>
              <a:t>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'20260707_Service-API_description_proposal.xlsx</a:t>
            </a:r>
            <a:r>
              <a:rPr lang="en-US" dirty="0"/>
              <a:t>’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Example metadata encodings </a:t>
            </a:r>
            <a:br>
              <a:rPr lang="en-US" dirty="0"/>
            </a:br>
            <a:r>
              <a:rPr lang="en-US" dirty="0"/>
              <a:t>For datasets following the </a:t>
            </a:r>
            <a:r>
              <a:rPr lang="en-US" dirty="0">
                <a:hlinkClick r:id="rId4"/>
              </a:rPr>
              <a:t>Ds-Ser Linking Simplification Approach / good practice</a:t>
            </a:r>
            <a:r>
              <a:rPr lang="en-US" dirty="0"/>
              <a:t>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Original ISO19139 metadata from Danish Geoportal (INSPIRE Addresses): ‘19139metadata-50b921ea-935e-d605-2287-4ee364046795.xml’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ISO 19139 metadata mapped to GeoDCAT-AP and DCAT-HVD with all information available in source-metadata: ‘ISO19139_dcat-ap.rdf’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ISO 19139 metadata mapped to ONLY mandatory elements in GeoDCAT-AP and DCAT-HVD: ‘ISO1939_dcat-ap_mandatory.rdf’</a:t>
            </a:r>
          </a:p>
        </p:txBody>
      </p:sp>
    </p:spTree>
    <p:extLst>
      <p:ext uri="{BB962C8B-B14F-4D97-AF65-F5344CB8AC3E}">
        <p14:creationId xmlns:p14="http://schemas.microsoft.com/office/powerpoint/2010/main" val="4037737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6C84-289B-89E4-1144-0F8BEDAA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How to read / use the mapping spreadsheets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1A77F-B756-F15A-BF2D-2EC2B3AFE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263370"/>
            <a:ext cx="9601200" cy="432284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1E26C3A-9645-7A64-5446-8B592CBAF680}"/>
              </a:ext>
            </a:extLst>
          </p:cNvPr>
          <p:cNvSpPr/>
          <p:nvPr/>
        </p:nvSpPr>
        <p:spPr>
          <a:xfrm>
            <a:off x="1295400" y="2461098"/>
            <a:ext cx="2414085" cy="554476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06F7B9-BC43-1747-4C47-2775E2B0F223}"/>
              </a:ext>
            </a:extLst>
          </p:cNvPr>
          <p:cNvSpPr/>
          <p:nvPr/>
        </p:nvSpPr>
        <p:spPr>
          <a:xfrm>
            <a:off x="3741905" y="2461098"/>
            <a:ext cx="5240169" cy="554476"/>
          </a:xfrm>
          <a:prstGeom prst="rect">
            <a:avLst/>
          </a:prstGeom>
          <a:noFill/>
          <a:ln w="6032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7C9698-43DC-7F42-041C-4E06ACA09E10}"/>
              </a:ext>
            </a:extLst>
          </p:cNvPr>
          <p:cNvSpPr/>
          <p:nvPr/>
        </p:nvSpPr>
        <p:spPr>
          <a:xfrm>
            <a:off x="9014494" y="2461098"/>
            <a:ext cx="1898317" cy="554476"/>
          </a:xfrm>
          <a:prstGeom prst="rect">
            <a:avLst/>
          </a:prstGeom>
          <a:noFill/>
          <a:ln w="60325">
            <a:solidFill>
              <a:srgbClr val="33C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CDBEF-4BA1-DCBB-5FAF-F31577B06D37}"/>
              </a:ext>
            </a:extLst>
          </p:cNvPr>
          <p:cNvSpPr txBox="1"/>
          <p:nvPr/>
        </p:nvSpPr>
        <p:spPr>
          <a:xfrm>
            <a:off x="1295400" y="1360638"/>
            <a:ext cx="2430294" cy="833854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GB" sz="1600" b="1" noProof="0" dirty="0">
                <a:solidFill>
                  <a:srgbClr val="FF7C80"/>
                </a:solidFill>
              </a:rPr>
              <a:t>GeoDCAT-AP elements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894900-5BAA-20F1-BDFA-935C6D89D5BD}"/>
              </a:ext>
            </a:extLst>
          </p:cNvPr>
          <p:cNvSpPr txBox="1"/>
          <p:nvPr/>
        </p:nvSpPr>
        <p:spPr>
          <a:xfrm>
            <a:off x="3741904" y="1360638"/>
            <a:ext cx="5240169" cy="833854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GB" sz="1600" b="1" noProof="0" dirty="0">
                <a:solidFill>
                  <a:srgbClr val="FFFF00"/>
                </a:solidFill>
              </a:rPr>
              <a:t>ISO 19115 / 19119 Proposed mapping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26896A-F5AF-6AE8-59E6-017F9F28443A}"/>
              </a:ext>
            </a:extLst>
          </p:cNvPr>
          <p:cNvSpPr txBox="1"/>
          <p:nvPr/>
        </p:nvSpPr>
        <p:spPr>
          <a:xfrm>
            <a:off x="8998283" y="1360638"/>
            <a:ext cx="1898317" cy="830997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GB" sz="1600" b="1" noProof="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Column for comments / feedback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A5F70297-E8C5-9017-8829-A2FEE7EFF39C}"/>
              </a:ext>
            </a:extLst>
          </p:cNvPr>
          <p:cNvSpPr/>
          <p:nvPr/>
        </p:nvSpPr>
        <p:spPr>
          <a:xfrm>
            <a:off x="9637878" y="2851041"/>
            <a:ext cx="619125" cy="1726834"/>
          </a:xfrm>
          <a:prstGeom prst="downArrow">
            <a:avLst/>
          </a:prstGeom>
          <a:solidFill>
            <a:srgbClr val="33CC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B4F4D4-FA12-80B8-9CAA-40573EA3BB80}"/>
              </a:ext>
            </a:extLst>
          </p:cNvPr>
          <p:cNvSpPr txBox="1"/>
          <p:nvPr/>
        </p:nvSpPr>
        <p:spPr>
          <a:xfrm>
            <a:off x="9048747" y="4577875"/>
            <a:ext cx="1797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33CC33"/>
                </a:solidFill>
              </a:rPr>
              <a:t>YOUR INPUT IN THIS COLUMN</a:t>
            </a:r>
            <a:endParaRPr lang="en-GB" b="1" dirty="0">
              <a:solidFill>
                <a:srgbClr val="33CC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179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C69C-6F21-0F4B-0E63-201E8EB67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D36E6-19AB-289B-76FE-911449DA9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1178092" cy="46863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GB" sz="2400" b="1" noProof="0" dirty="0">
                <a:solidFill>
                  <a:srgbClr val="C00000"/>
                </a:solidFill>
              </a:rPr>
              <a:t>Provide feedback</a:t>
            </a:r>
            <a:r>
              <a:rPr lang="en-GB" sz="2400" b="1" noProof="0" dirty="0"/>
              <a:t> on the proposed mapping and metadata encoding examples</a:t>
            </a:r>
            <a:r>
              <a:rPr lang="en-GB" sz="2400" noProof="0" dirty="0"/>
              <a:t> </a:t>
            </a:r>
            <a:r>
              <a:rPr lang="en-GB" sz="2400" b="1" noProof="0" dirty="0">
                <a:solidFill>
                  <a:srgbClr val="C00000"/>
                </a:solidFill>
              </a:rPr>
              <a:t>by 15</a:t>
            </a:r>
            <a:r>
              <a:rPr lang="en-GB" sz="2400" b="1" baseline="30000" noProof="0" dirty="0">
                <a:solidFill>
                  <a:srgbClr val="C00000"/>
                </a:solidFill>
              </a:rPr>
              <a:t>th</a:t>
            </a:r>
            <a:r>
              <a:rPr lang="en-GB" sz="2400" b="1" noProof="0" dirty="0">
                <a:solidFill>
                  <a:srgbClr val="C00000"/>
                </a:solidFill>
              </a:rPr>
              <a:t> September 2026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GB" sz="2200" noProof="0" dirty="0"/>
              <a:t>Needed to guide the work </a:t>
            </a:r>
            <a:r>
              <a:rPr lang="en-GB" sz="2200" dirty="0"/>
              <a:t>done by T1-B so far</a:t>
            </a:r>
            <a:endParaRPr lang="en-GB" sz="2200" noProof="0" dirty="0"/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GB" sz="2200" dirty="0"/>
              <a:t>Kindly asking the</a:t>
            </a:r>
            <a:r>
              <a:rPr lang="en-GB" sz="2200" noProof="0" dirty="0"/>
              <a:t> Publications Office / EDP to analyse if the content of the draft encoding in the GeoDCAT-AP example is sufficient for HVD reporting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GB" sz="2200" dirty="0"/>
              <a:t>U</a:t>
            </a:r>
            <a:r>
              <a:rPr lang="en-GB" sz="2200" noProof="0" dirty="0"/>
              <a:t>sing this post: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2200" dirty="0">
                <a:hlinkClick r:id="rId2"/>
              </a:rPr>
              <a:t>https://github.com/INSPIRE-MIF/GeoDCAT-AP-pilot/issues/15#issue-4826314143</a:t>
            </a:r>
            <a:r>
              <a:rPr lang="en-GB" sz="2200" dirty="0"/>
              <a:t> </a:t>
            </a:r>
            <a:endParaRPr lang="en-GB" sz="2200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GB" sz="2400" b="1" noProof="0" dirty="0"/>
              <a:t>First proposal for discussion</a:t>
            </a:r>
            <a:r>
              <a:rPr lang="en-GB" sz="2400" noProof="0" dirty="0"/>
              <a:t> – Pending aspects (work still ongoing)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GB" sz="2200" noProof="0" dirty="0"/>
              <a:t>Prepare encoding (ISO XML &amp; GeoDCAT-AP) examples for service metadata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GB" sz="2200" noProof="0" dirty="0"/>
              <a:t>If needed, adding a selection of recommended dcat:elements to the examples, but preferably only a few – Provide feedback on which ones by 15 September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GB" sz="2200" noProof="0" dirty="0"/>
              <a:t>Refine changes proposed to the SEMIC XSLT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GB" sz="2200" noProof="0" dirty="0"/>
              <a:t>Refine the mapping (Excel file) if useful. 	Update</a:t>
            </a:r>
            <a:r>
              <a:rPr lang="en-GB" sz="2000" dirty="0"/>
              <a:t> to GeoDCAT-AP v3.1.0</a:t>
            </a:r>
            <a:r>
              <a:rPr lang="en-GB" sz="2200" noProof="0" dirty="0"/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GB" sz="2200" noProof="0" dirty="0"/>
              <a:t>Start drafting a good practice</a:t>
            </a:r>
          </a:p>
          <a:p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864545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0852D-2091-C698-40E3-3FE2F01F7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Questions and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507ED-3F4B-03C4-FA9A-0C7EF76DE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400" noProof="0" dirty="0"/>
              <a:t>Need to </a:t>
            </a:r>
            <a:r>
              <a:rPr lang="en-GB" sz="2400" b="1" noProof="0" dirty="0"/>
              <a:t>balance</a:t>
            </a:r>
            <a:r>
              <a:rPr lang="en-GB" sz="2400" noProof="0" dirty="0"/>
              <a:t> what is the </a:t>
            </a:r>
            <a:r>
              <a:rPr lang="en-GB" sz="2400" b="1" noProof="0" dirty="0"/>
              <a:t>most pragmatic approach </a:t>
            </a:r>
            <a:r>
              <a:rPr lang="en-GB" sz="2400" noProof="0" dirty="0"/>
              <a:t>for each metadata element</a:t>
            </a:r>
          </a:p>
          <a:p>
            <a:pPr lvl="1"/>
            <a:r>
              <a:rPr lang="en-GB" sz="2000" noProof="0" dirty="0"/>
              <a:t>Keep existing behaviour / pattern of the current SEMIC XSLT, modifying the way data providers encode and fill in metadata records to make the transformation work.</a:t>
            </a:r>
          </a:p>
          <a:p>
            <a:pPr lvl="1" indent="0">
              <a:buNone/>
            </a:pPr>
            <a:r>
              <a:rPr lang="en-GB" sz="2000" dirty="0"/>
              <a:t>vs.</a:t>
            </a:r>
          </a:p>
          <a:p>
            <a:pPr lvl="1"/>
            <a:r>
              <a:rPr lang="en-GB" sz="2000" noProof="0" dirty="0"/>
              <a:t>Apply the specific changes proposed to </a:t>
            </a:r>
            <a:r>
              <a:rPr lang="en-GB" sz="2000" dirty="0"/>
              <a:t>the SEMIC XSLT, i.e. adapt this tool to existing metadata encoding practices from data providers.</a:t>
            </a:r>
            <a:endParaRPr lang="en-GB" sz="2000" noProof="0" dirty="0"/>
          </a:p>
          <a:p>
            <a:r>
              <a:rPr lang="en-GB" sz="2400" noProof="0" dirty="0"/>
              <a:t>May the </a:t>
            </a:r>
            <a:r>
              <a:rPr lang="en-GB" sz="2400" b="1" noProof="0" dirty="0"/>
              <a:t>SEMIC XSLT </a:t>
            </a:r>
            <a:r>
              <a:rPr lang="en-GB" sz="2400" noProof="0" dirty="0"/>
              <a:t>be altered so that it could take into account</a:t>
            </a:r>
            <a:r>
              <a:rPr lang="en-GB" sz="2400" dirty="0"/>
              <a:t> (in the code) if </a:t>
            </a:r>
            <a:r>
              <a:rPr lang="en-GB" sz="2400" noProof="0" dirty="0"/>
              <a:t>the </a:t>
            </a:r>
            <a:r>
              <a:rPr lang="en-GB" sz="2400" u="sng" noProof="0" dirty="0"/>
              <a:t>starting point </a:t>
            </a:r>
            <a:r>
              <a:rPr lang="en-GB" sz="2400" noProof="0" dirty="0"/>
              <a:t>is either a </a:t>
            </a:r>
            <a:r>
              <a:rPr lang="en-GB" sz="2400" u="sng" noProof="0" dirty="0"/>
              <a:t>dataset</a:t>
            </a:r>
            <a:r>
              <a:rPr lang="en-GB" sz="2400" noProof="0" dirty="0"/>
              <a:t> </a:t>
            </a:r>
            <a:r>
              <a:rPr lang="en-GB" sz="2400" u="sng" noProof="0" dirty="0"/>
              <a:t>or</a:t>
            </a:r>
            <a:r>
              <a:rPr lang="en-GB" sz="2400" noProof="0" dirty="0"/>
              <a:t> a </a:t>
            </a:r>
            <a:r>
              <a:rPr lang="en-GB" sz="2400" u="sng" noProof="0" dirty="0"/>
              <a:t>service metadata</a:t>
            </a:r>
            <a:r>
              <a:rPr lang="en-GB" sz="2400" noProof="0" dirty="0"/>
              <a:t>, and apply partly different mappings? </a:t>
            </a:r>
          </a:p>
          <a:p>
            <a:r>
              <a:rPr lang="en-GB" sz="2400" noProof="0" dirty="0"/>
              <a:t>Proposed to replace ‘</a:t>
            </a:r>
            <a:r>
              <a:rPr lang="en-GB" sz="2400" b="1" noProof="0" dirty="0"/>
              <a:t>function</a:t>
            </a:r>
            <a:r>
              <a:rPr lang="en-GB" sz="2400" noProof="0" dirty="0"/>
              <a:t>’</a:t>
            </a:r>
            <a:r>
              <a:rPr lang="en-GB" sz="2400" b="1" noProof="0" dirty="0"/>
              <a:t> </a:t>
            </a:r>
            <a:r>
              <a:rPr lang="en-GB" sz="2400" noProof="0" dirty="0"/>
              <a:t>as the main mapping criterion for linking to Services / API, using it still as a </a:t>
            </a:r>
            <a:r>
              <a:rPr lang="en-GB" sz="2400" b="1" noProof="0" dirty="0"/>
              <a:t>fallback alternative </a:t>
            </a:r>
            <a:r>
              <a:rPr lang="en-GB" sz="2400" noProof="0" dirty="0"/>
              <a:t>when the dataset metadata does not contain ‘gmd:applicationProfile’ – Possible approach?</a:t>
            </a:r>
          </a:p>
          <a:p>
            <a:pPr marL="0" indent="0">
              <a:buNone/>
            </a:pPr>
            <a:endParaRPr lang="fi-FI" sz="2400" dirty="0"/>
          </a:p>
          <a:p>
            <a:endParaRPr lang="fi-FI" sz="2400" dirty="0"/>
          </a:p>
          <a:p>
            <a:endParaRPr lang="fi-FI" sz="2400" dirty="0"/>
          </a:p>
          <a:p>
            <a:endParaRPr lang="fi-FI" sz="2400" dirty="0"/>
          </a:p>
          <a:p>
            <a:endParaRPr lang="fi-FI" sz="2400" dirty="0"/>
          </a:p>
          <a:p>
            <a:endParaRPr lang="fi-FI" sz="2400" dirty="0"/>
          </a:p>
          <a:p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521965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C02A8-406A-B7CE-05D6-B6D86954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8ACC2-49E7-DB0E-0F91-51CD9F5EC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Questions and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E09CC-F88C-57E1-AF69-FF2526316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200" noProof="0" dirty="0"/>
              <a:t>‘</a:t>
            </a:r>
            <a:r>
              <a:rPr lang="en-GB" sz="2200" b="1" noProof="0" dirty="0" err="1"/>
              <a:t>foaf:page</a:t>
            </a:r>
            <a:r>
              <a:rPr lang="en-GB" sz="2200" noProof="0" dirty="0"/>
              <a:t>’ </a:t>
            </a:r>
          </a:p>
          <a:p>
            <a:pPr lvl="1"/>
            <a:r>
              <a:rPr lang="en-GB" sz="2000" dirty="0"/>
              <a:t>It </a:t>
            </a:r>
            <a:r>
              <a:rPr lang="en-GB" sz="2000" noProof="0" dirty="0"/>
              <a:t>is mandatory in the DCAT-AP HVD profile, but not in the other analysed ones. </a:t>
            </a:r>
          </a:p>
          <a:p>
            <a:pPr lvl="1" indent="0">
              <a:buNone/>
            </a:pPr>
            <a:r>
              <a:rPr lang="en-GB" sz="2000" noProof="0" dirty="0"/>
              <a:t>Is this intentional? What should be mapped there versus ‘</a:t>
            </a:r>
            <a:r>
              <a:rPr lang="en-GB" sz="2000" b="1" noProof="0" dirty="0"/>
              <a:t>dcat:landingPage</a:t>
            </a:r>
            <a:r>
              <a:rPr lang="en-GB" sz="2000" noProof="0" dirty="0"/>
              <a:t>’, ideally?</a:t>
            </a:r>
          </a:p>
          <a:p>
            <a:pPr lvl="1"/>
            <a:r>
              <a:rPr lang="en-GB" sz="2000" dirty="0"/>
              <a:t>‘</a:t>
            </a:r>
            <a:r>
              <a:rPr lang="en-GB" sz="2000" dirty="0" err="1"/>
              <a:t>foaf:page</a:t>
            </a:r>
            <a:r>
              <a:rPr lang="en-GB" sz="2000" dirty="0"/>
              <a:t>’ is </a:t>
            </a:r>
            <a:r>
              <a:rPr lang="en-US" sz="2000" dirty="0"/>
              <a:t>not properly identified in geospatial ISO 19115 metadata</a:t>
            </a:r>
          </a:p>
          <a:p>
            <a:pPr lvl="1"/>
            <a:r>
              <a:rPr lang="en-US" sz="2000" dirty="0"/>
              <a:t>It would make sense to ask the community to produce new ‘</a:t>
            </a:r>
            <a:r>
              <a:rPr lang="en-US" sz="2000" dirty="0" err="1"/>
              <a:t>foaf:page</a:t>
            </a:r>
            <a:r>
              <a:rPr lang="en-US" sz="2000" dirty="0"/>
              <a:t>’ pages for their data services and encode their URLs using a </a:t>
            </a:r>
            <a:r>
              <a:rPr lang="en-US" sz="2000" dirty="0" err="1"/>
              <a:t>weel</a:t>
            </a:r>
            <a:r>
              <a:rPr lang="en-US" sz="2000" dirty="0"/>
              <a:t>-defined encoding.</a:t>
            </a:r>
            <a:endParaRPr lang="en-GB" sz="2000" noProof="0" dirty="0"/>
          </a:p>
          <a:p>
            <a:r>
              <a:rPr lang="en-GB" sz="2200" b="1" noProof="0" dirty="0"/>
              <a:t>‘servesDataset</a:t>
            </a:r>
            <a:r>
              <a:rPr lang="en-GB" sz="2200" noProof="0" dirty="0"/>
              <a:t>’</a:t>
            </a:r>
            <a:r>
              <a:rPr lang="en-GB" sz="2200" b="1" noProof="0" dirty="0"/>
              <a:t> </a:t>
            </a:r>
            <a:r>
              <a:rPr lang="en-GB" sz="2200" noProof="0" dirty="0"/>
              <a:t>is pointing to an unresolvable URI (dataset identifier in dataset metadata) in the GeoDCAT-AP encoding example. </a:t>
            </a:r>
          </a:p>
          <a:p>
            <a:pPr lvl="1"/>
            <a:r>
              <a:rPr lang="en-GB" sz="2000" noProof="0" dirty="0"/>
              <a:t>In Excel it has been mapped to the original dataset metadata. Preferences?</a:t>
            </a:r>
          </a:p>
          <a:p>
            <a:r>
              <a:rPr lang="en-GB" sz="2200" b="1" noProof="0" dirty="0"/>
              <a:t>‘licence</a:t>
            </a:r>
            <a:r>
              <a:rPr lang="en-GB" sz="2200" noProof="0" dirty="0"/>
              <a:t>’ is not mandatory according to GeoDCAT-AP and DCAT-AP HVD data models (0..1) but mentioned in the HVD Reporting tool as a result and being speculated on in the DCAT-AP HVD guidelines. </a:t>
            </a:r>
          </a:p>
          <a:p>
            <a:r>
              <a:rPr lang="en-GB" sz="2200" b="1" dirty="0"/>
              <a:t>Other aspects</a:t>
            </a:r>
            <a:r>
              <a:rPr lang="en-GB" sz="2200" dirty="0"/>
              <a:t>: To be discussed on top of the Excel file of the proposed mapping.</a:t>
            </a:r>
            <a:endParaRPr lang="fi-FI" sz="2200" dirty="0"/>
          </a:p>
        </p:txBody>
      </p:sp>
    </p:spTree>
    <p:extLst>
      <p:ext uri="{BB962C8B-B14F-4D97-AF65-F5344CB8AC3E}">
        <p14:creationId xmlns:p14="http://schemas.microsoft.com/office/powerpoint/2010/main" val="3899054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2151c6-2fff-4145-8ebd-11fd0f912aca">
      <Terms xmlns="http://schemas.microsoft.com/office/infopath/2007/PartnerControls"/>
    </lcf76f155ced4ddcb4097134ff3c332f>
    <TaxCatchAll xmlns="8379906d-ab1d-4842-913c-594c9cf099a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467B95CFDAC64A9DD3184B904E2DDE" ma:contentTypeVersion="10" ma:contentTypeDescription="Create a new document." ma:contentTypeScope="" ma:versionID="ccba8c06d783cd3fcbf18ec2f6c161d5">
  <xsd:schema xmlns:xsd="http://www.w3.org/2001/XMLSchema" xmlns:xs="http://www.w3.org/2001/XMLSchema" xmlns:p="http://schemas.microsoft.com/office/2006/metadata/properties" xmlns:ns2="452151c6-2fff-4145-8ebd-11fd0f912aca" xmlns:ns3="8379906d-ab1d-4842-913c-594c9cf099a9" targetNamespace="http://schemas.microsoft.com/office/2006/metadata/properties" ma:root="true" ma:fieldsID="e244c91a9494609658b00fc4392e4928" ns2:_="" ns3:_="">
    <xsd:import namespace="452151c6-2fff-4145-8ebd-11fd0f912aca"/>
    <xsd:import namespace="8379906d-ab1d-4842-913c-594c9cf099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151c6-2fff-4145-8ebd-11fd0f912a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79906d-ab1d-4842-913c-594c9cf099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76c9a24-1860-47f5-b350-305cf840ba35}" ma:internalName="TaxCatchAll" ma:showField="CatchAllData" ma:web="8379906d-ab1d-4842-913c-594c9cf099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7CB23E-2191-4D0F-A7F4-41F6550B6D40}">
  <ds:schemaRefs>
    <ds:schemaRef ds:uri="http://purl.org/dc/dcmitype/"/>
    <ds:schemaRef ds:uri="452151c6-2fff-4145-8ebd-11fd0f912aca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purl.org/dc/terms/"/>
    <ds:schemaRef ds:uri="8379906d-ab1d-4842-913c-594c9cf099a9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22BDBD9-5E25-4D2C-84D1-62649634A9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2151c6-2fff-4145-8ebd-11fd0f912aca"/>
    <ds:schemaRef ds:uri="8379906d-ab1d-4842-913c-594c9cf099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94A77B-FE96-4556-B075-C1442C1157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1329</Words>
  <Application>Microsoft Office PowerPoint</Application>
  <PresentationFormat>Widescreen</PresentationFormat>
  <Paragraphs>171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Agreement on a good practice for describing Data Services / APIs</vt:lpstr>
      <vt:lpstr>Goals </vt:lpstr>
      <vt:lpstr>Working procedure in short</vt:lpstr>
      <vt:lpstr>Options for SEMIC XSLT  to map services/APIs</vt:lpstr>
      <vt:lpstr>Spatial Data Service Category code list</vt:lpstr>
      <vt:lpstr>Requirement of codes in INSPIRE metadata</vt:lpstr>
      <vt:lpstr>The Data-Service linkage approach for dataset metadata uses ProtocolValue and SpatialDataService</vt:lpstr>
      <vt:lpstr>Focus: Mandatory elements </vt:lpstr>
      <vt:lpstr>Example metadata encodings  For datasets following Ds-Ser Linking Simpl. Approach</vt:lpstr>
      <vt:lpstr>German CSW2DCAT Bridge</vt:lpstr>
      <vt:lpstr>Inspiration to the Excel:  Taken from the German mapping, reusing relevant parts</vt:lpstr>
      <vt:lpstr>'GP Dataset metadata mapping' spreadsheet: Own mapping proposal based on Ds-Ser Linking Simpl approach</vt:lpstr>
      <vt:lpstr>'GP Service metadata mapping' spreadsheet Own (draft) mapping proposal for service metadata</vt:lpstr>
      <vt:lpstr>Materials for pilot participant’s feedback</vt:lpstr>
      <vt:lpstr>How to read / use the mapping spreadsheets</vt:lpstr>
      <vt:lpstr>Next steps</vt:lpstr>
      <vt:lpstr>Questions and remarks</vt:lpstr>
      <vt:lpstr>Questions and 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Hallin-Pihlatie Lena</dc:creator>
  <cp:lastModifiedBy>ESCRIU Jordi (JRC-ISPRA)</cp:lastModifiedBy>
  <cp:revision>171</cp:revision>
  <dcterms:created xsi:type="dcterms:W3CDTF">2026-06-29T11:59:48Z</dcterms:created>
  <dcterms:modified xsi:type="dcterms:W3CDTF">2026-07-07T07:40:25Z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0x01010079467B95CFDAC64A9DD3184B904E2DDE</vt:lpwstr>
  </property>
  <property fmtid="{D5CDD505-2E9C-101B-9397-08002B2CF9AE}" pid="3" name="MediaServiceImageTags">
    <vt:lpwstr/>
  </property>
  <property fmtid="{D5CDD505-2E9C-101B-9397-08002B2CF9AE}" pid="4" name="MSIP_Label_6bd9ddd1-4d20-43f6-abfa-fc3c07406f94_Enabled">
    <vt:lpwstr>true</vt:lpwstr>
  </property>
  <property fmtid="{D5CDD505-2E9C-101B-9397-08002B2CF9AE}" pid="5" name="MSIP_Label_6bd9ddd1-4d20-43f6-abfa-fc3c07406f94_SetDate">
    <vt:lpwstr>2026-06-30T08:16:15Z</vt:lpwstr>
  </property>
  <property fmtid="{D5CDD505-2E9C-101B-9397-08002B2CF9AE}" pid="6" name="MSIP_Label_6bd9ddd1-4d20-43f6-abfa-fc3c07406f94_Method">
    <vt:lpwstr>Standard</vt:lpwstr>
  </property>
  <property fmtid="{D5CDD505-2E9C-101B-9397-08002B2CF9AE}" pid="7" name="MSIP_Label_6bd9ddd1-4d20-43f6-abfa-fc3c07406f94_Name">
    <vt:lpwstr>Commission Use</vt:lpwstr>
  </property>
  <property fmtid="{D5CDD505-2E9C-101B-9397-08002B2CF9AE}" pid="8" name="MSIP_Label_6bd9ddd1-4d20-43f6-abfa-fc3c07406f94_SiteId">
    <vt:lpwstr>b24c8b06-522c-46fe-9080-70926f8dddb1</vt:lpwstr>
  </property>
  <property fmtid="{D5CDD505-2E9C-101B-9397-08002B2CF9AE}" pid="9" name="MSIP_Label_6bd9ddd1-4d20-43f6-abfa-fc3c07406f94_ActionId">
    <vt:lpwstr>922aa9ca-8dde-4235-9b12-865f180df9f1</vt:lpwstr>
  </property>
  <property fmtid="{D5CDD505-2E9C-101B-9397-08002B2CF9AE}" pid="10" name="MSIP_Label_6bd9ddd1-4d20-43f6-abfa-fc3c07406f94_ContentBits">
    <vt:lpwstr>0</vt:lpwstr>
  </property>
  <property fmtid="{D5CDD505-2E9C-101B-9397-08002B2CF9AE}" pid="11" name="MSIP_Label_6bd9ddd1-4d20-43f6-abfa-fc3c07406f94_Tag">
    <vt:lpwstr>10, 3, 0, 2</vt:lpwstr>
  </property>
</Properties>
</file>