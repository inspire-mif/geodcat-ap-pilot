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84" r:id="rId3"/>
    <p:sldId id="289" r:id="rId4"/>
    <p:sldId id="288" r:id="rId5"/>
    <p:sldId id="298" r:id="rId6"/>
  </p:sldIdLst>
  <p:sldSz cx="12192000" cy="6858000"/>
  <p:notesSz cx="6794500" cy="9906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orient="horz" pos="3777">
          <p15:clr>
            <a:srgbClr val="A4A3A4"/>
          </p15:clr>
        </p15:guide>
        <p15:guide id="4" pos="3839">
          <p15:clr>
            <a:srgbClr val="A4A3A4"/>
          </p15:clr>
        </p15:guide>
        <p15:guide id="5" orient="horz" pos="2162">
          <p15:clr>
            <a:srgbClr val="A4A3A4"/>
          </p15:clr>
        </p15:guide>
        <p15:guide id="6" pos="3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ZfmPaAZDOGffchqPWS8+vvHl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39" autoAdjust="0"/>
    <p:restoredTop sz="76052" autoAdjust="0"/>
  </p:normalViewPr>
  <p:slideViewPr>
    <p:cSldViewPr snapToGrid="0">
      <p:cViewPr>
        <p:scale>
          <a:sx n="90" d="100"/>
          <a:sy n="90" d="100"/>
        </p:scale>
        <p:origin x="53" y="-629"/>
      </p:cViewPr>
      <p:guideLst>
        <p:guide orient="horz" pos="1026"/>
        <p:guide pos="529"/>
        <p:guide orient="horz" pos="3777"/>
        <p:guide pos="3839"/>
        <p:guide orient="horz" pos="2162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28" Type="http://schemas.openxmlformats.org/officeDocument/2006/relationships/viewProps" Target="viewProps.xml"/><Relationship Id="rId4" Type="http://schemas.openxmlformats.org/officeDocument/2006/relationships/slide" Target="slides/slide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645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5643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spcBef>
                <a:spcPts val="300"/>
              </a:spcBef>
              <a:spcAft>
                <a:spcPts val="300"/>
              </a:spcAft>
              <a:buNone/>
            </a:pPr>
            <a:endParaRPr lang="en-GB" sz="1200" noProof="0" dirty="0">
              <a:solidFill>
                <a:schemeClr val="tx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7546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1208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s-E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9163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/>
          <p:nvPr/>
        </p:nvSpPr>
        <p:spPr>
          <a:xfrm>
            <a:off x="0" y="1073101"/>
            <a:ext cx="12192000" cy="57849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838200" y="1978925"/>
            <a:ext cx="0" cy="487907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8"/>
          <p:cNvSpPr txBox="1">
            <a:spLocks noGrp="1"/>
          </p:cNvSpPr>
          <p:nvPr>
            <p:ph type="subTitle" idx="1"/>
          </p:nvPr>
        </p:nvSpPr>
        <p:spPr>
          <a:xfrm>
            <a:off x="1071350" y="4418049"/>
            <a:ext cx="10290265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2"/>
          </p:nvPr>
        </p:nvSpPr>
        <p:spPr>
          <a:xfrm>
            <a:off x="6094413" y="5391726"/>
            <a:ext cx="5267202" cy="87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200"/>
              <a:buFont typeface="Arial"/>
              <a:buNone/>
              <a:defRPr sz="22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8" descr="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7221" y="6390001"/>
            <a:ext cx="697559" cy="46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 descr="EC-JRC-logo_vertical_EN_pos_transparent-background.png"/>
          <p:cNvPicPr preferRelativeResize="0"/>
          <p:nvPr/>
        </p:nvPicPr>
        <p:blipFill rotWithShape="1">
          <a:blip r:embed="rId3">
            <a:alphaModFix/>
          </a:blip>
          <a:srcRect l="3733" t="5039" r="4158" b="4382"/>
          <a:stretch/>
        </p:blipFill>
        <p:spPr>
          <a:xfrm>
            <a:off x="5373779" y="264907"/>
            <a:ext cx="1674947" cy="11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2" name="Google Shape;22;p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1)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 txBox="1">
            <a:spLocks noGrp="1"/>
          </p:cNvSpPr>
          <p:nvPr>
            <p:ph type="ctrTitle"/>
          </p:nvPr>
        </p:nvSpPr>
        <p:spPr>
          <a:xfrm>
            <a:off x="1070189" y="1122363"/>
            <a:ext cx="102816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29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FFD1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16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3" name="Google Shape;33;p11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FFD12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3" name="Google Shape;43;p1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>
  <p:cSld name="Content and 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6232525" y="1825625"/>
            <a:ext cx="500209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1" name="Google Shape;51;p15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6" name="Google Shape;56;p16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3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3" name="Google Shape;63;p17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970722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970722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3"/>
          </p:nvPr>
        </p:nvSpPr>
        <p:spPr>
          <a:xfrm>
            <a:off x="6232768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4"/>
          </p:nvPr>
        </p:nvSpPr>
        <p:spPr>
          <a:xfrm>
            <a:off x="6232768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0" name="Google Shape;70;p18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hoto">
  <p:cSld name="Title_phot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-59635" y="-59635"/>
            <a:ext cx="6155635" cy="6983896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8" name="Google Shape;78;p20"/>
          <p:cNvSpPr/>
          <p:nvPr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615" y="743802"/>
            <a:ext cx="544923" cy="5449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214048" y="1992572"/>
            <a:ext cx="8010798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360000" rIns="360000" bIns="360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nd Content (half page)">
  <p:cSld name="Picture and Content (half page)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6662614" y="1825625"/>
            <a:ext cx="4583519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6662614" y="586765"/>
            <a:ext cx="4581771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-46383" y="-46383"/>
            <a:ext cx="6142383" cy="6964017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rizontal Picture and Content">
  <p:cSld name="Horizontal Pictur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>
            <a:spLocks noGrp="1"/>
          </p:cNvSpPr>
          <p:nvPr>
            <p:ph type="pic" idx="2"/>
          </p:nvPr>
        </p:nvSpPr>
        <p:spPr>
          <a:xfrm>
            <a:off x="-63280" y="-62165"/>
            <a:ext cx="12318560" cy="3468939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957385" y="2818576"/>
            <a:ext cx="10287000" cy="6283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957385" y="3630613"/>
            <a:ext cx="10287000" cy="236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">
  <p:cSld name="3 image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>
            <a:spLocks noGrp="1"/>
          </p:cNvSpPr>
          <p:nvPr>
            <p:ph type="pic" idx="2"/>
          </p:nvPr>
        </p:nvSpPr>
        <p:spPr>
          <a:xfrm>
            <a:off x="840157" y="2284667"/>
            <a:ext cx="3347997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2" name="Google Shape;92;p23"/>
          <p:cNvSpPr>
            <a:spLocks noGrp="1"/>
          </p:cNvSpPr>
          <p:nvPr>
            <p:ph type="pic" idx="3"/>
          </p:nvPr>
        </p:nvSpPr>
        <p:spPr>
          <a:xfrm>
            <a:off x="7940525" y="2284668"/>
            <a:ext cx="3419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3" name="Google Shape;93;p23"/>
          <p:cNvSpPr>
            <a:spLocks noGrp="1"/>
          </p:cNvSpPr>
          <p:nvPr>
            <p:ph type="pic" idx="4"/>
          </p:nvPr>
        </p:nvSpPr>
        <p:spPr>
          <a:xfrm>
            <a:off x="4390340" y="2284667"/>
            <a:ext cx="3347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1179376" y="403868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5"/>
          </p:nvPr>
        </p:nvSpPr>
        <p:spPr>
          <a:xfrm>
            <a:off x="4729560" y="404194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6"/>
          </p:nvPr>
        </p:nvSpPr>
        <p:spPr>
          <a:xfrm>
            <a:off x="8315745" y="4037437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98" name="Google Shape;98;p2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s">
  <p:cSld name="4 image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>
            <a:spLocks noGrp="1"/>
          </p:cNvSpPr>
          <p:nvPr>
            <p:ph type="pic" idx="2"/>
          </p:nvPr>
        </p:nvSpPr>
        <p:spPr>
          <a:xfrm>
            <a:off x="3489177" y="2159957"/>
            <a:ext cx="25189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Google Shape;101;p24"/>
          <p:cNvSpPr>
            <a:spLocks noGrp="1"/>
          </p:cNvSpPr>
          <p:nvPr>
            <p:ph type="pic" idx="3"/>
          </p:nvPr>
        </p:nvSpPr>
        <p:spPr>
          <a:xfrm>
            <a:off x="3489175" y="4076343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Google Shape;102;p24"/>
          <p:cNvSpPr>
            <a:spLocks noGrp="1"/>
          </p:cNvSpPr>
          <p:nvPr>
            <p:ph type="pic" idx="4"/>
          </p:nvPr>
        </p:nvSpPr>
        <p:spPr>
          <a:xfrm>
            <a:off x="6197546" y="2159956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8887605" y="4076342"/>
            <a:ext cx="2483779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5"/>
          </p:nvPr>
        </p:nvSpPr>
        <p:spPr>
          <a:xfrm>
            <a:off x="957385" y="2159957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>
            <a:spLocks noGrp="1"/>
          </p:cNvSpPr>
          <p:nvPr>
            <p:ph type="pic" idx="6"/>
          </p:nvPr>
        </p:nvSpPr>
        <p:spPr>
          <a:xfrm>
            <a:off x="6197548" y="4076342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7"/>
          </p:nvPr>
        </p:nvSpPr>
        <p:spPr>
          <a:xfrm>
            <a:off x="957385" y="4076343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8"/>
          </p:nvPr>
        </p:nvSpPr>
        <p:spPr>
          <a:xfrm>
            <a:off x="8919308" y="2159956"/>
            <a:ext cx="2452077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9" name="Google Shape;109;p24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2)">
  <p:cSld name="Last slide (option 2)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0" y="0"/>
            <a:ext cx="12192000" cy="34321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838200" y="0"/>
            <a:ext cx="0" cy="2362711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020968" cy="124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18">
            <a:alphaModFix/>
          </a:blip>
          <a:srcRect l="6902" t="10944" r="6668" b="9112"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emiceu.github.io/GeoDCAT-AP/releases/3.1.0/#inspire-and-iso-19115-mapping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paloma.abad@cnig.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jordi.escriu@ec.europa.eu" TargetMode="External"/><Relationship Id="rId4" Type="http://schemas.openxmlformats.org/officeDocument/2006/relationships/hyperlink" Target="mailto:berta.carrion@cnig.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>
            <a:spLocks noGrp="1"/>
          </p:cNvSpPr>
          <p:nvPr>
            <p:ph type="ctrTitle"/>
          </p:nvPr>
        </p:nvSpPr>
        <p:spPr>
          <a:xfrm>
            <a:off x="950867" y="161538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5400" b="1" dirty="0"/>
              <a:t>INSPIRE </a:t>
            </a:r>
            <a:r>
              <a:rPr lang="en-GB" sz="5400" b="1" dirty="0" err="1"/>
              <a:t>GeoDCAT</a:t>
            </a:r>
            <a:r>
              <a:rPr lang="en-GB" sz="5400" b="1" dirty="0"/>
              <a:t>-AP Pilot</a:t>
            </a:r>
          </a:p>
        </p:txBody>
      </p:sp>
      <p:sp>
        <p:nvSpPr>
          <p:cNvPr id="121" name="Google Shape;121;p1"/>
          <p:cNvSpPr txBox="1">
            <a:spLocks noGrp="1"/>
          </p:cNvSpPr>
          <p:nvPr>
            <p:ph type="subTitle" idx="1"/>
          </p:nvPr>
        </p:nvSpPr>
        <p:spPr>
          <a:xfrm>
            <a:off x="1117070" y="2928736"/>
            <a:ext cx="9453393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300"/>
            </a:pPr>
            <a:r>
              <a:rPr lang="en-GB" sz="2400" dirty="0"/>
              <a:t>Analysis of potential metadata information losses </a:t>
            </a:r>
          </a:p>
          <a:p>
            <a:pPr>
              <a:buSzPts val="2300"/>
            </a:pPr>
            <a:r>
              <a:rPr lang="en-GB" sz="2400" dirty="0"/>
              <a:t>in the ISO-to-GeoDCAT-AP transformation </a:t>
            </a:r>
            <a:endParaRPr sz="2400" dirty="0"/>
          </a:p>
        </p:txBody>
      </p:sp>
      <p:sp>
        <p:nvSpPr>
          <p:cNvPr id="122" name="Google Shape;122;p1"/>
          <p:cNvSpPr txBox="1">
            <a:spLocks noGrp="1"/>
          </p:cNvSpPr>
          <p:nvPr>
            <p:ph type="body" idx="2"/>
          </p:nvPr>
        </p:nvSpPr>
        <p:spPr>
          <a:xfrm>
            <a:off x="3348991" y="5384800"/>
            <a:ext cx="8012624" cy="136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Paloma Abad (Spain) /Jordi Escriu (</a:t>
            </a:r>
            <a:r>
              <a:rPr lang="en-GB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JRC</a:t>
            </a:r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0" lvl="0" indent="0"/>
            <a:r>
              <a:rPr lang="en-GB" sz="2400" b="1" dirty="0"/>
              <a:t>Pilot Phase 2 - Working Team T-</a:t>
            </a:r>
            <a:r>
              <a:rPr lang="en-GB" sz="2400" b="1" dirty="0" err="1"/>
              <a:t>1B</a:t>
            </a:r>
            <a:r>
              <a:rPr lang="en-GB" sz="2400" b="1" dirty="0"/>
              <a:t> Kick-off meeting</a:t>
            </a:r>
          </a:p>
          <a:p>
            <a:pPr marL="0" lvl="0" indent="0"/>
            <a:r>
              <a:rPr lang="en-GB" dirty="0"/>
              <a:t>July 07 2026</a:t>
            </a:r>
          </a:p>
          <a:p>
            <a:pPr marL="0" lvl="0" indent="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64053" y="934615"/>
            <a:ext cx="10942906" cy="3561185"/>
          </a:xfrm>
          <a:noFill/>
        </p:spPr>
        <p:txBody>
          <a:bodyPr/>
          <a:lstStyle/>
          <a:p>
            <a:pPr marL="533400" indent="-4572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GB" sz="2000" b="1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ISO 19115:2003 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has more than </a:t>
            </a:r>
            <a:r>
              <a:rPr lang="en-GB" sz="2000" b="1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400 metadata elements 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and sub-elements.</a:t>
            </a:r>
          </a:p>
          <a:p>
            <a:pPr marL="990600" lvl="1" indent="-4572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Core Metadata for Geographic Datasets has </a:t>
            </a:r>
            <a:r>
              <a:rPr lang="en-GB" sz="1600" b="1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22 metadata elements</a:t>
            </a:r>
            <a:r>
              <a:rPr lang="en-GB" sz="16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533400" indent="-4572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GB" sz="2000" b="1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Regulation (EC) No 1205/2008 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selects only a subset of the metadata elements defined in ISO 19115 in order to facilitate the discovery and exchange of geographic resources across Europe. The INSPIRE profile consists of approximately </a:t>
            </a:r>
            <a:r>
              <a:rPr lang="en-GB" sz="2000" b="1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30 mandatory and conditional metadata elements.</a:t>
            </a:r>
          </a:p>
          <a:p>
            <a:pPr marL="533400" indent="-4572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GB" sz="2000" b="1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GeoDCAT</a:t>
            </a:r>
            <a:r>
              <a:rPr lang="en-GB" sz="2000" b="1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-AP is not based on a fixed number of metadata elements. 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Instead, it defines an RDF application profile that combines metadata elements from DCAT-AP, the ISO 19115 core profile, and the INSPIRE metadata framework</a:t>
            </a:r>
          </a:p>
          <a:p>
            <a:pPr marL="76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</a:rPr>
              <a:t>A preliminary study already exists. the core metadata elements are already mapped on </a:t>
            </a:r>
            <a:r>
              <a:rPr lang="en-GB" sz="2000" dirty="0" err="1">
                <a:solidFill>
                  <a:schemeClr val="tx1">
                    <a:lumMod val="50000"/>
                  </a:schemeClr>
                </a:solidFill>
              </a:rPr>
              <a:t>GeoDCAT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</a:rPr>
              <a:t>-AP 3.1.0. See 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  <a:hlinkClick r:id="rId3"/>
              </a:rPr>
              <a:t>https://semiceu.github.io/GeoDCAT-AP/releases/3.1.0/#inspire-and-iso-19115-mappings</a:t>
            </a:r>
            <a:endParaRPr lang="en-GB" sz="1800" dirty="0">
              <a:solidFill>
                <a:schemeClr val="tx1">
                  <a:lumMod val="50000"/>
                </a:schemeClr>
              </a:solidFill>
            </a:endParaRPr>
          </a:p>
          <a:p>
            <a:pPr marL="76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Analyse which are the commonly used ISO 19115 metadata elements which are absent from </a:t>
            </a:r>
            <a:r>
              <a:rPr lang="en-GB" sz="20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GeoDCAT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- AP 3.1.0. </a:t>
            </a:r>
          </a:p>
          <a:p>
            <a:pPr marL="76200" indent="0">
              <a:spcBef>
                <a:spcPts val="600"/>
              </a:spcBef>
              <a:spcAft>
                <a:spcPts val="600"/>
              </a:spcAft>
              <a:buNone/>
            </a:pPr>
            <a:endParaRPr lang="en-GB" sz="2000" dirty="0">
              <a:solidFill>
                <a:schemeClr val="tx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64053" y="38418"/>
            <a:ext cx="10263893" cy="811530"/>
          </a:xfrm>
        </p:spPr>
        <p:txBody>
          <a:bodyPr/>
          <a:lstStyle/>
          <a:p>
            <a:r>
              <a:rPr lang="en-GB" sz="2800" b="1" dirty="0"/>
              <a:t>Analysis of potential metadata information losses in the ISO-to-GeoDCAT-AP transformation </a:t>
            </a:r>
          </a:p>
        </p:txBody>
      </p:sp>
    </p:spTree>
    <p:extLst>
      <p:ext uri="{BB962C8B-B14F-4D97-AF65-F5344CB8AC3E}">
        <p14:creationId xmlns:p14="http://schemas.microsoft.com/office/powerpoint/2010/main" val="405191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6D935-0D07-F2D2-898A-107B08054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F36D59-F636-F470-B9D5-E71FC53B39DD}"/>
              </a:ext>
            </a:extLst>
          </p:cNvPr>
          <p:cNvSpPr/>
          <p:nvPr/>
        </p:nvSpPr>
        <p:spPr>
          <a:xfrm>
            <a:off x="9662160" y="6146800"/>
            <a:ext cx="2244799" cy="568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101A55-71CC-9CF0-9608-1070FA716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53" y="849948"/>
            <a:ext cx="10942906" cy="1004253"/>
          </a:xfrm>
          <a:noFill/>
        </p:spPr>
        <p:txBody>
          <a:bodyPr/>
          <a:lstStyle/>
          <a:p>
            <a:pPr marL="762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Reviewing the 19115 standard</a:t>
            </a:r>
          </a:p>
          <a:p>
            <a:pPr marL="762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A</a:t>
            </a:r>
            <a:r>
              <a:rPr lang="en-GB" sz="2000" noProof="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nalyse</a:t>
            </a:r>
            <a:r>
              <a:rPr lang="en-GB" sz="2000" noProof="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all the packages and metadata elements defined in ISO 19115:2003, and to assess whether they have an explicit correspondence in </a:t>
            </a:r>
            <a:r>
              <a:rPr lang="en-GB" sz="2000" noProof="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GeoDCAT</a:t>
            </a:r>
            <a:r>
              <a:rPr lang="en-GB" sz="2000" noProof="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-AP.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861323-60CB-A0D6-5174-9B3B9FA2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53" y="38418"/>
            <a:ext cx="10263893" cy="811530"/>
          </a:xfrm>
        </p:spPr>
        <p:txBody>
          <a:bodyPr/>
          <a:lstStyle/>
          <a:p>
            <a:r>
              <a:rPr lang="en-GB" sz="2800" b="1" dirty="0"/>
              <a:t>Analysis of potential metadata information losses in the ISO-to-GeoDCAT-AP transformation 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6A35E1D-D6AE-CBF7-4F56-7D4B13E9D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727905"/>
              </p:ext>
            </p:extLst>
          </p:nvPr>
        </p:nvGraphicFramePr>
        <p:xfrm>
          <a:off x="601662" y="2002971"/>
          <a:ext cx="6510338" cy="4081334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586142">
                  <a:extLst>
                    <a:ext uri="{9D8B030D-6E8A-4147-A177-3AD203B41FA5}">
                      <a16:colId xmlns:a16="http://schemas.microsoft.com/office/drawing/2014/main" val="329916657"/>
                    </a:ext>
                  </a:extLst>
                </a:gridCol>
                <a:gridCol w="3924196">
                  <a:extLst>
                    <a:ext uri="{9D8B030D-6E8A-4147-A177-3AD203B41FA5}">
                      <a16:colId xmlns:a16="http://schemas.microsoft.com/office/drawing/2014/main" val="1204691975"/>
                    </a:ext>
                  </a:extLst>
                </a:gridCol>
              </a:tblGrid>
              <a:tr h="27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 err="1">
                          <a:effectLst/>
                        </a:rPr>
                        <a:t>MD_Metadata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Metadata entity set 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4379048"/>
                  </a:ext>
                </a:extLst>
              </a:tr>
              <a:tr h="275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 err="1">
                          <a:effectLst/>
                        </a:rPr>
                        <a:t>MD_Identification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Identification 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6230864"/>
                  </a:ext>
                </a:extLst>
              </a:tr>
              <a:tr h="318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MD_Constraints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Constraint 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7195658"/>
                  </a:ext>
                </a:extLst>
              </a:tr>
              <a:tr h="275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 err="1">
                          <a:effectLst/>
                        </a:rPr>
                        <a:t>DQ_DataQuality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Data quality 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2897031"/>
                  </a:ext>
                </a:extLst>
              </a:tr>
              <a:tr h="275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MD_MaintenanceInformation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Maintenance 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4655815"/>
                  </a:ext>
                </a:extLst>
              </a:tr>
              <a:tr h="275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MD_SpatialRepresentation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Spatial representation 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3857720"/>
                  </a:ext>
                </a:extLst>
              </a:tr>
              <a:tr h="275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 err="1">
                          <a:effectLst/>
                        </a:rPr>
                        <a:t>MD_ReferenceSystem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Reference system information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1148266"/>
                  </a:ext>
                </a:extLst>
              </a:tr>
              <a:tr h="275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MD_ContentInformation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Content 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6577779"/>
                  </a:ext>
                </a:extLst>
              </a:tr>
              <a:tr h="275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MD_PortrayalCatalogueReference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Portrayal catalogue information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4891275"/>
                  </a:ext>
                </a:extLst>
              </a:tr>
              <a:tr h="275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MD_Distribution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Distribution 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7040645"/>
                  </a:ext>
                </a:extLst>
              </a:tr>
              <a:tr h="275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MD_MetadataExtensionInformation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Metadata extension 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1125329"/>
                  </a:ext>
                </a:extLst>
              </a:tr>
              <a:tr h="275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MD_ApplicationSchemaInformation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Application schema 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4030977"/>
                  </a:ext>
                </a:extLst>
              </a:tr>
              <a:tr h="297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EX_Extent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Extent information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7001871"/>
                  </a:ext>
                </a:extLst>
              </a:tr>
              <a:tr h="440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 err="1">
                          <a:effectLst/>
                        </a:rPr>
                        <a:t>CI_Citation</a:t>
                      </a:r>
                      <a:endParaRPr lang="en-GB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GB" sz="1200" dirty="0" err="1">
                          <a:effectLst/>
                        </a:rPr>
                        <a:t>CI_ResponsibleParty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Citation and responsible party information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1684950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4431FE4-E2DA-89DF-A0DE-237D4A169C62}"/>
              </a:ext>
            </a:extLst>
          </p:cNvPr>
          <p:cNvSpPr txBox="1"/>
          <p:nvPr/>
        </p:nvSpPr>
        <p:spPr>
          <a:xfrm>
            <a:off x="5158423" y="6452306"/>
            <a:ext cx="1637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etadata entities</a:t>
            </a:r>
            <a:endParaRPr lang="en-GB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93D733-E3F4-293F-01DD-0BA87082EE0F}"/>
              </a:ext>
            </a:extLst>
          </p:cNvPr>
          <p:cNvSpPr txBox="1"/>
          <p:nvPr/>
        </p:nvSpPr>
        <p:spPr>
          <a:xfrm>
            <a:off x="7854636" y="3135527"/>
            <a:ext cx="361504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/>
              <a:t>This International Standard defines an extensive set of metadata elements; typically only a subset of the full number of elements is used.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Metadata elements are organized into different packages. Some of these packages are defined in other ISO standards belonging to the ISO 19100 family.</a:t>
            </a: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802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680EE-4284-CF22-09F7-ED32C8E9D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6EDC5F-CFF6-9D11-27CD-E6B1806BE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925" y="765174"/>
            <a:ext cx="10942906" cy="5762625"/>
          </a:xfrm>
          <a:noFill/>
        </p:spPr>
        <p:txBody>
          <a:bodyPr/>
          <a:lstStyle/>
          <a:p>
            <a:pPr marL="76200" indent="0">
              <a:buNone/>
            </a:pPr>
            <a:r>
              <a:rPr lang="en-GB" sz="1800" dirty="0"/>
              <a:t>This is likely the most significant source of information loss. </a:t>
            </a:r>
            <a:r>
              <a:rPr lang="en-GB" sz="1800" dirty="0" err="1"/>
              <a:t>GeoDCAT</a:t>
            </a:r>
            <a:r>
              <a:rPr lang="en-GB" sz="1800" dirty="0"/>
              <a:t>-AP supports the representation of general information concerning data quality, conformity, and lineage; however, it does not comprehensively model the detailed quality measures and evaluation results defined in ISO 19115.</a:t>
            </a:r>
          </a:p>
          <a:p>
            <a:pPr marL="76200" indent="0">
              <a:buNone/>
            </a:pPr>
            <a:endParaRPr lang="en-GB" sz="1800" b="1" dirty="0"/>
          </a:p>
          <a:p>
            <a:pPr marL="76200" indent="0">
              <a:buNone/>
            </a:pPr>
            <a:r>
              <a:rPr lang="en-GB" sz="1600" b="1" dirty="0" err="1"/>
              <a:t>GeoDCAT</a:t>
            </a:r>
            <a:r>
              <a:rPr lang="en-GB" sz="1600" b="1" dirty="0"/>
              <a:t>-AP </a:t>
            </a:r>
            <a:r>
              <a:rPr lang="en-GB" sz="1600" dirty="0"/>
              <a:t>allows the expression of general information on data quality, conformity, and lineage, but it does not provide an exhaustive representation of the quality metrics defined in ISO 19115.</a:t>
            </a:r>
          </a:p>
          <a:p>
            <a:pPr marL="76200" indent="0">
              <a:buNone/>
            </a:pPr>
            <a:endParaRPr lang="en-GB" sz="1400" b="1" dirty="0"/>
          </a:p>
          <a:p>
            <a:pPr marL="76200" indent="0">
              <a:buNone/>
            </a:pPr>
            <a:r>
              <a:rPr lang="en-GB" sz="1400" b="1" dirty="0"/>
              <a:t>Data Quality (</a:t>
            </a:r>
            <a:r>
              <a:rPr lang="en-GB" sz="1400" b="1" dirty="0" err="1"/>
              <a:t>DQ_DataQuality</a:t>
            </a:r>
            <a:r>
              <a:rPr lang="en-GB" sz="1400" b="1" dirty="0"/>
              <a:t>)</a:t>
            </a:r>
          </a:p>
          <a:p>
            <a:pPr marL="76200" indent="0" algn="just">
              <a:buNone/>
            </a:pPr>
            <a:r>
              <a:rPr lang="en-GB" sz="1400" dirty="0"/>
              <a:t>The </a:t>
            </a:r>
            <a:r>
              <a:rPr lang="en-GB" sz="1400" dirty="0" err="1"/>
              <a:t>DQ_DataQuality</a:t>
            </a:r>
            <a:r>
              <a:rPr lang="en-GB" sz="1400" dirty="0"/>
              <a:t> package of the ISO 19115:2003 standard provides the framework for describing the quality of a geographic dataset. Its purpose is to enable users to assess</a:t>
            </a:r>
            <a:r>
              <a:rPr lang="en-GB" sz="1400" b="1" dirty="0"/>
              <a:t> Data Quality </a:t>
            </a:r>
            <a:r>
              <a:rPr lang="en-GB" sz="1400" dirty="0"/>
              <a:t>s whether the data are suitable for a particular use ("fitness for use").This package is based on the complementary ISO 19157.</a:t>
            </a:r>
          </a:p>
          <a:p>
            <a:pPr marL="76200" indent="0" algn="just">
              <a:buNone/>
            </a:pPr>
            <a:endParaRPr lang="en-GB" sz="1400" dirty="0"/>
          </a:p>
          <a:p>
            <a:pPr marL="76200" indent="0" algn="just">
              <a:buNone/>
            </a:pPr>
            <a:r>
              <a:rPr lang="en-GB" sz="1400" dirty="0"/>
              <a:t>The </a:t>
            </a:r>
            <a:r>
              <a:rPr lang="en-GB" sz="1400" dirty="0" err="1"/>
              <a:t>DQ_DataQuality</a:t>
            </a:r>
            <a:r>
              <a:rPr lang="en-GB" sz="1400" dirty="0"/>
              <a:t> package contains approximately </a:t>
            </a:r>
            <a:r>
              <a:rPr lang="en-GB" sz="1400" b="1" dirty="0"/>
              <a:t>100 metadata elements </a:t>
            </a:r>
            <a:r>
              <a:rPr lang="en-GB" sz="1400" dirty="0"/>
              <a:t>distributed across about 29 specialized classes/entities. </a:t>
            </a:r>
          </a:p>
          <a:p>
            <a:pPr marL="76200" indent="0" algn="just">
              <a:buNone/>
            </a:pPr>
            <a:r>
              <a:rPr lang="en-GB" sz="1400" dirty="0" err="1"/>
              <a:t>DQ_DataQuality</a:t>
            </a:r>
            <a:r>
              <a:rPr lang="en-GB" sz="1400" dirty="0"/>
              <a:t> is an aggregate:</a:t>
            </a:r>
          </a:p>
          <a:p>
            <a:pPr algn="just"/>
            <a:r>
              <a:rPr lang="en-GB" sz="1400" dirty="0" err="1"/>
              <a:t>LI_Lineage</a:t>
            </a:r>
            <a:endParaRPr lang="en-GB" sz="1400" dirty="0"/>
          </a:p>
          <a:p>
            <a:pPr algn="just"/>
            <a:r>
              <a:rPr lang="en-GB" sz="1400" dirty="0" err="1"/>
              <a:t>DQ_Element</a:t>
            </a:r>
            <a:r>
              <a:rPr lang="en-GB" sz="1400" dirty="0"/>
              <a:t>.</a:t>
            </a:r>
          </a:p>
          <a:p>
            <a:pPr lvl="1" algn="just">
              <a:spcBef>
                <a:spcPts val="600"/>
              </a:spcBef>
            </a:pPr>
            <a:r>
              <a:rPr lang="en-GB" sz="1200" dirty="0" err="1"/>
              <a:t>DQ_Completeness</a:t>
            </a:r>
            <a:r>
              <a:rPr lang="en-GB" sz="1200" dirty="0"/>
              <a:t>: Commission, </a:t>
            </a:r>
            <a:r>
              <a:rPr lang="en-GB" sz="1200" dirty="0" err="1"/>
              <a:t>Ommission</a:t>
            </a:r>
            <a:endParaRPr lang="en-GB" sz="1200" dirty="0"/>
          </a:p>
          <a:p>
            <a:pPr lvl="1" algn="just">
              <a:spcBef>
                <a:spcPts val="600"/>
              </a:spcBef>
            </a:pPr>
            <a:r>
              <a:rPr lang="en-GB" sz="1200" dirty="0" err="1"/>
              <a:t>DQ_LogicalConsistency</a:t>
            </a:r>
            <a:r>
              <a:rPr lang="en-GB" sz="1200" dirty="0"/>
              <a:t>: </a:t>
            </a:r>
            <a:r>
              <a:rPr lang="en-GB" sz="1200" dirty="0" err="1"/>
              <a:t>ConceptualConsistency</a:t>
            </a:r>
            <a:r>
              <a:rPr lang="en-GB" sz="1200" dirty="0"/>
              <a:t>, </a:t>
            </a:r>
            <a:r>
              <a:rPr lang="en-GB" sz="1200" dirty="0" err="1"/>
              <a:t>DomainConsistency,TopologicalConsistency</a:t>
            </a:r>
            <a:r>
              <a:rPr lang="en-GB" sz="1200" dirty="0"/>
              <a:t> , </a:t>
            </a:r>
            <a:r>
              <a:rPr lang="en-GB" sz="1200" dirty="0" err="1"/>
              <a:t>FormatConsistency</a:t>
            </a:r>
            <a:endParaRPr lang="en-GB" sz="1200" dirty="0"/>
          </a:p>
          <a:p>
            <a:pPr lvl="1" algn="just">
              <a:spcBef>
                <a:spcPts val="600"/>
              </a:spcBef>
            </a:pPr>
            <a:r>
              <a:rPr lang="en-GB" sz="1200" dirty="0" err="1"/>
              <a:t>DQ_PositionalAccuracy</a:t>
            </a:r>
            <a:r>
              <a:rPr lang="en-GB" sz="1200" dirty="0"/>
              <a:t>: </a:t>
            </a:r>
            <a:r>
              <a:rPr lang="en-GB" sz="1200" dirty="0" err="1"/>
              <a:t>RelativeInternalPositionalAccuracy</a:t>
            </a:r>
            <a:r>
              <a:rPr lang="en-GB" sz="1200" dirty="0"/>
              <a:t>, </a:t>
            </a:r>
            <a:r>
              <a:rPr lang="en-GB" sz="1200" dirty="0" err="1"/>
              <a:t>AbsoluteExternalPositionalAccuracy</a:t>
            </a:r>
            <a:endParaRPr lang="en-GB" sz="1200" dirty="0"/>
          </a:p>
          <a:p>
            <a:pPr lvl="1" algn="just">
              <a:spcBef>
                <a:spcPts val="600"/>
              </a:spcBef>
            </a:pPr>
            <a:r>
              <a:rPr lang="en-GB" sz="1200" dirty="0" err="1"/>
              <a:t>DQ_ThematicAccuracy</a:t>
            </a:r>
            <a:endParaRPr lang="en-GB" sz="1200" dirty="0"/>
          </a:p>
          <a:p>
            <a:pPr lvl="1" algn="just">
              <a:spcBef>
                <a:spcPts val="600"/>
              </a:spcBef>
            </a:pPr>
            <a:r>
              <a:rPr lang="en-GB" sz="1200" dirty="0" err="1"/>
              <a:t>DQ_TemporalAccuracy</a:t>
            </a:r>
            <a:r>
              <a:rPr lang="en-GB" sz="1400" dirty="0"/>
              <a:t>.</a:t>
            </a:r>
            <a:endParaRPr lang="en-GB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8CAC135-F96E-0EE8-01FB-B9C99A4C70FF}"/>
              </a:ext>
            </a:extLst>
          </p:cNvPr>
          <p:cNvSpPr/>
          <p:nvPr/>
        </p:nvSpPr>
        <p:spPr>
          <a:xfrm>
            <a:off x="1238250" y="4359276"/>
            <a:ext cx="9715500" cy="1733550"/>
          </a:xfrm>
          <a:prstGeom prst="rect">
            <a:avLst/>
          </a:prstGeom>
          <a:solidFill>
            <a:schemeClr val="accent6">
              <a:lumMod val="20000"/>
              <a:lumOff val="80000"/>
              <a:alpha val="14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433274F-73D4-85E2-4668-E59D37C64BA3}"/>
              </a:ext>
            </a:extLst>
          </p:cNvPr>
          <p:cNvSpPr txBox="1"/>
          <p:nvPr/>
        </p:nvSpPr>
        <p:spPr>
          <a:xfrm>
            <a:off x="6680200" y="5525483"/>
            <a:ext cx="44703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GeoDCAT</a:t>
            </a:r>
            <a:r>
              <a:rPr lang="en-GB" dirty="0"/>
              <a:t>-AP does not provide explicit support the metadata elements of these package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BE34F10-62C5-CCB4-1752-FD06B86B3746}"/>
              </a:ext>
            </a:extLst>
          </p:cNvPr>
          <p:cNvSpPr txBox="1"/>
          <p:nvPr/>
        </p:nvSpPr>
        <p:spPr>
          <a:xfrm>
            <a:off x="879525" y="2349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Data Quality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30521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2EEE3-988B-8F46-F051-32CD4F9E0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36C748-DE30-09AB-6301-270D0E05E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9448" y="800001"/>
            <a:ext cx="10942906" cy="2424223"/>
          </a:xfrm>
          <a:solidFill>
            <a:schemeClr val="bg1"/>
          </a:solidFill>
        </p:spPr>
        <p:txBody>
          <a:bodyPr/>
          <a:lstStyle/>
          <a:p>
            <a:pPr marL="76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b="1" dirty="0">
                <a:solidFill>
                  <a:schemeClr val="tx1">
                    <a:lumMod val="50000"/>
                  </a:schemeClr>
                </a:solidFill>
              </a:rPr>
              <a:t>Work Plan </a:t>
            </a:r>
          </a:p>
          <a:p>
            <a:pPr marL="533400" indent="-4572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By end of July 2026: The Excel file for containing the </a:t>
            </a:r>
            <a:r>
              <a:rPr lang="en-GB" dirty="0"/>
              <a:t>potential metadata information losses in the ISO-to-GeoDCAT-AP transformation in a public location.</a:t>
            </a:r>
          </a:p>
          <a:p>
            <a:pPr marL="533400" indent="-457200">
              <a:spcBef>
                <a:spcPts val="600"/>
              </a:spcBef>
              <a:spcAft>
                <a:spcPts val="600"/>
              </a:spcAft>
              <a:buFont typeface="Arial"/>
              <a:buAutoNum type="arabicPeriod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For any questions (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hlinkClick r:id="rId3"/>
              </a:rPr>
              <a:t>paloma.abad@cnig.es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hlinkClick r:id="rId4"/>
              </a:rPr>
              <a:t>berta.carrion@cnig.es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50000"/>
                  </a:schemeClr>
                </a:solidFill>
                <a:hlinkClick r:id="rId5"/>
              </a:rPr>
              <a:t>jordi.escriu</a:t>
            </a:r>
            <a:r>
              <a:rPr lang="it-IT" dirty="0">
                <a:solidFill>
                  <a:schemeClr val="tx1">
                    <a:lumMod val="50000"/>
                  </a:schemeClr>
                </a:solidFill>
                <a:hlinkClick r:id="rId5"/>
              </a:rPr>
              <a:t>@ec.europa.eu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  <a:p>
            <a:pPr marL="533400" indent="-457200">
              <a:spcBef>
                <a:spcPts val="600"/>
              </a:spcBef>
              <a:spcAft>
                <a:spcPts val="600"/>
              </a:spcAft>
              <a:buAutoNum type="arabicPeriod"/>
            </a:pPr>
            <a:endParaRPr lang="en-GB" dirty="0"/>
          </a:p>
          <a:p>
            <a:pPr marL="533400" indent="-457200">
              <a:spcBef>
                <a:spcPts val="600"/>
              </a:spcBef>
              <a:spcAft>
                <a:spcPts val="600"/>
              </a:spcAft>
              <a:buAutoNum type="arabicPeriod"/>
            </a:pPr>
            <a:endParaRPr lang="en-GB" dirty="0">
              <a:solidFill>
                <a:schemeClr val="tx1">
                  <a:lumMod val="50000"/>
                </a:schemeClr>
              </a:solidFill>
            </a:endParaRPr>
          </a:p>
          <a:p>
            <a:pPr marL="533400" indent="-457200">
              <a:spcBef>
                <a:spcPts val="600"/>
              </a:spcBef>
              <a:spcAft>
                <a:spcPts val="600"/>
              </a:spcAft>
              <a:buAutoNum type="arabicPeriod"/>
            </a:pPr>
            <a:endParaRPr lang="en-GB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2BF94B-CF96-ABB6-49A3-385BA7D1960F}"/>
              </a:ext>
            </a:extLst>
          </p:cNvPr>
          <p:cNvSpPr txBox="1"/>
          <p:nvPr/>
        </p:nvSpPr>
        <p:spPr>
          <a:xfrm>
            <a:off x="906167" y="3940076"/>
            <a:ext cx="1000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1" dirty="0"/>
              <a:t>Briel reflection</a:t>
            </a:r>
          </a:p>
          <a:p>
            <a:r>
              <a:rPr lang="en-GB" sz="1800" i="1" dirty="0"/>
              <a:t>In the case of the National Geographic Institute (IGN), we will continue to catalogue metadata using ISO 19115, since </a:t>
            </a:r>
            <a:r>
              <a:rPr lang="en-GB" sz="1800" i="1" dirty="0" err="1"/>
              <a:t>GeoDCAT</a:t>
            </a:r>
            <a:r>
              <a:rPr lang="en-GB" sz="1800" i="1" dirty="0"/>
              <a:t>-AP is not sufficiently expressive for our needs and the Spanish National Open Data Catalogue doesn´t support </a:t>
            </a:r>
            <a:r>
              <a:rPr lang="en-GB" sz="1800" i="1" dirty="0" err="1"/>
              <a:t>GeoDCAT</a:t>
            </a:r>
            <a:r>
              <a:rPr lang="en-GB" sz="1800" i="1" dirty="0"/>
              <a:t>-AP and they have no plans to adopt </a:t>
            </a:r>
            <a:r>
              <a:rPr lang="en-GB" sz="1800" i="1" dirty="0" err="1"/>
              <a:t>GeoDCAT</a:t>
            </a:r>
            <a:r>
              <a:rPr lang="en-GB" sz="1800" i="1" dirty="0"/>
              <a:t>-AP. </a:t>
            </a:r>
          </a:p>
          <a:p>
            <a:r>
              <a:rPr lang="en-GB" sz="1800" i="1" dirty="0"/>
              <a:t>Nevertheless: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/>
              <a:t>we already have a tool that transforms ISO 19115 metadata into </a:t>
            </a:r>
            <a:r>
              <a:rPr lang="en-GB" sz="1800" i="1" dirty="0" err="1"/>
              <a:t>GeoDCAT</a:t>
            </a:r>
            <a:r>
              <a:rPr lang="en-GB" sz="1800" i="1" dirty="0"/>
              <a:t>-AP.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/>
              <a:t>Alternatively, metadata could be harvested (</a:t>
            </a:r>
            <a:r>
              <a:rPr lang="en-GB" sz="1800" i="1" dirty="0" err="1"/>
              <a:t>CSW</a:t>
            </a:r>
            <a:r>
              <a:rPr lang="en-GB" sz="1800" i="1" dirty="0"/>
              <a:t>) through the </a:t>
            </a:r>
            <a:r>
              <a:rPr lang="en-GB" sz="1800" i="1" dirty="0" err="1"/>
              <a:t>GeoDCAT</a:t>
            </a:r>
            <a:r>
              <a:rPr lang="en-GB" sz="1800" i="1" dirty="0"/>
              <a:t>-AP profile.</a:t>
            </a:r>
          </a:p>
        </p:txBody>
      </p:sp>
    </p:spTree>
    <p:extLst>
      <p:ext uri="{BB962C8B-B14F-4D97-AF65-F5344CB8AC3E}">
        <p14:creationId xmlns:p14="http://schemas.microsoft.com/office/powerpoint/2010/main" val="3624151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4068</TotalTime>
  <Words>739</Words>
  <Application>Microsoft Office PowerPoint</Application>
  <PresentationFormat>Panorámica</PresentationFormat>
  <Paragraphs>80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INSPIRE GeoDCAT-AP Pilot</vt:lpstr>
      <vt:lpstr>Analysis of potential metadata information losses in the ISO-to-GeoDCAT-AP transformation </vt:lpstr>
      <vt:lpstr>Analysis of potential metadata information losses in the ISO-to-GeoDCAT-AP transformation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INSPIRE Registry</dc:title>
  <dc:creator>JOHN Yvonne (COMM)</dc:creator>
  <cp:lastModifiedBy>Paloma Abad Power</cp:lastModifiedBy>
  <cp:revision>240</cp:revision>
  <dcterms:created xsi:type="dcterms:W3CDTF">2019-08-09T12:06:42Z</dcterms:created>
  <dcterms:modified xsi:type="dcterms:W3CDTF">2026-07-07T09:41:40Z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ServerID">
    <vt:lpwstr>0d3b22a6-6203-4efc-8e8e-b5279256493b</vt:lpwstr>
  </property>
  <property fmtid="{D5CDD505-2E9C-101B-9397-08002B2CF9AE}" pid="3" name="Offisync_UpdateToken">
    <vt:lpwstr>5</vt:lpwstr>
  </property>
  <property fmtid="{D5CDD505-2E9C-101B-9397-08002B2CF9AE}" pid="4" name="Jive_VersionGuid">
    <vt:lpwstr>895d1684-e390-44f7-87f3-a893d9b6b3e1</vt:lpwstr>
  </property>
  <property fmtid="{D5CDD505-2E9C-101B-9397-08002B2CF9AE}" pid="5" name="Offisync_UniqueId">
    <vt:lpwstr>216256</vt:lpwstr>
  </property>
  <property fmtid="{D5CDD505-2E9C-101B-9397-08002B2CF9AE}" pid="6" name="Offisync_ProviderInitializationData">
    <vt:lpwstr>https://webgate.ec.europa.eu/connected</vt:lpwstr>
  </property>
  <property fmtid="{D5CDD505-2E9C-101B-9397-08002B2CF9AE}" pid="7" name="Jive_LatestUserAccountName">
    <vt:lpwstr>wojdapi</vt:lpwstr>
  </property>
  <property fmtid="{D5CDD505-2E9C-101B-9397-08002B2CF9AE}" pid="8" name="ContentTypeId">
    <vt:lpwstr>0x0101008CF1E423E1053143A72AC4DF303AC6F5</vt:lpwstr>
  </property>
  <property fmtid="{D5CDD505-2E9C-101B-9397-08002B2CF9AE}" pid="9" name="MSIP_Label_6bd9ddd1-4d20-43f6-abfa-fc3c07406f94_Enabled">
    <vt:lpwstr>true</vt:lpwstr>
  </property>
  <property fmtid="{D5CDD505-2E9C-101B-9397-08002B2CF9AE}" pid="10" name="MSIP_Label_6bd9ddd1-4d20-43f6-abfa-fc3c07406f94_SetDate">
    <vt:lpwstr>2025-11-27T17:36:36Z</vt:lpwstr>
  </property>
  <property fmtid="{D5CDD505-2E9C-101B-9397-08002B2CF9AE}" pid="11" name="MSIP_Label_6bd9ddd1-4d20-43f6-abfa-fc3c07406f94_Method">
    <vt:lpwstr>Standard</vt:lpwstr>
  </property>
  <property fmtid="{D5CDD505-2E9C-101B-9397-08002B2CF9AE}" pid="12" name="MSIP_Label_6bd9ddd1-4d20-43f6-abfa-fc3c07406f94_Name">
    <vt:lpwstr>Commission Use</vt:lpwstr>
  </property>
  <property fmtid="{D5CDD505-2E9C-101B-9397-08002B2CF9AE}" pid="13" name="MSIP_Label_6bd9ddd1-4d20-43f6-abfa-fc3c07406f94_SiteId">
    <vt:lpwstr>b24c8b06-522c-46fe-9080-70926f8dddb1</vt:lpwstr>
  </property>
  <property fmtid="{D5CDD505-2E9C-101B-9397-08002B2CF9AE}" pid="14" name="MSIP_Label_6bd9ddd1-4d20-43f6-abfa-fc3c07406f94_ActionId">
    <vt:lpwstr>7eed690b-4686-40e3-95b3-413fe8628c53</vt:lpwstr>
  </property>
  <property fmtid="{D5CDD505-2E9C-101B-9397-08002B2CF9AE}" pid="15" name="MSIP_Label_6bd9ddd1-4d20-43f6-abfa-fc3c07406f94_ContentBits">
    <vt:lpwstr>0</vt:lpwstr>
  </property>
  <property fmtid="{D5CDD505-2E9C-101B-9397-08002B2CF9AE}" pid="16" name="MSIP_Label_6bd9ddd1-4d20-43f6-abfa-fc3c07406f94_Tag">
    <vt:lpwstr>10, 3, 0, 1</vt:lpwstr>
  </property>
</Properties>
</file>