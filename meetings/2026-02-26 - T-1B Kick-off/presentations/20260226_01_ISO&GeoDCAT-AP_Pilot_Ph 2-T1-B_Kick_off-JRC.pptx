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4"/>
    <p:sldMasterId id="2147483936" r:id="rId5"/>
    <p:sldMasterId id="2147483945" r:id="rId6"/>
  </p:sldMasterIdLst>
  <p:notesMasterIdLst>
    <p:notesMasterId r:id="rId13"/>
  </p:notesMasterIdLst>
  <p:handoutMasterIdLst>
    <p:handoutMasterId r:id="rId14"/>
  </p:handoutMasterIdLst>
  <p:sldIdLst>
    <p:sldId id="326" r:id="rId7"/>
    <p:sldId id="408" r:id="rId8"/>
    <p:sldId id="409" r:id="rId9"/>
    <p:sldId id="410" r:id="rId10"/>
    <p:sldId id="411" r:id="rId11"/>
    <p:sldId id="327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19AFEC"/>
    <a:srgbClr val="090F16"/>
    <a:srgbClr val="034EA2"/>
    <a:srgbClr val="2174B0"/>
    <a:srgbClr val="0000FF"/>
    <a:srgbClr val="0070C0"/>
    <a:srgbClr val="F8CC29"/>
    <a:srgbClr val="000000"/>
    <a:srgbClr val="1017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7785BA-4363-4A06-BC3D-8645B247EF84}" v="7" dt="2025-09-18T18:25:37.4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4660"/>
  </p:normalViewPr>
  <p:slideViewPr>
    <p:cSldViewPr snapToGrid="0">
      <p:cViewPr varScale="1">
        <p:scale>
          <a:sx n="75" d="100"/>
          <a:sy n="75" d="100"/>
        </p:scale>
        <p:origin x="77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C4CBD34-6D1E-4413-84E4-6A40AF026C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6ABD91D-22C6-451C-B3C9-A4AB97CD8A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C6F47-7618-4C0A-96D1-C3A76407F921}" type="datetimeFigureOut">
              <a:rPr lang="es-ES" smtClean="0"/>
              <a:t>26/02/2026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9116845-2A31-4B34-9737-ADE928EC73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C62F2EF-0F17-49FA-A192-50836D328D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A45D2-FCC8-4AB7-A8BC-043BA38FD2A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26322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0A4FB-D810-4C9E-9E50-17CEE17835DB}" type="datetimeFigureOut">
              <a:rPr lang="es-ES" smtClean="0"/>
              <a:pPr/>
              <a:t>26/02/2026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4304E-8E33-4C56-AEFD-D02A6B406D09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548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Cover slide option 1. Check layout for option 2 without the banner and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CF2995-AB43-4B7C-B8CD-9DC7C3692A9C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119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10781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 userDrawn="1"/>
        </p:nvSpPr>
        <p:spPr>
          <a:xfrm>
            <a:off x="0" y="1078173"/>
            <a:ext cx="12192000" cy="5779827"/>
          </a:xfrm>
          <a:prstGeom prst="rect">
            <a:avLst/>
          </a:prstGeom>
          <a:solidFill>
            <a:srgbClr val="035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solidFill>
                <a:schemeClr val="accent4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933" y="258042"/>
            <a:ext cx="1659793" cy="115246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071350" y="1992572"/>
            <a:ext cx="10065224" cy="2149523"/>
          </a:xfrm>
        </p:spPr>
        <p:txBody>
          <a:bodyPr wrap="none" anchor="t">
            <a:no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978925"/>
            <a:ext cx="0" cy="48790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5741158" y="6619164"/>
            <a:ext cx="707409" cy="240594"/>
          </a:xfrm>
          <a:prstGeom prst="rect">
            <a:avLst/>
          </a:prstGeom>
          <a:solidFill>
            <a:srgbClr val="004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1071351" y="4418049"/>
            <a:ext cx="10065224" cy="897754"/>
          </a:xfrm>
        </p:spPr>
        <p:txBody>
          <a:bodyPr>
            <a:noAutofit/>
          </a:bodyPr>
          <a:lstStyle>
            <a:lvl1pPr marL="0" indent="0" algn="l">
              <a:buNone/>
              <a:defRPr sz="2800" i="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6096000" y="5557903"/>
            <a:ext cx="5040313" cy="52899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2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0843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50288"/>
            <a:ext cx="12192000" cy="501834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10781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 userDrawn="1"/>
        </p:nvSpPr>
        <p:spPr>
          <a:xfrm>
            <a:off x="0" y="1078174"/>
            <a:ext cx="12192000" cy="2890800"/>
          </a:xfrm>
          <a:prstGeom prst="rect">
            <a:avLst/>
          </a:prstGeom>
          <a:solidFill>
            <a:srgbClr val="035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solidFill>
                <a:schemeClr val="accent4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933" y="258042"/>
            <a:ext cx="1659793" cy="115246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071350" y="1992572"/>
            <a:ext cx="10065224" cy="872647"/>
          </a:xfrm>
        </p:spPr>
        <p:txBody>
          <a:bodyPr anchor="t">
            <a:norm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978925"/>
            <a:ext cx="0" cy="48790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5741158" y="6619164"/>
            <a:ext cx="707409" cy="240594"/>
          </a:xfrm>
          <a:prstGeom prst="rect">
            <a:avLst/>
          </a:prstGeom>
          <a:solidFill>
            <a:srgbClr val="004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1071351" y="3067468"/>
            <a:ext cx="10065224" cy="897754"/>
          </a:xfrm>
        </p:spPr>
        <p:txBody>
          <a:bodyPr>
            <a:noAutofit/>
          </a:bodyPr>
          <a:lstStyle>
            <a:lvl1pPr marL="0" indent="0" algn="l">
              <a:buNone/>
              <a:defRPr sz="2800" i="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6096000" y="5783535"/>
            <a:ext cx="5040313" cy="528998"/>
          </a:xfrm>
        </p:spPr>
        <p:txBody>
          <a:bodyPr anchor="b" anchorCtr="0">
            <a:noAutofit/>
          </a:bodyPr>
          <a:lstStyle>
            <a:lvl1pPr marL="0" indent="0" algn="r">
              <a:buFontTx/>
              <a:buNone/>
              <a:defRPr sz="2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5482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02219"/>
            <a:ext cx="12192000" cy="6059194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>
          <a:xfrm>
            <a:off x="5289" y="1078173"/>
            <a:ext cx="12197346" cy="5783239"/>
          </a:xfrm>
          <a:prstGeom prst="rect">
            <a:avLst/>
          </a:prstGeom>
          <a:solidFill>
            <a:srgbClr val="024EA2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>
              <a:solidFill>
                <a:schemeClr val="accent4"/>
              </a:solidFill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2192000" cy="10781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071350" y="1992572"/>
            <a:ext cx="10065224" cy="2149523"/>
          </a:xfrm>
        </p:spPr>
        <p:txBody>
          <a:bodyPr wrap="none" anchor="t">
            <a:noAutofit/>
          </a:bodyPr>
          <a:lstStyle>
            <a:lvl1pPr algn="l"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1978925"/>
            <a:ext cx="0" cy="4879075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5741158" y="6619164"/>
            <a:ext cx="707409" cy="240594"/>
          </a:xfrm>
          <a:prstGeom prst="rect">
            <a:avLst/>
          </a:prstGeom>
          <a:solidFill>
            <a:srgbClr val="004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71351" y="4418049"/>
            <a:ext cx="10065224" cy="897754"/>
          </a:xfrm>
        </p:spPr>
        <p:txBody>
          <a:bodyPr wrap="none">
            <a:noAutofit/>
          </a:bodyPr>
          <a:lstStyle>
            <a:lvl1pPr marL="0" indent="0" algn="l">
              <a:buNone/>
              <a:defRPr sz="2800" i="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933" y="258042"/>
            <a:ext cx="1659793" cy="1152460"/>
          </a:xfrm>
          <a:prstGeom prst="rect">
            <a:avLst/>
          </a:prstGeom>
        </p:spPr>
      </p:pic>
      <p:sp>
        <p:nvSpPr>
          <p:cNvPr id="16" name="Text Placeholder 18"/>
          <p:cNvSpPr>
            <a:spLocks noGrp="1"/>
          </p:cNvSpPr>
          <p:nvPr>
            <p:ph type="body" sz="quarter" idx="13"/>
          </p:nvPr>
        </p:nvSpPr>
        <p:spPr>
          <a:xfrm>
            <a:off x="6096000" y="5557903"/>
            <a:ext cx="5040313" cy="528998"/>
          </a:xfrm>
        </p:spPr>
        <p:txBody>
          <a:bodyPr wrap="none">
            <a:noAutofit/>
          </a:bodyPr>
          <a:lstStyle>
            <a:lvl1pPr marL="0" indent="0" algn="r">
              <a:buFontTx/>
              <a:buNone/>
              <a:defRPr sz="22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677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56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0189" y="1122363"/>
            <a:ext cx="10676038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0189" y="3602038"/>
            <a:ext cx="10676038" cy="165576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6C79FD-C571-418B-AB0F-5EE936C85276}" type="slidenum">
              <a:rPr lang="en-GB" smtClean="0"/>
              <a:pPr/>
              <a:t>‹#›</a:t>
            </a:fld>
            <a:endParaRPr lang="en-GB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8200" y="0"/>
            <a:ext cx="0" cy="3295934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27715" y="6045257"/>
            <a:ext cx="1718512" cy="451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08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3852" y="6045865"/>
            <a:ext cx="1716200" cy="450546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077013" y="1122363"/>
            <a:ext cx="10156297" cy="2387600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838200" y="0"/>
            <a:ext cx="0" cy="3295934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1070189" y="3602038"/>
            <a:ext cx="10156297" cy="1655762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624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92000" cy="3428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077013" y="1122363"/>
            <a:ext cx="10156297" cy="1240348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838200" y="0"/>
            <a:ext cx="0" cy="2362711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838200" y="4160826"/>
            <a:ext cx="10889439" cy="162014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627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12192000" cy="3428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077013" y="1122363"/>
            <a:ext cx="10156297" cy="1240348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838200" y="0"/>
            <a:ext cx="0" cy="2362711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838200" y="4160826"/>
            <a:ext cx="10889439" cy="1620145"/>
          </a:xfr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28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905699" cy="388190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defRPr/>
            </a:lvl1pPr>
            <a:lvl2pPr>
              <a:lnSpc>
                <a:spcPct val="100000"/>
              </a:lnSpc>
              <a:spcAft>
                <a:spcPts val="1800"/>
              </a:spcAft>
              <a:defRPr/>
            </a:lvl2pPr>
            <a:lvl3pPr>
              <a:lnSpc>
                <a:spcPct val="100000"/>
              </a:lnSpc>
              <a:spcAft>
                <a:spcPts val="1800"/>
              </a:spcAft>
              <a:defRPr/>
            </a:lvl3pPr>
            <a:lvl4pPr>
              <a:lnSpc>
                <a:spcPct val="100000"/>
              </a:lnSpc>
              <a:spcAft>
                <a:spcPts val="1800"/>
              </a:spcAft>
              <a:defRPr/>
            </a:lvl4pPr>
            <a:lvl5pPr>
              <a:lnSpc>
                <a:spcPct val="100000"/>
              </a:lnSpc>
              <a:spcAft>
                <a:spcPts val="1800"/>
              </a:spcAft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9309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5328000" cy="3906435"/>
          </a:xfrm>
        </p:spPr>
        <p:txBody>
          <a:bodyPr>
            <a:noAutofit/>
          </a:bodyPr>
          <a:lstStyle>
            <a:lvl1pPr>
              <a:spcAft>
                <a:spcPts val="1800"/>
              </a:spcAft>
              <a:defRPr/>
            </a:lvl1pPr>
            <a:lvl2pPr>
              <a:spcAft>
                <a:spcPts val="1800"/>
              </a:spcAft>
              <a:defRPr/>
            </a:lvl2pPr>
            <a:lvl3pPr>
              <a:spcAft>
                <a:spcPts val="1800"/>
              </a:spcAft>
              <a:defRPr/>
            </a:lvl3pPr>
            <a:lvl4pPr>
              <a:spcAft>
                <a:spcPts val="1800"/>
              </a:spcAft>
              <a:defRPr/>
            </a:lvl4pPr>
            <a:lvl5pPr>
              <a:spcAft>
                <a:spcPts val="1800"/>
              </a:spcAft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2250" y="1825625"/>
            <a:ext cx="5328000" cy="3906435"/>
          </a:xfrm>
          <a:noFill/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64930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8" y="1825625"/>
            <a:ext cx="5328000" cy="3906435"/>
          </a:xfrm>
        </p:spPr>
        <p:txBody>
          <a:bodyPr>
            <a:noAutofit/>
          </a:bodyPr>
          <a:lstStyle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2250" y="1825625"/>
            <a:ext cx="5328000" cy="3906435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587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8" y="1825626"/>
            <a:ext cx="3358489" cy="3763134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604979" y="1825625"/>
            <a:ext cx="3358489" cy="3763134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8371761" y="1825625"/>
            <a:ext cx="3358489" cy="3763134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cxnSp>
        <p:nvCxnSpPr>
          <p:cNvPr id="12" name="Straight Connector 11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810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wrap="square" anchor="b">
            <a:no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097331"/>
          </a:xfrm>
        </p:spPr>
        <p:txBody>
          <a:bodyPr wrap="square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noFill/>
        </p:spPr>
        <p:txBody>
          <a:bodyPr wrap="square" anchor="b">
            <a:no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097331"/>
          </a:xfrm>
        </p:spPr>
        <p:txBody>
          <a:bodyPr wrap="square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12" name="Straight Connector 11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141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6010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-59635" y="-59635"/>
            <a:ext cx="6155635" cy="6983896"/>
          </a:xfrm>
          <a:solidFill>
            <a:schemeClr val="bg2"/>
          </a:solidFill>
          <a:ln w="28575">
            <a:solidFill>
              <a:schemeClr val="accent5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3214048" y="1992573"/>
            <a:ext cx="8550322" cy="3616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9447" y="743802"/>
            <a:ext cx="544923" cy="54492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8331" y="1992572"/>
            <a:ext cx="8226040" cy="3616657"/>
          </a:xfrm>
          <a:solidFill>
            <a:schemeClr val="bg1"/>
          </a:solidFill>
        </p:spPr>
        <p:txBody>
          <a:bodyPr lIns="360000" tIns="360000" rIns="360000" bIns="360000" anchor="ctr" anchorCtr="0">
            <a:noAutofit/>
          </a:bodyPr>
          <a:lstStyle>
            <a:lvl1pPr marL="0" indent="0">
              <a:buFontTx/>
              <a:buNone/>
              <a:defRPr i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8313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(half p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7056" y="1825625"/>
            <a:ext cx="4926841" cy="3769957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817056" y="482860"/>
            <a:ext cx="4669266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-46383" y="-46383"/>
            <a:ext cx="6142383" cy="6964017"/>
          </a:xfrm>
          <a:solidFill>
            <a:schemeClr val="bg2"/>
          </a:solidFill>
          <a:ln w="28575">
            <a:solidFill>
              <a:schemeClr val="accent5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2791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970722" y="2284667"/>
            <a:ext cx="3141663" cy="20907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7901451" y="2284668"/>
            <a:ext cx="3141663" cy="20907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4436086" y="2284667"/>
            <a:ext cx="3141663" cy="2090737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1206774" y="4038684"/>
            <a:ext cx="2669558" cy="1524235"/>
          </a:xfrm>
          <a:solidFill>
            <a:schemeClr val="bg1"/>
          </a:solidFill>
        </p:spPr>
        <p:txBody>
          <a:bodyPr tIns="90000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72139" y="4041944"/>
            <a:ext cx="2669558" cy="1524235"/>
          </a:xfrm>
          <a:solidFill>
            <a:schemeClr val="bg1"/>
          </a:solidFill>
        </p:spPr>
        <p:txBody>
          <a:bodyPr tIns="90000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37503" y="4037437"/>
            <a:ext cx="2669558" cy="1524235"/>
          </a:xfrm>
          <a:solidFill>
            <a:schemeClr val="bg1"/>
          </a:solidFill>
        </p:spPr>
        <p:txBody>
          <a:bodyPr tIns="90000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1624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838199" y="0"/>
            <a:ext cx="1" cy="1276357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970722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713869" y="2159957"/>
            <a:ext cx="2461591" cy="1638158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713868" y="3968881"/>
            <a:ext cx="2461591" cy="1638158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6324547" y="2159956"/>
            <a:ext cx="2461593" cy="1638159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8935227" y="3968880"/>
            <a:ext cx="2520000" cy="1638158"/>
          </a:xfrm>
          <a:noFill/>
        </p:spPr>
        <p:txBody>
          <a:bodyPr tIns="90000"/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1033617" y="2159957"/>
            <a:ext cx="2520000" cy="1638159"/>
          </a:xfrm>
          <a:noFill/>
        </p:spPr>
        <p:txBody>
          <a:bodyPr tIns="90000"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9"/>
          </p:nvPr>
        </p:nvSpPr>
        <p:spPr>
          <a:xfrm>
            <a:off x="6324549" y="3968880"/>
            <a:ext cx="2461591" cy="1638158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/>
          </p:nvPr>
        </p:nvSpPr>
        <p:spPr>
          <a:xfrm>
            <a:off x="1033617" y="3968881"/>
            <a:ext cx="2520000" cy="1638158"/>
          </a:xfrm>
          <a:noFill/>
        </p:spPr>
        <p:txBody>
          <a:bodyPr tIns="90000"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1"/>
          </p:nvPr>
        </p:nvSpPr>
        <p:spPr>
          <a:xfrm>
            <a:off x="8966322" y="2159956"/>
            <a:ext cx="2520000" cy="1638159"/>
          </a:xfrm>
          <a:noFill/>
        </p:spPr>
        <p:txBody>
          <a:bodyPr tIns="90000"/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5077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429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46643"/>
            <a:ext cx="10515600" cy="782357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838200" y="3630613"/>
            <a:ext cx="10515600" cy="2035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293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C79FD-C571-418B-AB0F-5EE936C852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6477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"/>
          <a:stretch/>
        </p:blipFill>
        <p:spPr>
          <a:xfrm>
            <a:off x="0" y="0"/>
            <a:ext cx="12200290" cy="689329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0400" y="1457269"/>
            <a:ext cx="7324004" cy="2249334"/>
          </a:xfrm>
          <a:prstGeom prst="rect">
            <a:avLst/>
          </a:prstGeom>
        </p:spPr>
        <p:txBody>
          <a:bodyPr lIns="0" anchor="b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/>
          </p:nvPr>
        </p:nvSpPr>
        <p:spPr>
          <a:xfrm>
            <a:off x="806092" y="3874486"/>
            <a:ext cx="7324003" cy="1351702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Click to edit Master subtitle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806092" y="5399738"/>
            <a:ext cx="5724000" cy="684000"/>
          </a:xfrm>
          <a:prstGeom prst="rect">
            <a:avLst/>
          </a:prstGeom>
        </p:spPr>
        <p:txBody>
          <a:bodyPr lIns="0" tIns="0"/>
          <a:lstStyle>
            <a:lvl1pPr marL="0" indent="0" algn="l">
              <a:spcAft>
                <a:spcPts val="400"/>
              </a:spcAft>
              <a:buFont typeface="Arial" panose="020B0604020202020204" pitchFamily="34" charset="0"/>
              <a:buNone/>
              <a:defRPr sz="195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Speaker</a:t>
            </a:r>
            <a:br>
              <a:rPr lang="en-GB" noProof="0" dirty="0"/>
            </a:br>
            <a:r>
              <a:rPr lang="en-GB" noProof="0" dirty="0"/>
              <a:t>Venue and date</a:t>
            </a:r>
          </a:p>
        </p:txBody>
      </p:sp>
    </p:spTree>
    <p:extLst>
      <p:ext uri="{BB962C8B-B14F-4D97-AF65-F5344CB8AC3E}">
        <p14:creationId xmlns:p14="http://schemas.microsoft.com/office/powerpoint/2010/main" val="28888759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>
              <a:defRPr sz="3800"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cxnSp>
        <p:nvCxnSpPr>
          <p:cNvPr id="9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H="1">
            <a:off x="838201" y="0"/>
            <a:ext cx="1" cy="136525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/>
          <p:cNvSpPr>
            <a:spLocks noGrp="1"/>
          </p:cNvSpPr>
          <p:nvPr>
            <p:ph idx="10" hasCustomPrompt="1"/>
          </p:nvPr>
        </p:nvSpPr>
        <p:spPr>
          <a:xfrm>
            <a:off x="967154" y="1825624"/>
            <a:ext cx="5004000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Font typeface="Arial" pitchFamily="34" charset="0"/>
              <a:buNone/>
              <a:defRPr baseline="0"/>
            </a:lvl1pPr>
            <a:lvl2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/>
            </a:lvl2pPr>
            <a:lvl3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/>
            </a:lvl3pPr>
            <a:lvl4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/>
            </a:lvl4pPr>
            <a:lvl5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/>
            </a:lvl5pPr>
          </a:lstStyle>
          <a:p>
            <a:pPr lvl="0"/>
            <a:r>
              <a:rPr lang="en-GB" noProof="0" dirty="0"/>
              <a:t>Insert text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1" hasCustomPrompt="1"/>
          </p:nvPr>
        </p:nvSpPr>
        <p:spPr>
          <a:xfrm>
            <a:off x="6232524" y="1825624"/>
            <a:ext cx="5004000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Font typeface="Arial"/>
              <a:buNone/>
              <a:defRPr strike="noStrike"/>
            </a:lvl1pPr>
            <a:lvl2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 strike="noStrike"/>
            </a:lvl2pPr>
            <a:lvl3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 strike="noStrike"/>
            </a:lvl3pPr>
            <a:lvl4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 strike="noStrike"/>
            </a:lvl4pPr>
            <a:lvl5pPr>
              <a:lnSpc>
                <a:spcPct val="100000"/>
              </a:lnSpc>
              <a:spcAft>
                <a:spcPts val="1800"/>
              </a:spcAft>
              <a:buClr>
                <a:schemeClr val="accent5"/>
              </a:buClr>
              <a:defRPr strike="noStrike"/>
            </a:lvl5pPr>
          </a:lstStyle>
          <a:p>
            <a:pPr lvl="0"/>
            <a:r>
              <a:rPr lang="en-GB" noProof="0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1622130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>
              <a:defRPr sz="3800"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970722" y="1825625"/>
            <a:ext cx="3229533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indent="-342900">
              <a:buClr>
                <a:schemeClr val="accent5"/>
              </a:buClr>
              <a:buFont typeface="Arial"/>
              <a:buNone/>
              <a:defRPr baseline="0"/>
            </a:lvl1pPr>
            <a:lvl2pPr>
              <a:buClr>
                <a:schemeClr val="accent5"/>
              </a:buClr>
              <a:buNone/>
              <a:defRPr/>
            </a:lvl2pPr>
            <a:lvl3pPr>
              <a:buClr>
                <a:schemeClr val="accent5"/>
              </a:buClr>
              <a:buNone/>
              <a:defRPr/>
            </a:lvl3pPr>
            <a:lvl4pPr>
              <a:buClr>
                <a:schemeClr val="accent5"/>
              </a:buClr>
              <a:buNone/>
              <a:defRPr/>
            </a:lvl4pPr>
            <a:lvl5pPr>
              <a:buClr>
                <a:schemeClr val="accent5"/>
              </a:buClr>
              <a:buNone/>
              <a:defRPr/>
            </a:lvl5pPr>
          </a:lstStyle>
          <a:p>
            <a:pPr lvl="0"/>
            <a:r>
              <a:rPr lang="en-GB" noProof="0" dirty="0"/>
              <a:t>Insert text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476002" y="1825624"/>
            <a:ext cx="3239996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SzTx/>
              <a:buFont typeface="Arial"/>
              <a:buNone/>
              <a:tabLst/>
              <a:defRPr/>
            </a:lvl1pPr>
            <a:lvl2pPr>
              <a:buClr>
                <a:schemeClr val="accent5"/>
              </a:buClr>
              <a:defRPr/>
            </a:lvl2pPr>
            <a:lvl3pPr>
              <a:buClr>
                <a:schemeClr val="accent5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accent5"/>
              </a:buClr>
              <a:defRPr/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SzTx/>
              <a:buFont typeface="Arial"/>
              <a:buNone/>
              <a:tabLst/>
              <a:defRPr/>
            </a:pPr>
            <a:r>
              <a:rPr lang="en-GB" noProof="0" dirty="0"/>
              <a:t>Insert text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5" hasCustomPrompt="1"/>
          </p:nvPr>
        </p:nvSpPr>
        <p:spPr>
          <a:xfrm>
            <a:off x="7990763" y="1825624"/>
            <a:ext cx="3239998" cy="4170363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SzTx/>
              <a:buFont typeface="Arial"/>
              <a:buNone/>
              <a:tabLst/>
              <a:defRPr/>
            </a:lvl1pPr>
            <a:lvl2pPr>
              <a:buClr>
                <a:schemeClr val="accent5"/>
              </a:buClr>
              <a:defRPr/>
            </a:lvl2pPr>
            <a:lvl3pPr>
              <a:buClr>
                <a:schemeClr val="accent5"/>
              </a:buClr>
              <a:defRPr/>
            </a:lvl3pPr>
            <a:lvl4pPr>
              <a:buClr>
                <a:schemeClr val="accent5"/>
              </a:buClr>
              <a:defRPr/>
            </a:lvl4pPr>
            <a:lvl5pPr>
              <a:buClr>
                <a:schemeClr val="accent5"/>
              </a:buClr>
              <a:defRPr/>
            </a:lvl5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accent5"/>
              </a:buClr>
              <a:buSzTx/>
              <a:buFont typeface="Arial"/>
              <a:buNone/>
              <a:tabLst/>
              <a:defRPr/>
            </a:pPr>
            <a:r>
              <a:rPr lang="en-GB" noProof="0" dirty="0"/>
              <a:t>Insert text</a:t>
            </a:r>
          </a:p>
        </p:txBody>
      </p:sp>
      <p:cxnSp>
        <p:nvCxnSpPr>
          <p:cNvPr id="8" name="Straight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H="1">
            <a:off x="838201" y="0"/>
            <a:ext cx="1" cy="136525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0647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970722" y="575220"/>
            <a:ext cx="1026389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>
              <a:defRPr sz="3800"/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0" y="1750540"/>
            <a:ext cx="12192000" cy="424544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GB" noProof="0"/>
          </a:p>
        </p:txBody>
      </p:sp>
      <p:cxnSp>
        <p:nvCxnSpPr>
          <p:cNvPr id="5" name="Straight Connecto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H="1">
            <a:off x="838201" y="0"/>
            <a:ext cx="1" cy="1365250"/>
          </a:xfrm>
          <a:prstGeom prst="line">
            <a:avLst/>
          </a:prstGeom>
          <a:ln w="285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63841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0430CE-3EAA-0F5F-3032-04C3EBD4B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342900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38200" y="0"/>
            <a:ext cx="0" cy="236271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1072800" y="1122363"/>
            <a:ext cx="10800760" cy="124034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084385" y="3855676"/>
            <a:ext cx="10003692" cy="192529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27328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B9C2F-5D28-A54A-50E0-A4833437E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749" y="2544416"/>
            <a:ext cx="10442049" cy="1655233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GB" dirty="0"/>
              <a:t>Click to edit Master title style</a:t>
            </a:r>
            <a:endParaRPr lang="en-L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9031-1086-D01F-D348-6DCC81170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749" y="4346714"/>
            <a:ext cx="10442048" cy="911087"/>
          </a:xfrm>
        </p:spPr>
        <p:txBody>
          <a:bodyPr/>
          <a:lstStyle>
            <a:lvl1pPr marL="0" indent="0" algn="l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GB" dirty="0"/>
              <a:t>Click to edit Master subtitle style</a:t>
            </a:r>
            <a:endParaRPr lang="en-L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F2F3C-0F34-8277-D84E-22364585D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51881" y="6356352"/>
            <a:ext cx="1101919" cy="219181"/>
          </a:xfrm>
        </p:spPr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F6E5A-5943-665E-2FE0-9FE8B8549E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42705622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3D908-A0D1-D5E5-F832-59C5C0FD4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67"/>
            </a:lvl1pPr>
          </a:lstStyle>
          <a:p>
            <a:r>
              <a:rPr lang="en-GB" dirty="0"/>
              <a:t>Click to edit Master title style</a:t>
            </a:r>
            <a:endParaRPr lang="en-L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49DC9-B3EF-48E8-4FB6-A275F9BAF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467"/>
            </a:lvl1pPr>
            <a:lvl2pPr>
              <a:defRPr sz="2933"/>
            </a:lvl2pPr>
            <a:lvl3pPr>
              <a:defRPr sz="2400"/>
            </a:lvl3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  <a:endParaRPr lang="en-L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0848C-7C5F-FB69-368D-81B60EE2B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60C3C1B-EA5B-92F9-967F-4D0BDD4535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4688814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24BB82-A13F-7C3F-1F51-FDFCD1CF6D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0" y="972047"/>
            <a:ext cx="6679096" cy="42479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3E576D-8368-D988-268C-B7C5FCE59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4076" y="1246131"/>
            <a:ext cx="4081007" cy="895420"/>
          </a:xfrm>
        </p:spPr>
        <p:txBody>
          <a:bodyPr lIns="0" tIns="0" rIns="0" bIns="0" anchor="t" anchorCtr="0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L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4BBEDA-4468-14FF-93EA-3E2BB54E7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pPr/>
              <a:t>‹#›</a:t>
            </a:fld>
            <a:endParaRPr lang="en-LU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FAC4E1B-32BD-5181-1D47-FFB86224E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792AD8-EA3B-99E0-A0F9-4ADA0647C1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284" y="2289977"/>
            <a:ext cx="4080933" cy="243865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  <a:lvl2pPr marL="609585" indent="0">
              <a:buNone/>
              <a:defRPr sz="1867">
                <a:solidFill>
                  <a:schemeClr val="bg1"/>
                </a:solidFill>
              </a:defRPr>
            </a:lvl2pPr>
            <a:lvl3pPr marL="1219170" indent="0">
              <a:buNone/>
              <a:defRPr sz="1867">
                <a:solidFill>
                  <a:schemeClr val="bg1"/>
                </a:solidFill>
              </a:defRPr>
            </a:lvl3pPr>
            <a:lvl4pPr marL="1828754" indent="0">
              <a:buNone/>
              <a:defRPr sz="1867">
                <a:solidFill>
                  <a:schemeClr val="bg1"/>
                </a:solidFill>
              </a:defRPr>
            </a:lvl4pPr>
            <a:lvl5pPr marL="2438339" indent="0">
              <a:buNone/>
              <a:defRPr sz="1867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or caption</a:t>
            </a:r>
            <a:endParaRPr lang="en-LU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5F0DC51F-A68F-E5E7-EA43-BCC3669E72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971711"/>
            <a:ext cx="6096000" cy="424798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15417365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576D-8368-D988-268C-B7C5FCE59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5601" y="1246131"/>
            <a:ext cx="4081007" cy="895420"/>
          </a:xfrm>
        </p:spPr>
        <p:txBody>
          <a:bodyPr lIns="0" tIns="0" rIns="0" bIns="0" anchor="t" anchorCtr="0"/>
          <a:lstStyle>
            <a:lvl1pPr>
              <a:defRPr sz="3200">
                <a:solidFill>
                  <a:srgbClr val="F15A24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L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4BBEDA-4468-14FF-93EA-3E2BB54E7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pPr/>
              <a:t>‹#›</a:t>
            </a:fld>
            <a:endParaRPr lang="en-LU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FAC4E1B-32BD-5181-1D47-FFB86224E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D792AD8-EA3B-99E0-A0F9-4ADA0647C1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5600" y="2289977"/>
            <a:ext cx="4080933" cy="243865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585" indent="0">
              <a:buNone/>
              <a:defRPr sz="1867">
                <a:solidFill>
                  <a:schemeClr val="bg1"/>
                </a:solidFill>
              </a:defRPr>
            </a:lvl2pPr>
            <a:lvl3pPr marL="1219170" indent="0">
              <a:buNone/>
              <a:defRPr sz="1867">
                <a:solidFill>
                  <a:schemeClr val="bg1"/>
                </a:solidFill>
              </a:defRPr>
            </a:lvl3pPr>
            <a:lvl4pPr marL="1828754" indent="0">
              <a:buNone/>
              <a:defRPr sz="1867">
                <a:solidFill>
                  <a:schemeClr val="bg1"/>
                </a:solidFill>
              </a:defRPr>
            </a:lvl4pPr>
            <a:lvl5pPr marL="2438339" indent="0">
              <a:buNone/>
              <a:defRPr sz="1867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or caption</a:t>
            </a:r>
            <a:endParaRPr lang="en-L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62020E-5DEC-3DC4-EC6C-629CB6E583B1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U" sz="24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B0AB515-4280-CF6B-A580-EC2D57DE345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653015" y="721785"/>
            <a:ext cx="4981971" cy="5014383"/>
          </a:xfrm>
        </p:spPr>
        <p:txBody>
          <a:bodyPr>
            <a:normAutofit/>
          </a:bodyPr>
          <a:lstStyle>
            <a:lvl1pPr>
              <a:buClr>
                <a:schemeClr val="bg1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24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24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2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8499214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4E6B3-010F-DD09-798B-9B0673EA6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6185"/>
            <a:ext cx="10515600" cy="132503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117DF-268B-9AE4-0352-80145A003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0634"/>
            <a:ext cx="5158316" cy="8255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933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62ABD-3F34-1C44-9C58-FB1CDDBE9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6133"/>
            <a:ext cx="5158316" cy="3683000"/>
          </a:xfrm>
        </p:spPr>
        <p:txBody>
          <a:bodyPr/>
          <a:lstStyle>
            <a:lvl1pPr>
              <a:defRPr sz="2933"/>
            </a:lvl1pPr>
            <a:lvl2pPr>
              <a:defRPr sz="2667"/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en-L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4F218A-A2C8-FE06-A78F-A116E25F8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0634"/>
            <a:ext cx="5183717" cy="8255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933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5BB12-4435-AB55-4224-FBBB266FC9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6133"/>
            <a:ext cx="5183717" cy="36830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en-L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341713-18F8-9368-1AB9-6B756B2A9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5BB221-3826-6CD1-A8B0-57351E17A4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4649980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658DA-9633-A419-9175-69A438A66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67"/>
            </a:lvl1pPr>
          </a:lstStyle>
          <a:p>
            <a:r>
              <a:rPr lang="en-GB" dirty="0"/>
              <a:t>Click to edit Master title style</a:t>
            </a:r>
            <a:endParaRPr lang="en-L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CEF16-2079-7A62-2E14-200A4908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AC1479A-A4F1-508A-C419-807EB18CB6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4263975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08A63-3242-929F-9BCE-7C365F84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084E4B1-50DF-5FA9-B73D-29A37B83EB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37241205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13608-4B0D-40BF-A439-7BF3CE825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054" y="988485"/>
            <a:ext cx="5755863" cy="48725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en-L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24F59-D944-01C5-8E6D-EEE9C6791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114D-ED23-2A43-BD26-04D629DC704A}" type="slidenum">
              <a:rPr lang="en-LU" smtClean="0"/>
              <a:t>‹#›</a:t>
            </a:fld>
            <a:endParaRPr lang="en-LU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C9509BE-F720-ADCB-B3F1-CF5D9B27B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16667" y="6356352"/>
            <a:ext cx="3699933" cy="219181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9585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219170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828754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438339" indent="0">
              <a:buNone/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Insert here the title of the presentation</a:t>
            </a:r>
            <a:endParaRPr lang="en-L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FB1D257-B025-B885-922C-97A322BB52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5601" y="1246131"/>
            <a:ext cx="4081007" cy="895420"/>
          </a:xfrm>
        </p:spPr>
        <p:txBody>
          <a:bodyPr lIns="0" tIns="0" rIns="0" bIns="0" anchor="t" anchorCtr="0"/>
          <a:lstStyle>
            <a:lvl1pPr>
              <a:defRPr sz="3200">
                <a:solidFill>
                  <a:srgbClr val="F15A24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LU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9CB858E-DBBD-00EB-DDB2-5F5317FC59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5600" y="2289977"/>
            <a:ext cx="4080933" cy="243865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867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585" indent="0">
              <a:buNone/>
              <a:defRPr sz="1867">
                <a:solidFill>
                  <a:schemeClr val="bg1"/>
                </a:solidFill>
              </a:defRPr>
            </a:lvl2pPr>
            <a:lvl3pPr marL="1219170" indent="0">
              <a:buNone/>
              <a:defRPr sz="1867">
                <a:solidFill>
                  <a:schemeClr val="bg1"/>
                </a:solidFill>
              </a:defRPr>
            </a:lvl3pPr>
            <a:lvl4pPr marL="1828754" indent="0">
              <a:buNone/>
              <a:defRPr sz="1867">
                <a:solidFill>
                  <a:schemeClr val="bg1"/>
                </a:solidFill>
              </a:defRPr>
            </a:lvl4pPr>
            <a:lvl5pPr marL="2438339" indent="0">
              <a:buNone/>
              <a:defRPr sz="1867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or caption</a:t>
            </a:r>
            <a:endParaRPr lang="en-LU" dirty="0"/>
          </a:p>
        </p:txBody>
      </p:sp>
    </p:spTree>
    <p:extLst>
      <p:ext uri="{BB962C8B-B14F-4D97-AF65-F5344CB8AC3E}">
        <p14:creationId xmlns:p14="http://schemas.microsoft.com/office/powerpoint/2010/main" val="2501228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cover (option 2)" preserve="1">
  <p:cSld name="Chapter cover (option 2)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ctrTitle"/>
          </p:nvPr>
        </p:nvSpPr>
        <p:spPr>
          <a:xfrm>
            <a:off x="1077013" y="1122363"/>
            <a:ext cx="10284602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74B0"/>
              </a:buClr>
              <a:buSzPts val="6000"/>
              <a:buFont typeface="Arial"/>
              <a:buNone/>
              <a:defRPr sz="6000" b="0" i="0" u="none" strike="noStrike" cap="none">
                <a:solidFill>
                  <a:srgbClr val="2174B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ubTitle" idx="1"/>
          </p:nvPr>
        </p:nvSpPr>
        <p:spPr>
          <a:xfrm>
            <a:off x="1070189" y="3602038"/>
            <a:ext cx="10284602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91C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2B91C5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39" name="Google Shape;39;p12"/>
          <p:cNvCxnSpPr/>
          <p:nvPr/>
        </p:nvCxnSpPr>
        <p:spPr>
          <a:xfrm>
            <a:off x="838200" y="0"/>
            <a:ext cx="0" cy="3478213"/>
          </a:xfrm>
          <a:prstGeom prst="straightConnector1">
            <a:avLst/>
          </a:prstGeom>
          <a:noFill/>
          <a:ln w="28575" cap="flat" cmpd="sng">
            <a:solidFill>
              <a:srgbClr val="2174B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0" name="Google Shape;40;p1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45929" y="6193922"/>
            <a:ext cx="1718512" cy="4511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4630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10" Type="http://schemas.openxmlformats.org/officeDocument/2006/relationships/image" Target="../media/image9.emf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2860"/>
            <a:ext cx="10515600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13128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C79FD-C571-418B-AB0F-5EE936C85276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33852" y="6045988"/>
            <a:ext cx="1715733" cy="45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9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  <p:sldLayoutId id="2147483908" r:id="rId14"/>
    <p:sldLayoutId id="2147483909" r:id="rId15"/>
    <p:sldLayoutId id="2147483910" r:id="rId16"/>
    <p:sldLayoutId id="2147483911" r:id="rId17"/>
    <p:sldLayoutId id="2147483912" r:id="rId18"/>
    <p:sldLayoutId id="2147483913" r:id="rId19"/>
    <p:sldLayoutId id="2147483914" r:id="rId20"/>
    <p:sldLayoutId id="2147483915" r:id="rId21"/>
    <p:sldLayoutId id="2147483916" r:id="rId22"/>
    <p:sldLayoutId id="2147483917" r:id="rId23"/>
    <p:sldLayoutId id="2147483918" r:id="rId2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8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1BB65F-2D78-DF4F-2045-4DFB8E087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7659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L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6D873-08AA-B05E-EEF2-26580979A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54667"/>
            <a:ext cx="10515600" cy="4821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L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46212-B238-640A-F74A-CA77B643E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18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F67114D-ED23-2A43-BD26-04D629DC704A}" type="slidenum">
              <a:rPr lang="en-LU" smtClean="0"/>
              <a:pPr/>
              <a:t>‹#›</a:t>
            </a:fld>
            <a:endParaRPr lang="en-L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E85B63-11E9-0513-CDFE-D20C89768ACD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38201" y="6356351"/>
            <a:ext cx="1112761" cy="18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13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333" kern="1200">
          <a:solidFill>
            <a:srgbClr val="F15A24"/>
          </a:solidFill>
          <a:latin typeface="+mn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Clr>
          <a:srgbClr val="F15A24"/>
        </a:buClr>
        <a:buFont typeface="Arial" panose="020B0604020202020204" pitchFamily="34" charset="0"/>
        <a:buChar char="•"/>
        <a:defRPr sz="3733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F15A24"/>
        </a:buClr>
        <a:buFont typeface="Arial" panose="020B0604020202020204" pitchFamily="34" charset="0"/>
        <a:buChar char="•"/>
        <a:defRPr sz="3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F15A24"/>
        </a:buClr>
        <a:buFont typeface="Arial" panose="020B0604020202020204" pitchFamily="34" charset="0"/>
        <a:buChar char="•"/>
        <a:defRPr sz="2667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F15A24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Clr>
          <a:srgbClr val="F15A24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 descr="EC-JRC-logo_horizontal_EN_pos_transparent-background.png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45929" y="6177847"/>
            <a:ext cx="1727997" cy="46722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>
            <a:spLocks noGrp="1"/>
          </p:cNvSpPr>
          <p:nvPr>
            <p:ph type="sldNum" idx="12"/>
          </p:nvPr>
        </p:nvSpPr>
        <p:spPr>
          <a:xfrm>
            <a:off x="838200" y="625429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949494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949494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37205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94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joint-research-centre.ec.europa.eu/index_en" TargetMode="External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1589" y="2095624"/>
            <a:ext cx="10114571" cy="2249334"/>
          </a:xfrm>
        </p:spPr>
        <p:txBody>
          <a:bodyPr lIns="0" tIns="45720" rIns="91440" bIns="45720" anchor="b">
            <a:noAutofit/>
          </a:bodyPr>
          <a:lstStyle/>
          <a:p>
            <a:r>
              <a:rPr lang="en-GB" sz="5400" b="1" dirty="0"/>
              <a:t>ISO &amp; GeoDCAT-AP pilot</a:t>
            </a:r>
            <a:br>
              <a:rPr lang="en-GB" sz="4000" dirty="0"/>
            </a:br>
            <a:r>
              <a:rPr lang="en-GB" sz="3600" dirty="0"/>
              <a:t>Working Team T1-B Kick off meeting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6389" y="4836407"/>
            <a:ext cx="10011597" cy="1006726"/>
          </a:xfrm>
        </p:spPr>
        <p:txBody>
          <a:bodyPr lIns="0" tIns="45720" rIns="91440" bIns="4572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GB" sz="2200" dirty="0">
                <a:solidFill>
                  <a:srgbClr val="F8CC29"/>
                </a:solidFill>
                <a:ea typeface="+mn-lt"/>
                <a:cs typeface="+mn-lt"/>
              </a:rPr>
              <a:t>ISO &amp; GeoDCAT-AP Pilot - Phase 2. T1-B Kick-off meeting – February 26, 2026</a:t>
            </a:r>
            <a:endParaRPr lang="en-GB" dirty="0">
              <a:cs typeface="Arial"/>
            </a:endParaRPr>
          </a:p>
          <a:p>
            <a:endParaRPr lang="en-GB" dirty="0">
              <a:cs typeface="Arial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sz="2000" dirty="0"/>
              <a:t>Jordi Escriu</a:t>
            </a:r>
          </a:p>
          <a:p>
            <a:r>
              <a:rPr lang="en-GB" sz="2000" dirty="0">
                <a:cs typeface="Arial"/>
              </a:rPr>
              <a:t>European Commission, Joint Research Centre</a:t>
            </a:r>
          </a:p>
        </p:txBody>
      </p:sp>
    </p:spTree>
    <p:extLst>
      <p:ext uri="{BB962C8B-B14F-4D97-AF65-F5344CB8AC3E}">
        <p14:creationId xmlns:p14="http://schemas.microsoft.com/office/powerpoint/2010/main" val="1306284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15E15A-5AFA-F9F1-1F8F-8618F7C71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45920"/>
            <a:ext cx="10905699" cy="3881904"/>
          </a:xfrm>
        </p:spPr>
        <p:txBody>
          <a:bodyPr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en-GB" dirty="0"/>
              <a:t>Welcome</a:t>
            </a:r>
          </a:p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en-GB" dirty="0"/>
              <a:t>Pilot Phase 2 Working Teams - Objectives &amp; Set up (JRC) – 10’</a:t>
            </a:r>
          </a:p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en-GB" dirty="0"/>
              <a:t>T-1B Objectives &amp; Tasks 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GB" dirty="0"/>
              <a:t>Agreement on a good practice for describing Data Services / APIs (FI &amp; DK &amp; JRC) – 25’</a:t>
            </a:r>
          </a:p>
          <a:p>
            <a:pPr lvl="2">
              <a:spcBef>
                <a:spcPts val="300"/>
              </a:spcBef>
              <a:spcAft>
                <a:spcPts val="300"/>
              </a:spcAft>
            </a:pPr>
            <a:r>
              <a:rPr lang="en-GB" dirty="0"/>
              <a:t>Discussion (All) - ~15’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GB" dirty="0"/>
              <a:t>Analysis of potential metadata information losses in the ISO-to-GeoDCAT-AP transformation (ES &amp; JRC) – 15’</a:t>
            </a:r>
          </a:p>
          <a:p>
            <a:pPr lvl="2">
              <a:spcBef>
                <a:spcPts val="300"/>
              </a:spcBef>
              <a:spcAft>
                <a:spcPts val="300"/>
              </a:spcAft>
            </a:pPr>
            <a:r>
              <a:rPr lang="en-GB" dirty="0"/>
              <a:t>Discussion (All) - ~15’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GB" dirty="0"/>
              <a:t>Drafting of the Geospatial High-Value Datasets tagging good practice specification (IT &amp; JRC) – 15’</a:t>
            </a:r>
          </a:p>
          <a:p>
            <a:pPr lvl="2">
              <a:spcBef>
                <a:spcPts val="300"/>
              </a:spcBef>
              <a:spcAft>
                <a:spcPts val="300"/>
              </a:spcAft>
            </a:pPr>
            <a:r>
              <a:rPr lang="en-GB" dirty="0"/>
              <a:t>Discussion (All) - ~15’</a:t>
            </a:r>
          </a:p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en-GB" dirty="0"/>
              <a:t>Summary of actions from the meeting (JRC) – 10’</a:t>
            </a:r>
          </a:p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en-GB" dirty="0"/>
              <a:t>AoB (All)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D787B81-9E58-8267-F376-A07B6CC1A05F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03955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T1-A Kick off meeting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32593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E0856E-972F-BA8D-5A92-CEFF11458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GB" b="1" dirty="0">
                <a:solidFill>
                  <a:srgbClr val="002060"/>
                </a:solidFill>
              </a:rPr>
              <a:t>Working Team T-1A</a:t>
            </a:r>
          </a:p>
          <a:p>
            <a:pPr marL="233363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/>
              <a:t>Management of geospatial metadata harvesting and reporting issues.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Objective</a:t>
            </a:r>
            <a:r>
              <a:rPr lang="en-US" dirty="0"/>
              <a:t>: A forum for discussing issues, submitted (or to be submitted) to the relevant SEMIC GitHub repositories in the scope of geospatial datasets reporting (ISO / INSPIRE to GeoDCAT-AP), including geospatial High-Value Datasets.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Tasks</a:t>
            </a:r>
            <a:r>
              <a:rPr lang="en-US" dirty="0"/>
              <a:t>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Identification of potential harvesting and reporting issues in the SEMIC repositories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Community discussion and agreement on targeted solutions in GeoDCAT-AP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GeoDCAT-AP specification and XSLT transformation updates (by SEMIC)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Inputs for / Outputs from T-1B working team</a:t>
            </a:r>
          </a:p>
          <a:p>
            <a:endParaRPr lang="en-GB" noProof="0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63B836DA-1FED-2588-5A15-2580F13449B4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03955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Pilot Phase 2 Working Teams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034EA2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Objectives &amp; Set up</a:t>
            </a:r>
          </a:p>
        </p:txBody>
      </p:sp>
    </p:spTree>
    <p:extLst>
      <p:ext uri="{BB962C8B-B14F-4D97-AF65-F5344CB8AC3E}">
        <p14:creationId xmlns:p14="http://schemas.microsoft.com/office/powerpoint/2010/main" val="3099278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F5DFD-6F68-A454-A94A-459E6AA82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0DC397-DCC5-B473-47B5-DCD338697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GB" b="1" dirty="0">
                <a:solidFill>
                  <a:srgbClr val="002060"/>
                </a:solidFill>
              </a:rPr>
              <a:t>Working Team T-1B</a:t>
            </a:r>
          </a:p>
          <a:p>
            <a:pPr marL="233363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/>
              <a:t>Specific analysis and good practices for INSPIRE-data.europa.eu alignment.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Objective</a:t>
            </a:r>
            <a:r>
              <a:rPr lang="en-US" dirty="0"/>
              <a:t>: Team for performing specific analysis, discussing on and formalising common good practices in the scope of the alignment and integration of INSPIRE into data.europa.eu.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Tasks</a:t>
            </a:r>
            <a:r>
              <a:rPr lang="en-US" dirty="0"/>
              <a:t>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Drafting the Geospatial High-Value Datasets tagging good practice specification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Analysis of potential metadata information losses (ISO-to-GeoDCAT-AP transformation)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Agreement on a good practice for describing Data Services / APIs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Discussion the need to cover (selected) remaining gaps.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Inputs for / Outputs from T-1A working team</a:t>
            </a:r>
          </a:p>
          <a:p>
            <a:endParaRPr lang="en-GB" noProof="0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9BC8AEB2-72BC-1CE3-4D2B-DBC9D45387D2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03955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Pilot Phase 2 Working Teams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034EA2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Objectives &amp; Set up</a:t>
            </a:r>
          </a:p>
        </p:txBody>
      </p:sp>
    </p:spTree>
    <p:extLst>
      <p:ext uri="{BB962C8B-B14F-4D97-AF65-F5344CB8AC3E}">
        <p14:creationId xmlns:p14="http://schemas.microsoft.com/office/powerpoint/2010/main" val="3595574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424C-9C51-0413-4BA3-39B809BFA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5EA809-C6A4-340A-6942-7892CA8F7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GB" b="1" dirty="0">
                <a:solidFill>
                  <a:srgbClr val="002060"/>
                </a:solidFill>
              </a:rPr>
              <a:t>Working Team T-2</a:t>
            </a:r>
          </a:p>
          <a:p>
            <a:pPr marL="233363" indent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dirty="0"/>
              <a:t>Exploration of the use of AI-powered tools for metadata management.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Objective</a:t>
            </a:r>
            <a:r>
              <a:rPr lang="en-US" dirty="0"/>
              <a:t>: Team to explore and support the use of AI-assisted tools in metadata generation, and other potential uses in metadata management tasks.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i="1" dirty="0">
                <a:solidFill>
                  <a:srgbClr val="0000CC"/>
                </a:solidFill>
              </a:rPr>
              <a:t>Tasks</a:t>
            </a:r>
            <a:r>
              <a:rPr lang="en-US" dirty="0"/>
              <a:t>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Exploration and testing of AI-assisted tools for metadata generation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Identification of other areas where AI-assisted tools may be used to support metadata management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Other tasks (to be agreed)</a:t>
            </a:r>
            <a:endParaRPr lang="en-GB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ABA0C9D0-8762-674E-FC89-7EAE2A26EB4F}"/>
              </a:ext>
            </a:extLst>
          </p:cNvPr>
          <p:cNvSpPr txBox="1">
            <a:spLocks/>
          </p:cNvSpPr>
          <p:nvPr/>
        </p:nvSpPr>
        <p:spPr>
          <a:xfrm>
            <a:off x="970720" y="575220"/>
            <a:ext cx="9039553" cy="782357"/>
          </a:xfrm>
          <a:prstGeom prst="rect">
            <a:avLst/>
          </a:prstGeom>
        </p:spPr>
        <p:txBody>
          <a:bodyPr vert="horz" lIns="91440" tIns="4572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34EA2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Pilot Phase 2 Working Teams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srgbClr val="034EA2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19AFEC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Objectives &amp; Set up</a:t>
            </a:r>
          </a:p>
        </p:txBody>
      </p:sp>
    </p:spTree>
    <p:extLst>
      <p:ext uri="{BB962C8B-B14F-4D97-AF65-F5344CB8AC3E}">
        <p14:creationId xmlns:p14="http://schemas.microsoft.com/office/powerpoint/2010/main" val="828795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2800" y="1146427"/>
            <a:ext cx="10800760" cy="1240348"/>
          </a:xfrm>
        </p:spPr>
        <p:txBody>
          <a:bodyPr/>
          <a:lstStyle/>
          <a:p>
            <a:r>
              <a:rPr lang="en-GB" dirty="0"/>
              <a:t>Thank you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084385" y="4594523"/>
            <a:ext cx="10003692" cy="1261523"/>
          </a:xfrm>
        </p:spPr>
        <p:txBody>
          <a:bodyPr wrap="square" anchor="b" anchorCtr="0"/>
          <a:lstStyle/>
          <a:p>
            <a:r>
              <a:rPr lang="en-US" sz="1050" dirty="0"/>
              <a:t>This presentation has been prepared for internal purposes. The information and views expressed in it do not necessarily reflect an official position </a:t>
            </a:r>
            <a:br>
              <a:rPr lang="en-US" sz="1050" dirty="0"/>
            </a:br>
            <a:r>
              <a:rPr lang="en-US" sz="1050" dirty="0"/>
              <a:t>of the European Commission or of the European Union.</a:t>
            </a:r>
          </a:p>
          <a:p>
            <a:r>
              <a:rPr lang="en-US" sz="1050" dirty="0"/>
              <a:t>Except otherwise noted, © European Union (year). All Rights Reserved</a:t>
            </a: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98" t="-1225" r="87932" b="64001"/>
          <a:stretch>
            <a:fillRect/>
          </a:stretch>
        </p:blipFill>
        <p:spPr bwMode="auto">
          <a:xfrm>
            <a:off x="1162161" y="6053822"/>
            <a:ext cx="478965" cy="48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Follow the EU Science Hub in Twitter, Facebook, LinkedIn, YouTube and Instagram.">
            <a:hlinkClick r:id="rId3"/>
            <a:extLst>
              <a:ext uri="{FF2B5EF4-FFF2-40B4-BE49-F238E27FC236}">
                <a16:creationId xmlns:a16="http://schemas.microsoft.com/office/drawing/2014/main" id="{487DCD04-8042-2943-24BE-BFEF305A34F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661"/>
          <a:stretch/>
        </p:blipFill>
        <p:spPr>
          <a:xfrm>
            <a:off x="1672517" y="6127512"/>
            <a:ext cx="2415311" cy="42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716185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C_Corporate_PPT_Template.potx" id="{4E874F3A-6BB1-4334-AA3C-CB69D53C2FB0}" vid="{CFDAC62F-BBD6-4674-995E-7A3058955A70}"/>
    </a:ext>
  </a:extLst>
</a:theme>
</file>

<file path=ppt/theme/theme2.xml><?xml version="1.0" encoding="utf-8"?>
<a:theme xmlns:a="http://schemas.openxmlformats.org/drawingml/2006/main" name="Custom Design">
  <a:themeElements>
    <a:clrScheme name="Gre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DORSE2023_Presentation-2" id="{DA9775EB-FAC1-594C-B775-D48E2963E454}" vid="{2915585B-38F4-A94E-9D3B-6EEF8714BCBE}"/>
    </a:ext>
  </a:extLst>
</a:theme>
</file>

<file path=ppt/theme/theme3.xml><?xml version="1.0" encoding="utf-8"?>
<a:theme xmlns:a="http://schemas.openxmlformats.org/drawingml/2006/main" name="4_Office Theme">
  <a:themeElements>
    <a:clrScheme name="JRC palette 1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6ACBF3"/>
      </a:accent1>
      <a:accent2>
        <a:srgbClr val="3E99DA"/>
      </a:accent2>
      <a:accent3>
        <a:srgbClr val="1EC08A"/>
      </a:accent3>
      <a:accent4>
        <a:srgbClr val="ED8D2F"/>
      </a:accent4>
      <a:accent5>
        <a:srgbClr val="F8CC29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8100">
          <a:solidFill>
            <a:srgbClr val="C00000"/>
          </a:solidFill>
          <a:prstDash val="dash"/>
          <a:tailEnd type="stealth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0AE5E838868A4F9CB50E4B4AF23413" ma:contentTypeVersion="8" ma:contentTypeDescription="Crear nuevo documento." ma:contentTypeScope="" ma:versionID="b24284dd4abcc89d9217181297068152">
  <xsd:schema xmlns:xsd="http://www.w3.org/2001/XMLSchema" xmlns:xs="http://www.w3.org/2001/XMLSchema" xmlns:p="http://schemas.microsoft.com/office/2006/metadata/properties" xmlns:ns3="1f6ebdee-899d-4fbd-8aeb-5a868fd22bdd" targetNamespace="http://schemas.microsoft.com/office/2006/metadata/properties" ma:root="true" ma:fieldsID="2102f8778d1be1b8402cbd5fe9ff8ed2" ns3:_="">
    <xsd:import namespace="1f6ebdee-899d-4fbd-8aeb-5a868fd22bd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6ebdee-899d-4fbd-8aeb-5a868fd22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11B7F48-2441-489A-AAC1-B0F448FE55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D261EA-B4EC-407F-B33E-C4345B7AC4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6ebdee-899d-4fbd-8aeb-5a868fd22b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C515D3-7E4B-4E1F-8E41-BBB0172549BD}">
  <ds:schemaRefs>
    <ds:schemaRef ds:uri="http://purl.org/dc/elements/1.1/"/>
    <ds:schemaRef ds:uri="http://purl.org/dc/terms/"/>
    <ds:schemaRef ds:uri="1f6ebdee-899d-4fbd-8aeb-5a868fd22bdd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3886</TotalTime>
  <Words>512</Words>
  <Application>Microsoft Office PowerPoint</Application>
  <PresentationFormat>Widescreen</PresentationFormat>
  <Paragraphs>52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5_Office Theme</vt:lpstr>
      <vt:lpstr>Custom Design</vt:lpstr>
      <vt:lpstr>4_Office Theme</vt:lpstr>
      <vt:lpstr>ISO &amp; GeoDCAT-AP pilot Working Team T1-B Kick off meeting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Antonio Pellicer</dc:creator>
  <cp:lastModifiedBy>ESCRIU Jordi (JRC-ISPRA)</cp:lastModifiedBy>
  <cp:revision>284</cp:revision>
  <dcterms:created xsi:type="dcterms:W3CDTF">2019-08-05T08:54:17Z</dcterms:created>
  <dcterms:modified xsi:type="dcterms:W3CDTF">2026-02-26T08:14:14Z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0x010100FF0AE5E838868A4F9CB50E4B4AF23413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2025-06-26T13:28:43Z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dfba9362-4949-4fa4-9af3-27a0338a5059</vt:lpwstr>
  </property>
  <property fmtid="{D5CDD505-2E9C-101B-9397-08002B2CF9AE}" pid="9" name="MSIP_Label_6bd9ddd1-4d20-43f6-abfa-fc3c07406f94_ContentBits">
    <vt:lpwstr>0</vt:lpwstr>
  </property>
</Properties>
</file>