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4"/>
    <p:sldMasterId id="2147483936" r:id="rId5"/>
    <p:sldMasterId id="2147483945" r:id="rId6"/>
  </p:sldMasterIdLst>
  <p:notesMasterIdLst>
    <p:notesMasterId r:id="rId13"/>
  </p:notesMasterIdLst>
  <p:handoutMasterIdLst>
    <p:handoutMasterId r:id="rId14"/>
  </p:handoutMasterIdLst>
  <p:sldIdLst>
    <p:sldId id="326" r:id="rId7"/>
    <p:sldId id="408" r:id="rId8"/>
    <p:sldId id="409" r:id="rId9"/>
    <p:sldId id="410" r:id="rId10"/>
    <p:sldId id="411" r:id="rId11"/>
    <p:sldId id="32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19AFEC"/>
    <a:srgbClr val="090F16"/>
    <a:srgbClr val="034EA2"/>
    <a:srgbClr val="2174B0"/>
    <a:srgbClr val="0000FF"/>
    <a:srgbClr val="0070C0"/>
    <a:srgbClr val="F8CC29"/>
    <a:srgbClr val="000000"/>
    <a:srgbClr val="101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785BA-4363-4A06-BC3D-8645B247EF84}" v="7" dt="2025-09-18T18:25:3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83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4CBD34-6D1E-4413-84E4-6A40AF026C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ABD91D-22C6-451C-B3C9-A4AB97CD8A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C6F47-7618-4C0A-96D1-C3A76407F921}" type="datetimeFigureOut">
              <a:rPr lang="es-ES" smtClean="0"/>
              <a:t>12/03/2026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116845-2A31-4B34-9737-ADE928EC7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62F2EF-0F17-49FA-A192-50836D328D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A45D2-FCC8-4AB7-A8BC-043BA38FD2A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2632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4FB-D810-4C9E-9E50-17CEE17835DB}" type="datetimeFigureOut">
              <a:rPr lang="es-ES" smtClean="0"/>
              <a:pPr/>
              <a:t>12/03/2026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4304E-8E33-4C56-AEFD-D02A6B406D09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48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Cover slide option 1. Check layout for option 2 without the banner and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F2995-AB43-4B7C-B8CD-9DC7C3692A9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11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3"/>
            <a:ext cx="12192000" cy="5779827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084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0288"/>
            <a:ext cx="12192000" cy="5018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4"/>
            <a:ext cx="12192000" cy="28908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872647"/>
          </a:xfrm>
        </p:spPr>
        <p:txBody>
          <a:bodyPr anchor="t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3067468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783535"/>
            <a:ext cx="5040313" cy="528998"/>
          </a:xfrm>
        </p:spPr>
        <p:txBody>
          <a:bodyPr anchor="b" anchorCtr="0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548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2219"/>
            <a:ext cx="12192000" cy="6059194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289" y="1078173"/>
            <a:ext cx="12197346" cy="5783239"/>
          </a:xfrm>
          <a:prstGeom prst="rect">
            <a:avLst/>
          </a:prstGeom>
          <a:solidFill>
            <a:srgbClr val="024EA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 wrap="none"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16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 wrap="none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677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0189" y="1122363"/>
            <a:ext cx="1067603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676038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7715" y="6045257"/>
            <a:ext cx="1718512" cy="45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865"/>
            <a:ext cx="1716200" cy="45054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156297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24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627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2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5699" cy="38819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00000"/>
              </a:lnSpc>
              <a:spcAft>
                <a:spcPts val="1800"/>
              </a:spcAft>
              <a:defRPr/>
            </a:lvl2pPr>
            <a:lvl3pPr>
              <a:lnSpc>
                <a:spcPct val="100000"/>
              </a:lnSpc>
              <a:spcAft>
                <a:spcPts val="1800"/>
              </a:spcAft>
              <a:defRPr/>
            </a:lvl3pPr>
            <a:lvl4pPr>
              <a:lnSpc>
                <a:spcPct val="100000"/>
              </a:lnSpc>
              <a:spcAft>
                <a:spcPts val="1800"/>
              </a:spcAft>
              <a:defRPr/>
            </a:lvl4pPr>
            <a:lvl5pPr>
              <a:lnSpc>
                <a:spcPct val="100000"/>
              </a:lnSpc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/>
            </a:lvl2pPr>
            <a:lvl3pPr>
              <a:spcAft>
                <a:spcPts val="1800"/>
              </a:spcAft>
              <a:defRPr/>
            </a:lvl3pPr>
            <a:lvl4pPr>
              <a:spcAft>
                <a:spcPts val="1800"/>
              </a:spcAft>
              <a:defRPr/>
            </a:lvl4pPr>
            <a:lvl5pPr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  <a:noFill/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493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87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6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604979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8371761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810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noFill/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41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010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59635" y="-59635"/>
            <a:ext cx="6155635" cy="6983896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447" y="743802"/>
            <a:ext cx="544923" cy="54492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8331" y="1992572"/>
            <a:ext cx="8226040" cy="3616657"/>
          </a:xfrm>
          <a:solidFill>
            <a:schemeClr val="bg1"/>
          </a:solidFill>
        </p:spPr>
        <p:txBody>
          <a:bodyPr lIns="360000" tIns="360000" rIns="360000" bIns="360000" anchor="ctr" anchorCtr="0">
            <a:noAutofit/>
          </a:bodyPr>
          <a:lstStyle>
            <a:lvl1pPr marL="0" indent="0">
              <a:buFontTx/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31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7056" y="1825625"/>
            <a:ext cx="4926841" cy="3769957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817056" y="482860"/>
            <a:ext cx="4669266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46383" y="-46383"/>
            <a:ext cx="6142383" cy="6964017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79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0722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01451" y="2284668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36086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206774" y="403868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72139" y="404194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37503" y="4037437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1624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13869" y="2159957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713868" y="3968881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24547" y="2159956"/>
            <a:ext cx="2461593" cy="163815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935227" y="3968880"/>
            <a:ext cx="2520000" cy="1638158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1033617" y="2159957"/>
            <a:ext cx="2520000" cy="1638159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324549" y="3968880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1033617" y="3968881"/>
            <a:ext cx="2520000" cy="1638158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8966322" y="2159956"/>
            <a:ext cx="2520000" cy="1638159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507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6643"/>
            <a:ext cx="10515600" cy="78235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38200" y="3630613"/>
            <a:ext cx="10515600" cy="2035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29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47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/>
          <a:stretch/>
        </p:blipFill>
        <p:spPr>
          <a:xfrm>
            <a:off x="0" y="0"/>
            <a:ext cx="12200290" cy="689329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0400" y="1457269"/>
            <a:ext cx="7324004" cy="2249334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06092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06092" y="5399738"/>
            <a:ext cx="5724000" cy="684000"/>
          </a:xfrm>
          <a:prstGeom prst="rect">
            <a:avLst/>
          </a:prstGeom>
        </p:spPr>
        <p:txBody>
          <a:bodyPr lIns="0" tIns="0"/>
          <a:lstStyle>
            <a:lvl1pPr marL="0" indent="0" algn="l">
              <a:spcAft>
                <a:spcPts val="400"/>
              </a:spcAft>
              <a:buFont typeface="Arial" panose="020B0604020202020204" pitchFamily="34" charset="0"/>
              <a:buNone/>
              <a:defRPr sz="19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Speaker</a:t>
            </a:r>
            <a:br>
              <a:rPr lang="en-GB" noProof="0" dirty="0"/>
            </a:br>
            <a:r>
              <a:rPr lang="en-GB" noProof="0" dirty="0"/>
              <a:t>Venue and date</a:t>
            </a:r>
          </a:p>
        </p:txBody>
      </p:sp>
    </p:spTree>
    <p:extLst>
      <p:ext uri="{BB962C8B-B14F-4D97-AF65-F5344CB8AC3E}">
        <p14:creationId xmlns:p14="http://schemas.microsoft.com/office/powerpoint/2010/main" val="2888875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0" hasCustomPrompt="1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 pitchFamily="34" charset="0"/>
              <a:buNone/>
              <a:defRPr baseline="0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/>
              <a:buNone/>
              <a:defRPr strike="noStrike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62213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buClr>
                <a:schemeClr val="accent5"/>
              </a:buClr>
              <a:buFont typeface="Arial"/>
              <a:buNone/>
              <a:defRPr baseline="0"/>
            </a:lvl1pPr>
            <a:lvl2pPr>
              <a:buClr>
                <a:schemeClr val="accent5"/>
              </a:buClr>
              <a:buNone/>
              <a:defRPr/>
            </a:lvl2pPr>
            <a:lvl3pPr>
              <a:buClr>
                <a:schemeClr val="accent5"/>
              </a:buClr>
              <a:buNone/>
              <a:defRPr/>
            </a:lvl3pPr>
            <a:lvl4pPr>
              <a:buClr>
                <a:schemeClr val="accent5"/>
              </a:buClr>
              <a:buNone/>
              <a:defRPr/>
            </a:lvl4pPr>
            <a:lvl5pPr>
              <a:buClr>
                <a:schemeClr val="accent5"/>
              </a:buClr>
              <a:buNone/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064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noProof="0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84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0430CE-3EAA-0F5F-3032-04C3EBD4B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4290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1072800" y="1122363"/>
            <a:ext cx="10800760" cy="124034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2732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9C2F-5D28-A54A-50E0-A4833437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749" y="2544416"/>
            <a:ext cx="10442049" cy="165523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9031-1086-D01F-D348-6DCC8117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749" y="4346714"/>
            <a:ext cx="10442048" cy="911087"/>
          </a:xfrm>
        </p:spPr>
        <p:txBody>
          <a:bodyPr/>
          <a:lstStyle>
            <a:lvl1pPr marL="0" indent="0" algn="l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 dirty="0"/>
              <a:t>Click to edit Master subtitle style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2F3C-0F34-8277-D84E-22364585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1881" y="6356352"/>
            <a:ext cx="1101919" cy="219181"/>
          </a:xfrm>
        </p:spPr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F6E5A-5943-665E-2FE0-9FE8B8549E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4270562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D908-A0D1-D5E5-F832-59C5C0F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9DC9-B3EF-48E8-4FB6-A275F9BA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467"/>
            </a:lvl1pPr>
            <a:lvl2pPr>
              <a:defRPr sz="2933"/>
            </a:lvl2pPr>
            <a:lvl3pPr>
              <a:defRPr sz="2400"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848C-7C5F-FB69-368D-81B60EE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0C3C1B-EA5B-92F9-967F-4D0BDD453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88814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24BB82-A13F-7C3F-1F51-FDFCD1CF6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972047"/>
            <a:ext cx="6679096" cy="424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4076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284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5F0DC51F-A68F-E5E7-EA43-BCC3669E72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971711"/>
            <a:ext cx="6096000" cy="424798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154173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2020E-5DEC-3DC4-EC6C-629CB6E583B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B0AB515-4280-CF6B-A580-EC2D57DE34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53015" y="721785"/>
            <a:ext cx="4981971" cy="5014383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849921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E6B3-010F-DD09-798B-9B0673EA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117DF-268B-9AE4-0352-80145A003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62ABD-3F34-1C44-9C58-FB1CDDBE9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>
            <a:lvl1pPr>
              <a:defRPr sz="2933"/>
            </a:lvl1pPr>
            <a:lvl2pPr>
              <a:defRPr sz="2667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F218A-A2C8-FE06-A78F-A116E25F8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BB12-4435-AB55-4224-FBBB266FC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1713-18F8-9368-1AB9-6B756B2A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5BB221-3826-6CD1-A8B0-57351E17A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49980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58DA-9633-A419-9175-69A438A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CEF16-2079-7A62-2E14-200A4908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C1479A-A4F1-508A-C419-807EB18CB6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26397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08A63-3242-929F-9BCE-7C365F84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084E4B1-50DF-5FA9-B73D-29A37B83EB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37241205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3608-4B0D-40BF-A439-7BF3CE82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54" y="988485"/>
            <a:ext cx="5755863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4F59-D944-01C5-8E6D-EEE9C679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C9509BE-F720-ADCB-B3F1-CF5D9B27B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B1D257-B025-B885-922C-97A322BB5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9CB858E-DBBD-00EB-DDB2-5F5317FC5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501228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2)" preserve="1">
  <p:cSld name="Chapter cover (option 2)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28460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460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9" name="Google Shape;39;p12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0" name="Google Shape;40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463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9.emf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988"/>
            <a:ext cx="1715733" cy="4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  <p:sldLayoutId id="2147483915" r:id="rId21"/>
    <p:sldLayoutId id="2147483916" r:id="rId22"/>
    <p:sldLayoutId id="2147483917" r:id="rId23"/>
    <p:sldLayoutId id="2147483918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BB65F-2D78-DF4F-2045-4DFB8E08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765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D873-08AA-B05E-EEF2-26580979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4667"/>
            <a:ext cx="10515600" cy="4821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6212-B238-640A-F74A-CA77B643E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18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85B63-11E9-0513-CDFE-D20C89768AC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1" y="6356351"/>
            <a:ext cx="1112761" cy="1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>
          <a:solidFill>
            <a:srgbClr val="F15A24"/>
          </a:solidFill>
          <a:latin typeface="+mn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F15A24"/>
        </a:buClr>
        <a:buFont typeface="Arial" panose="020B0604020202020204" pitchFamily="34" charset="0"/>
        <a:buChar char="•"/>
        <a:defRPr sz="3733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6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94949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94949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7205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4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t-research-centre.ec.europa.eu/index_en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1589" y="2095624"/>
            <a:ext cx="10114571" cy="2249334"/>
          </a:xfrm>
        </p:spPr>
        <p:txBody>
          <a:bodyPr lIns="0" tIns="45720" rIns="91440" bIns="45720" anchor="b">
            <a:noAutofit/>
          </a:bodyPr>
          <a:lstStyle/>
          <a:p>
            <a:r>
              <a:rPr lang="en-GB" sz="5400" b="1" dirty="0"/>
              <a:t>ISO &amp; GeoDCAT-AP pilot</a:t>
            </a:r>
            <a:br>
              <a:rPr lang="en-GB" sz="4000" dirty="0"/>
            </a:br>
            <a:r>
              <a:rPr lang="en-GB" sz="3600" dirty="0"/>
              <a:t>Working Team T2 Kick off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389" y="4836407"/>
            <a:ext cx="10011597" cy="1006726"/>
          </a:xfrm>
        </p:spPr>
        <p:txBody>
          <a:bodyPr lIns="0" tIns="45720" rIns="91440" bIns="457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solidFill>
                  <a:srgbClr val="F8CC29"/>
                </a:solidFill>
                <a:ea typeface="+mn-lt"/>
                <a:cs typeface="+mn-lt"/>
              </a:rPr>
              <a:t>ISO &amp; GeoDCAT-AP Pilot - Phase 2. T2 Kick-off meeting – March 13, 2026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000" dirty="0"/>
              <a:t>Jordi </a:t>
            </a:r>
            <a:r>
              <a:rPr lang="en-GB" sz="2000" dirty="0" err="1"/>
              <a:t>Escriu</a:t>
            </a:r>
            <a:r>
              <a:rPr lang="en-GB" sz="2000" dirty="0"/>
              <a:t>, Margherita di Leo</a:t>
            </a:r>
          </a:p>
          <a:p>
            <a:r>
              <a:rPr lang="en-GB" sz="2000" dirty="0">
                <a:cs typeface="Arial"/>
              </a:rPr>
              <a:t>European Commission, Joint Research Centre</a:t>
            </a:r>
          </a:p>
        </p:txBody>
      </p:sp>
    </p:spTree>
    <p:extLst>
      <p:ext uri="{BB962C8B-B14F-4D97-AF65-F5344CB8AC3E}">
        <p14:creationId xmlns:p14="http://schemas.microsoft.com/office/powerpoint/2010/main" val="13062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5E15A-5AFA-F9F1-1F8F-8618F7C71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5920"/>
            <a:ext cx="10905699" cy="3881904"/>
          </a:xfr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Welcome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Pilot Phase 2 Working Teams - Objectives &amp; Set up (JRC) – 10’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T-2 Objectives, Strategy &amp; Tasks  (JRC / OP / SEMIC) – 10’ 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Discussion  (All) ~ 20’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AI- assisted metadata generation tool (JRC) – 20’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Discussion (All) ~ 20’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Summary of actions from the meeting (JRC) – 10’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GB" dirty="0"/>
              <a:t>AoB (All)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D787B81-9E58-8267-F376-A07B6CC1A05F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T2 Kick off meeting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2593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0856E-972F-BA8D-5A92-CEFF11458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T-1A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Management of geospatial metadata harvesting and reporting issues.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A forum for discussing issues, submitted (or to be submitted) to the relevant SEMIC GitHub repositories in the scope of geospatial datasets reporting (ISO / INSPIRE to GeoDCAT-AP), including geospatial High-Value Datasets.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Identification of potential harvesting and reporting issues in the SEMIC repositories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Community discussion and agreement on targeted solutions in GeoDCAT-AP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GeoDCAT-AP specification and XSLT transformation updates (by SEMIC)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Inputs for / Outputs from T-1B working team</a:t>
            </a:r>
          </a:p>
          <a:p>
            <a:endParaRPr lang="en-GB" noProof="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3B836DA-1FED-2588-5A15-2580F13449B4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309927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5DFD-6F68-A454-A94A-459E6AA8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0DC397-DCC5-B473-47B5-DCD33869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T-1B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Specific analysis and good practices for INSPIRE-data.europa.eu alignment.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Team for performing specific analysis, discussing on and formalising common good practices in the scope of the alignment and integration of INSPIRE into data.europa.eu.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Drafting the Geospatial High-Value Datasets tagging good practice specification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Analysis of potential metadata information losses (ISO-to-GeoDCAT-AP transformation)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Agreement on a good practice for describing Data Services / APIs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Discussion the need to cover (selected) remaining gaps.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Inputs for / Outputs from T-1A working team</a:t>
            </a:r>
          </a:p>
          <a:p>
            <a:endParaRPr lang="en-GB" noProof="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BC8AEB2-72BC-1CE3-4D2B-DBC9D45387D2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359557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424C-9C51-0413-4BA3-39B809BF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EA809-C6A4-340A-6942-7892CA8F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T-2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Exploration of the use of AI-powered tools for metadata management.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Team to explore and support the use of AI-assisted tools in metadata generation, and other potential uses in metadata management tasks.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Exploration and testing of AI-assisted tools for metadata generation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Identification of other areas where AI-assisted tools may be used to support metadata management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tasks (to be agreed)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rgbClr val="C00000"/>
                </a:solidFill>
              </a:rPr>
              <a:t>SEMIC / OP activities on AI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BA0C9D0-8762-674E-FC89-7EAE2A26EB4F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54488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 / Strategy / Discussion</a:t>
            </a:r>
          </a:p>
        </p:txBody>
      </p:sp>
    </p:spTree>
    <p:extLst>
      <p:ext uri="{BB962C8B-B14F-4D97-AF65-F5344CB8AC3E}">
        <p14:creationId xmlns:p14="http://schemas.microsoft.com/office/powerpoint/2010/main" val="82879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2800" y="1146427"/>
            <a:ext cx="10800760" cy="1240348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084385" y="4594523"/>
            <a:ext cx="10003692" cy="1261523"/>
          </a:xfrm>
        </p:spPr>
        <p:txBody>
          <a:bodyPr wrap="square" anchor="b" anchorCtr="0"/>
          <a:lstStyle/>
          <a:p>
            <a:r>
              <a:rPr lang="en-US" sz="1050" dirty="0"/>
              <a:t>This presentation has been prepared for internal purposes. The information and views expressed in it do not necessarily reflect an official position </a:t>
            </a:r>
            <a:br>
              <a:rPr lang="en-US" sz="1050" dirty="0"/>
            </a:br>
            <a:r>
              <a:rPr lang="en-US" sz="1050" dirty="0"/>
              <a:t>of the European Commission or of the European Union.</a:t>
            </a:r>
          </a:p>
          <a:p>
            <a:r>
              <a:rPr lang="en-US" sz="1050" dirty="0"/>
              <a:t>Except otherwise noted, © European Union (year). All Rights Reserved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" t="-1225" r="87932" b="64001"/>
          <a:stretch>
            <a:fillRect/>
          </a:stretch>
        </p:blipFill>
        <p:spPr bwMode="auto">
          <a:xfrm>
            <a:off x="1162161" y="6053822"/>
            <a:ext cx="478965" cy="48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Follow the EU Science Hub in Twitter, Facebook, LinkedIn, YouTube and Instagram.">
            <a:hlinkClick r:id="rId3"/>
            <a:extLst>
              <a:ext uri="{FF2B5EF4-FFF2-40B4-BE49-F238E27FC236}">
                <a16:creationId xmlns:a16="http://schemas.microsoft.com/office/drawing/2014/main" id="{487DCD04-8042-2943-24BE-BFEF305A34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61"/>
          <a:stretch/>
        </p:blipFill>
        <p:spPr>
          <a:xfrm>
            <a:off x="1672517" y="6127512"/>
            <a:ext cx="2415311" cy="4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6185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_Corporate_PPT_Template.potx" id="{4E874F3A-6BB1-4334-AA3C-CB69D53C2FB0}" vid="{CFDAC62F-BBD6-4674-995E-7A3058955A70}"/>
    </a:ext>
  </a:extLst>
</a:theme>
</file>

<file path=ppt/theme/theme2.xml><?xml version="1.0" encoding="utf-8"?>
<a:theme xmlns:a="http://schemas.openxmlformats.org/drawingml/2006/main" name="Custom Design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DORSE2023_Presentation-2" id="{DA9775EB-FAC1-594C-B775-D48E2963E454}" vid="{2915585B-38F4-A94E-9D3B-6EEF8714BCBE}"/>
    </a:ext>
  </a:extLst>
</a:theme>
</file>

<file path=ppt/theme/theme3.xml><?xml version="1.0" encoding="utf-8"?>
<a:theme xmlns:a="http://schemas.openxmlformats.org/drawingml/2006/main" name="4_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0AE5E838868A4F9CB50E4B4AF23413" ma:contentTypeVersion="8" ma:contentTypeDescription="Crear nuevo documento." ma:contentTypeScope="" ma:versionID="b24284dd4abcc89d9217181297068152">
  <xsd:schema xmlns:xsd="http://www.w3.org/2001/XMLSchema" xmlns:xs="http://www.w3.org/2001/XMLSchema" xmlns:p="http://schemas.microsoft.com/office/2006/metadata/properties" xmlns:ns3="1f6ebdee-899d-4fbd-8aeb-5a868fd22bdd" targetNamespace="http://schemas.microsoft.com/office/2006/metadata/properties" ma:root="true" ma:fieldsID="2102f8778d1be1b8402cbd5fe9ff8ed2" ns3:_="">
    <xsd:import namespace="1f6ebdee-899d-4fbd-8aeb-5a868fd22b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ebdee-899d-4fbd-8aeb-5a868fd22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D261EA-B4EC-407F-B33E-C4345B7AC4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ebdee-899d-4fbd-8aeb-5a868fd22b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1B7F48-2441-489A-AAC1-B0F448FE55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C515D3-7E4B-4E1F-8E41-BBB0172549BD}">
  <ds:schemaRefs>
    <ds:schemaRef ds:uri="http://purl.org/dc/elements/1.1/"/>
    <ds:schemaRef ds:uri="http://purl.org/dc/terms/"/>
    <ds:schemaRef ds:uri="1f6ebdee-899d-4fbd-8aeb-5a868fd22bdd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3913</TotalTime>
  <Words>482</Words>
  <Application>Microsoft Office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5_Office Theme</vt:lpstr>
      <vt:lpstr>Custom Design</vt:lpstr>
      <vt:lpstr>4_Office Theme</vt:lpstr>
      <vt:lpstr>ISO &amp; GeoDCAT-AP pilot Working Team T2 Kick off meeting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Pellicer</dc:creator>
  <cp:lastModifiedBy>ESCRIU Jordi (JRC-ISPRA)</cp:lastModifiedBy>
  <cp:revision>287</cp:revision>
  <dcterms:created xsi:type="dcterms:W3CDTF">2019-08-05T08:54:17Z</dcterms:created>
  <dcterms:modified xsi:type="dcterms:W3CDTF">2026-03-12T19:38:07Z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0x010100FF0AE5E838868A4F9CB50E4B4AF23413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2025-06-26T13:28:43Z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dfba9362-4949-4fa4-9af3-27a0338a5059</vt:lpwstr>
  </property>
  <property fmtid="{D5CDD505-2E9C-101B-9397-08002B2CF9AE}" pid="9" name="MSIP_Label_6bd9ddd1-4d20-43f6-abfa-fc3c07406f94_ContentBits">
    <vt:lpwstr>0</vt:lpwstr>
  </property>
</Properties>
</file>