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5" r:id="rId4"/>
    <p:sldMasterId id="2147483894" r:id="rId5"/>
    <p:sldMasterId id="2147483936" r:id="rId6"/>
    <p:sldMasterId id="2147483945" r:id="rId7"/>
  </p:sldMasterIdLst>
  <p:notesMasterIdLst>
    <p:notesMasterId r:id="rId23"/>
  </p:notesMasterIdLst>
  <p:handoutMasterIdLst>
    <p:handoutMasterId r:id="rId24"/>
  </p:handoutMasterIdLst>
  <p:sldIdLst>
    <p:sldId id="326" r:id="rId8"/>
    <p:sldId id="372" r:id="rId9"/>
    <p:sldId id="399" r:id="rId10"/>
    <p:sldId id="394" r:id="rId11"/>
    <p:sldId id="395" r:id="rId12"/>
    <p:sldId id="385" r:id="rId13"/>
    <p:sldId id="396" r:id="rId14"/>
    <p:sldId id="401" r:id="rId15"/>
    <p:sldId id="400" r:id="rId16"/>
    <p:sldId id="403" r:id="rId17"/>
    <p:sldId id="405" r:id="rId18"/>
    <p:sldId id="406" r:id="rId19"/>
    <p:sldId id="407" r:id="rId20"/>
    <p:sldId id="404" r:id="rId21"/>
    <p:sldId id="327" r:id="rId2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AFEC"/>
    <a:srgbClr val="090F16"/>
    <a:srgbClr val="034EA2"/>
    <a:srgbClr val="2174B0"/>
    <a:srgbClr val="0000FF"/>
    <a:srgbClr val="0070C0"/>
    <a:srgbClr val="F8CC29"/>
    <a:srgbClr val="0000CC"/>
    <a:srgbClr val="000000"/>
    <a:srgbClr val="1017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7785BA-4363-4A06-BC3D-8645B247EF84}" v="7" dt="2025-09-18T18:25:37.4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2" y="5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C4CBD34-6D1E-4413-84E4-6A40AF026C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6ABD91D-22C6-451C-B3C9-A4AB97CD8A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C6F47-7618-4C0A-96D1-C3A76407F921}" type="datetimeFigureOut">
              <a:rPr lang="es-ES" smtClean="0"/>
              <a:t>04/12/2025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9116845-2A31-4B34-9737-ADE928EC73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62F2EF-0F17-49FA-A192-50836D328D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A45D2-FCC8-4AB7-A8BC-043BA38FD2A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26322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0A4FB-D810-4C9E-9E50-17CEE17835DB}" type="datetimeFigureOut">
              <a:rPr lang="es-ES" smtClean="0"/>
              <a:pPr/>
              <a:t>04/12/2025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4304E-8E33-4C56-AEFD-D02A6B406D09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548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Cover slide option 1. Check layout for option 2 without the banner and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CF2995-AB43-4B7C-B8CD-9DC7C3692A9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119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/>
          <p:nvPr/>
        </p:nvSpPr>
        <p:spPr>
          <a:xfrm>
            <a:off x="0" y="1073101"/>
            <a:ext cx="12192000" cy="57849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5" name="Google Shape;15;p8"/>
          <p:cNvCxnSpPr/>
          <p:nvPr/>
        </p:nvCxnSpPr>
        <p:spPr>
          <a:xfrm>
            <a:off x="838200" y="1978925"/>
            <a:ext cx="0" cy="4879075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6;p8"/>
          <p:cNvSpPr txBox="1">
            <a:spLocks noGrp="1"/>
          </p:cNvSpPr>
          <p:nvPr>
            <p:ph type="subTitle" idx="1"/>
          </p:nvPr>
        </p:nvSpPr>
        <p:spPr>
          <a:xfrm>
            <a:off x="1071350" y="4418049"/>
            <a:ext cx="10290265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body" idx="2"/>
          </p:nvPr>
        </p:nvSpPr>
        <p:spPr>
          <a:xfrm>
            <a:off x="6094413" y="5391726"/>
            <a:ext cx="5267202" cy="87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200"/>
              <a:buFont typeface="Arial"/>
              <a:buNone/>
              <a:defRPr sz="22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" name="Google Shape;18;p8" descr="Foote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47221" y="6390001"/>
            <a:ext cx="697559" cy="46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8" descr="EC-JRC-logo_vertical_EN_pos_transparent-background.png"/>
          <p:cNvPicPr preferRelativeResize="0"/>
          <p:nvPr/>
        </p:nvPicPr>
        <p:blipFill rotWithShape="1">
          <a:blip r:embed="rId3">
            <a:alphaModFix/>
          </a:blip>
          <a:srcRect l="3733" t="5039" r="4158" b="4382"/>
          <a:stretch/>
        </p:blipFill>
        <p:spPr>
          <a:xfrm>
            <a:off x="5373779" y="264907"/>
            <a:ext cx="1674947" cy="115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3865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2" name="Google Shape;22;p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4139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>
  <p:cSld name="Last slide (option 1)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/>
          <p:nvPr/>
        </p:nvSpPr>
        <p:spPr>
          <a:xfrm>
            <a:off x="0" y="1"/>
            <a:ext cx="12192000" cy="3430587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0"/>
          <p:cNvSpPr txBox="1">
            <a:spLocks noGrp="1"/>
          </p:cNvSpPr>
          <p:nvPr>
            <p:ph type="ctrTitle"/>
          </p:nvPr>
        </p:nvSpPr>
        <p:spPr>
          <a:xfrm>
            <a:off x="1077013" y="1122363"/>
            <a:ext cx="10020968" cy="124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27" name="Google Shape;27;p10"/>
          <p:cNvCxnSpPr/>
          <p:nvPr/>
        </p:nvCxnSpPr>
        <p:spPr>
          <a:xfrm>
            <a:off x="838200" y="0"/>
            <a:ext cx="0" cy="2362711"/>
          </a:xfrm>
          <a:prstGeom prst="straightConnector1">
            <a:avLst/>
          </a:prstGeom>
          <a:noFill/>
          <a:ln w="28575" cap="flat" cmpd="sng">
            <a:solidFill>
              <a:srgbClr val="F8CC2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" name="Google Shape;28;p10"/>
          <p:cNvSpPr txBox="1">
            <a:spLocks noGrp="1"/>
          </p:cNvSpPr>
          <p:nvPr>
            <p:ph type="subTitle" idx="1"/>
          </p:nvPr>
        </p:nvSpPr>
        <p:spPr>
          <a:xfrm>
            <a:off x="1084385" y="3855676"/>
            <a:ext cx="10003692" cy="1925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5914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cover (option 1)" type="title">
  <p:cSld name="Chapter cover (option 1)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"/>
          <p:cNvSpPr txBox="1">
            <a:spLocks noGrp="1"/>
          </p:cNvSpPr>
          <p:nvPr>
            <p:ph type="ctrTitle"/>
          </p:nvPr>
        </p:nvSpPr>
        <p:spPr>
          <a:xfrm>
            <a:off x="1070189" y="1122363"/>
            <a:ext cx="1028165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29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FFD12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ubTitle" idx="1"/>
          </p:nvPr>
        </p:nvSpPr>
        <p:spPr>
          <a:xfrm>
            <a:off x="1070189" y="3602038"/>
            <a:ext cx="1028165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3" name="Google Shape;33;p11"/>
          <p:cNvCxnSpPr/>
          <p:nvPr/>
        </p:nvCxnSpPr>
        <p:spPr>
          <a:xfrm>
            <a:off x="838200" y="0"/>
            <a:ext cx="0" cy="3478213"/>
          </a:xfrm>
          <a:prstGeom prst="straightConnector1">
            <a:avLst/>
          </a:prstGeom>
          <a:noFill/>
          <a:ln w="28575" cap="flat" cmpd="sng">
            <a:solidFill>
              <a:srgbClr val="FFD12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4" name="Google Shape;3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45929" y="6193922"/>
            <a:ext cx="1718512" cy="4511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645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2_Title and Conte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47" name="Google Shape;47;p14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9841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>
  <p:cSld name="Content and 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6232525" y="1825625"/>
            <a:ext cx="500209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1" name="Google Shape;51;p15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" name="Google Shape;52;p15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7802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body" idx="1"/>
          </p:nvPr>
        </p:nvSpPr>
        <p:spPr>
          <a:xfrm>
            <a:off x="623252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6" name="Google Shape;56;p16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4082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970722" y="1825625"/>
            <a:ext cx="3229533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476002" y="1825624"/>
            <a:ext cx="3239996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body" idx="3"/>
          </p:nvPr>
        </p:nvSpPr>
        <p:spPr>
          <a:xfrm>
            <a:off x="7990763" y="1825624"/>
            <a:ext cx="3239998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3" name="Google Shape;63;p17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8401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body" idx="1"/>
          </p:nvPr>
        </p:nvSpPr>
        <p:spPr>
          <a:xfrm>
            <a:off x="970722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2"/>
          </p:nvPr>
        </p:nvSpPr>
        <p:spPr>
          <a:xfrm>
            <a:off x="970722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3"/>
          </p:nvPr>
        </p:nvSpPr>
        <p:spPr>
          <a:xfrm>
            <a:off x="6232768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4"/>
          </p:nvPr>
        </p:nvSpPr>
        <p:spPr>
          <a:xfrm>
            <a:off x="6232768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0" name="Google Shape;70;p18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2493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photo">
  <p:cSld name="Title_photo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0" y="1750540"/>
            <a:ext cx="12192000" cy="424544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75" name="Google Shape;75;p1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637315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Quot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-59635" y="-59635"/>
            <a:ext cx="6155635" cy="6983896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20"/>
          <p:cNvSpPr/>
          <p:nvPr/>
        </p:nvSpPr>
        <p:spPr>
          <a:xfrm>
            <a:off x="3214048" y="1992573"/>
            <a:ext cx="8550322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27615" y="743802"/>
            <a:ext cx="544923" cy="54492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3214048" y="1992572"/>
            <a:ext cx="8010798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360000" rIns="360000" bIns="360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400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and Content (half page)">
  <p:cSld name="Picture and Content (half page)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body" idx="1"/>
          </p:nvPr>
        </p:nvSpPr>
        <p:spPr>
          <a:xfrm>
            <a:off x="6662614" y="1825625"/>
            <a:ext cx="4583519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38200" y="613128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6662614" y="586765"/>
            <a:ext cx="4581771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21"/>
          <p:cNvSpPr>
            <a:spLocks noGrp="1"/>
          </p:cNvSpPr>
          <p:nvPr>
            <p:ph type="pic" idx="2"/>
          </p:nvPr>
        </p:nvSpPr>
        <p:spPr>
          <a:xfrm>
            <a:off x="-46383" y="-46383"/>
            <a:ext cx="6142383" cy="6964017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3445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rizontal Picture and Content">
  <p:cSld name="Horizontal Picture and Conte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>
            <a:spLocks noGrp="1"/>
          </p:cNvSpPr>
          <p:nvPr>
            <p:ph type="pic" idx="2"/>
          </p:nvPr>
        </p:nvSpPr>
        <p:spPr>
          <a:xfrm>
            <a:off x="-63280" y="-62165"/>
            <a:ext cx="12318560" cy="3468939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2"/>
          <p:cNvSpPr txBox="1">
            <a:spLocks noGrp="1"/>
          </p:cNvSpPr>
          <p:nvPr>
            <p:ph type="title"/>
          </p:nvPr>
        </p:nvSpPr>
        <p:spPr>
          <a:xfrm>
            <a:off x="957385" y="2818576"/>
            <a:ext cx="10287000" cy="6283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957385" y="3630613"/>
            <a:ext cx="10287000" cy="236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4984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s">
  <p:cSld name="3 image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>
            <a:spLocks noGrp="1"/>
          </p:cNvSpPr>
          <p:nvPr>
            <p:ph type="pic" idx="2"/>
          </p:nvPr>
        </p:nvSpPr>
        <p:spPr>
          <a:xfrm>
            <a:off x="840157" y="2284667"/>
            <a:ext cx="3347997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2" name="Google Shape;92;p23"/>
          <p:cNvSpPr>
            <a:spLocks noGrp="1"/>
          </p:cNvSpPr>
          <p:nvPr>
            <p:ph type="pic" idx="3"/>
          </p:nvPr>
        </p:nvSpPr>
        <p:spPr>
          <a:xfrm>
            <a:off x="7940525" y="2284668"/>
            <a:ext cx="3419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3" name="Google Shape;93;p23"/>
          <p:cNvSpPr>
            <a:spLocks noGrp="1"/>
          </p:cNvSpPr>
          <p:nvPr>
            <p:ph type="pic" idx="4"/>
          </p:nvPr>
        </p:nvSpPr>
        <p:spPr>
          <a:xfrm>
            <a:off x="4390340" y="2284667"/>
            <a:ext cx="3347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1179376" y="403868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5"/>
          </p:nvPr>
        </p:nvSpPr>
        <p:spPr>
          <a:xfrm>
            <a:off x="4729560" y="404194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6"/>
          </p:nvPr>
        </p:nvSpPr>
        <p:spPr>
          <a:xfrm>
            <a:off x="8315745" y="4037437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98" name="Google Shape;98;p2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08702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mages">
  <p:cSld name="4 image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>
            <a:spLocks noGrp="1"/>
          </p:cNvSpPr>
          <p:nvPr>
            <p:ph type="pic" idx="2"/>
          </p:nvPr>
        </p:nvSpPr>
        <p:spPr>
          <a:xfrm>
            <a:off x="3489177" y="2159957"/>
            <a:ext cx="25189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1" name="Google Shape;101;p24"/>
          <p:cNvSpPr>
            <a:spLocks noGrp="1"/>
          </p:cNvSpPr>
          <p:nvPr>
            <p:ph type="pic" idx="3"/>
          </p:nvPr>
        </p:nvSpPr>
        <p:spPr>
          <a:xfrm>
            <a:off x="3489175" y="4076343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2" name="Google Shape;102;p24"/>
          <p:cNvSpPr>
            <a:spLocks noGrp="1"/>
          </p:cNvSpPr>
          <p:nvPr>
            <p:ph type="pic" idx="4"/>
          </p:nvPr>
        </p:nvSpPr>
        <p:spPr>
          <a:xfrm>
            <a:off x="6197546" y="2159956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3" name="Google Shape;103;p24"/>
          <p:cNvSpPr txBox="1">
            <a:spLocks noGrp="1"/>
          </p:cNvSpPr>
          <p:nvPr>
            <p:ph type="body" idx="1"/>
          </p:nvPr>
        </p:nvSpPr>
        <p:spPr>
          <a:xfrm>
            <a:off x="8887605" y="4076342"/>
            <a:ext cx="2483779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5"/>
          </p:nvPr>
        </p:nvSpPr>
        <p:spPr>
          <a:xfrm>
            <a:off x="957385" y="2159957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4"/>
          <p:cNvSpPr>
            <a:spLocks noGrp="1"/>
          </p:cNvSpPr>
          <p:nvPr>
            <p:ph type="pic" idx="6"/>
          </p:nvPr>
        </p:nvSpPr>
        <p:spPr>
          <a:xfrm>
            <a:off x="6197548" y="4076342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6" name="Google Shape;106;p24"/>
          <p:cNvSpPr txBox="1">
            <a:spLocks noGrp="1"/>
          </p:cNvSpPr>
          <p:nvPr>
            <p:ph type="body" idx="7"/>
          </p:nvPr>
        </p:nvSpPr>
        <p:spPr>
          <a:xfrm>
            <a:off x="957385" y="4076343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8"/>
          </p:nvPr>
        </p:nvSpPr>
        <p:spPr>
          <a:xfrm>
            <a:off x="8919308" y="2159956"/>
            <a:ext cx="2452077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09" name="Google Shape;109;p24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12577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72148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2)">
  <p:cSld name="Last slide (option 2)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/>
          <p:nvPr/>
        </p:nvSpPr>
        <p:spPr>
          <a:xfrm>
            <a:off x="0" y="0"/>
            <a:ext cx="12192000" cy="34321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26"/>
          <p:cNvCxnSpPr/>
          <p:nvPr/>
        </p:nvCxnSpPr>
        <p:spPr>
          <a:xfrm>
            <a:off x="838200" y="0"/>
            <a:ext cx="0" cy="2362711"/>
          </a:xfrm>
          <a:prstGeom prst="straightConnector1">
            <a:avLst/>
          </a:prstGeom>
          <a:noFill/>
          <a:ln w="28575" cap="flat" cmpd="sng">
            <a:solidFill>
              <a:srgbClr val="2174B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" name="Google Shape;114;p26"/>
          <p:cNvSpPr txBox="1">
            <a:spLocks noGrp="1"/>
          </p:cNvSpPr>
          <p:nvPr>
            <p:ph type="ctrTitle"/>
          </p:nvPr>
        </p:nvSpPr>
        <p:spPr>
          <a:xfrm>
            <a:off x="1077013" y="1122363"/>
            <a:ext cx="10020968" cy="124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74B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174B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ubTitle" idx="1"/>
          </p:nvPr>
        </p:nvSpPr>
        <p:spPr>
          <a:xfrm>
            <a:off x="1084385" y="3855676"/>
            <a:ext cx="10003692" cy="1925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0628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10781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 userDrawn="1"/>
        </p:nvSpPr>
        <p:spPr>
          <a:xfrm>
            <a:off x="0" y="1078173"/>
            <a:ext cx="12192000" cy="5779827"/>
          </a:xfrm>
          <a:prstGeom prst="rect">
            <a:avLst/>
          </a:prstGeom>
          <a:solidFill>
            <a:srgbClr val="035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solidFill>
                <a:schemeClr val="accent4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933" y="258042"/>
            <a:ext cx="1659793" cy="115246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071350" y="1992572"/>
            <a:ext cx="10065224" cy="2149523"/>
          </a:xfrm>
        </p:spPr>
        <p:txBody>
          <a:bodyPr wrap="none" anchor="t">
            <a:no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978925"/>
            <a:ext cx="0" cy="48790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5741158" y="6619164"/>
            <a:ext cx="707409" cy="240594"/>
          </a:xfrm>
          <a:prstGeom prst="rect">
            <a:avLst/>
          </a:prstGeom>
          <a:solidFill>
            <a:srgbClr val="004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1071351" y="4418049"/>
            <a:ext cx="10065224" cy="897754"/>
          </a:xfrm>
        </p:spPr>
        <p:txBody>
          <a:bodyPr>
            <a:noAutofit/>
          </a:bodyPr>
          <a:lstStyle>
            <a:lvl1pPr marL="0" indent="0" algn="l">
              <a:buNone/>
              <a:defRPr sz="2800" i="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6096000" y="5557903"/>
            <a:ext cx="5040313" cy="52899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0843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50288"/>
            <a:ext cx="12192000" cy="501834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10781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 userDrawn="1"/>
        </p:nvSpPr>
        <p:spPr>
          <a:xfrm>
            <a:off x="0" y="1078174"/>
            <a:ext cx="12192000" cy="2890800"/>
          </a:xfrm>
          <a:prstGeom prst="rect">
            <a:avLst/>
          </a:prstGeom>
          <a:solidFill>
            <a:srgbClr val="035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solidFill>
                <a:schemeClr val="accent4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933" y="258042"/>
            <a:ext cx="1659793" cy="115246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071350" y="1992572"/>
            <a:ext cx="10065224" cy="872647"/>
          </a:xfrm>
        </p:spPr>
        <p:txBody>
          <a:bodyPr anchor="t">
            <a:norm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978925"/>
            <a:ext cx="0" cy="48790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5741158" y="6619164"/>
            <a:ext cx="707409" cy="240594"/>
          </a:xfrm>
          <a:prstGeom prst="rect">
            <a:avLst/>
          </a:prstGeom>
          <a:solidFill>
            <a:srgbClr val="004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1071351" y="3067468"/>
            <a:ext cx="10065224" cy="897754"/>
          </a:xfrm>
        </p:spPr>
        <p:txBody>
          <a:bodyPr>
            <a:noAutofit/>
          </a:bodyPr>
          <a:lstStyle>
            <a:lvl1pPr marL="0" indent="0" algn="l">
              <a:buNone/>
              <a:defRPr sz="2800" i="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6096000" y="5783535"/>
            <a:ext cx="5040313" cy="528998"/>
          </a:xfrm>
        </p:spPr>
        <p:txBody>
          <a:bodyPr anchor="b" anchorCtr="0">
            <a:noAutofit/>
          </a:bodyPr>
          <a:lstStyle>
            <a:lvl1pPr marL="0" indent="0" algn="r">
              <a:buFontTx/>
              <a:buNone/>
              <a:defRPr sz="2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5482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2219"/>
            <a:ext cx="12192000" cy="6059194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5289" y="1078173"/>
            <a:ext cx="12197346" cy="5783239"/>
          </a:xfrm>
          <a:prstGeom prst="rect">
            <a:avLst/>
          </a:prstGeom>
          <a:solidFill>
            <a:srgbClr val="024EA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solidFill>
                <a:schemeClr val="accent4"/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10781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071350" y="1992572"/>
            <a:ext cx="10065224" cy="2149523"/>
          </a:xfrm>
        </p:spPr>
        <p:txBody>
          <a:bodyPr wrap="none" anchor="t">
            <a:no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978925"/>
            <a:ext cx="0" cy="48790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5741158" y="6619164"/>
            <a:ext cx="707409" cy="240594"/>
          </a:xfrm>
          <a:prstGeom prst="rect">
            <a:avLst/>
          </a:prstGeom>
          <a:solidFill>
            <a:srgbClr val="004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71351" y="4418049"/>
            <a:ext cx="10065224" cy="897754"/>
          </a:xfrm>
        </p:spPr>
        <p:txBody>
          <a:bodyPr wrap="none">
            <a:noAutofit/>
          </a:bodyPr>
          <a:lstStyle>
            <a:lvl1pPr marL="0" indent="0" algn="l">
              <a:buNone/>
              <a:defRPr sz="2800" i="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933" y="258042"/>
            <a:ext cx="1659793" cy="1152460"/>
          </a:xfrm>
          <a:prstGeom prst="rect">
            <a:avLst/>
          </a:prstGeom>
        </p:spPr>
      </p:pic>
      <p:sp>
        <p:nvSpPr>
          <p:cNvPr id="16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6096000" y="5557903"/>
            <a:ext cx="5040313" cy="528998"/>
          </a:xfrm>
        </p:spPr>
        <p:txBody>
          <a:bodyPr wrap="none">
            <a:noAutofit/>
          </a:bodyPr>
          <a:lstStyle>
            <a:lvl1pPr marL="0" indent="0" algn="r">
              <a:buFontTx/>
              <a:buNone/>
              <a:defRPr sz="2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677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5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0189" y="1122363"/>
            <a:ext cx="10676038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0189" y="3602038"/>
            <a:ext cx="10676038" cy="165576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6C79FD-C571-418B-AB0F-5EE936C85276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0"/>
            <a:ext cx="0" cy="329593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27715" y="6045257"/>
            <a:ext cx="1718512" cy="45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858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3852" y="6045865"/>
            <a:ext cx="1716200" cy="450546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077013" y="1122363"/>
            <a:ext cx="10156297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838200" y="0"/>
            <a:ext cx="0" cy="329593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1070189" y="3602038"/>
            <a:ext cx="10156297" cy="165576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62457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92000" cy="3428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077013" y="1122363"/>
            <a:ext cx="10156297" cy="1240348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838200" y="0"/>
            <a:ext cx="0" cy="2362711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838200" y="4160826"/>
            <a:ext cx="10889439" cy="162014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627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92000" cy="3428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077013" y="1122363"/>
            <a:ext cx="10156297" cy="1240348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838200" y="0"/>
            <a:ext cx="0" cy="2362711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838200" y="4160826"/>
            <a:ext cx="10889439" cy="162014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28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905699" cy="388190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/>
            </a:lvl1pPr>
            <a:lvl2pPr>
              <a:lnSpc>
                <a:spcPct val="100000"/>
              </a:lnSpc>
              <a:spcAft>
                <a:spcPts val="1800"/>
              </a:spcAft>
              <a:defRPr/>
            </a:lvl2pPr>
            <a:lvl3pPr>
              <a:lnSpc>
                <a:spcPct val="100000"/>
              </a:lnSpc>
              <a:spcAft>
                <a:spcPts val="1800"/>
              </a:spcAft>
              <a:defRPr/>
            </a:lvl3pPr>
            <a:lvl4pPr>
              <a:lnSpc>
                <a:spcPct val="100000"/>
              </a:lnSpc>
              <a:spcAft>
                <a:spcPts val="1800"/>
              </a:spcAft>
              <a:defRPr/>
            </a:lvl4pPr>
            <a:lvl5pPr>
              <a:lnSpc>
                <a:spcPct val="100000"/>
              </a:lnSpc>
              <a:spcAft>
                <a:spcPts val="1800"/>
              </a:spcAft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93094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5328000" cy="3906435"/>
          </a:xfrm>
        </p:spPr>
        <p:txBody>
          <a:bodyPr>
            <a:noAutofit/>
          </a:bodyPr>
          <a:lstStyle>
            <a:lvl1pPr>
              <a:spcAft>
                <a:spcPts val="1800"/>
              </a:spcAft>
              <a:defRPr/>
            </a:lvl1pPr>
            <a:lvl2pPr>
              <a:spcAft>
                <a:spcPts val="1800"/>
              </a:spcAft>
              <a:defRPr/>
            </a:lvl2pPr>
            <a:lvl3pPr>
              <a:spcAft>
                <a:spcPts val="1800"/>
              </a:spcAft>
              <a:defRPr/>
            </a:lvl3pPr>
            <a:lvl4pPr>
              <a:spcAft>
                <a:spcPts val="1800"/>
              </a:spcAft>
              <a:defRPr/>
            </a:lvl4pPr>
            <a:lvl5pPr>
              <a:spcAft>
                <a:spcPts val="1800"/>
              </a:spcAft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2250" y="1825625"/>
            <a:ext cx="5328000" cy="3906435"/>
          </a:xfrm>
          <a:noFill/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49301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5328000" cy="3906435"/>
          </a:xfrm>
        </p:spPr>
        <p:txBody>
          <a:bodyPr>
            <a:noAutofit/>
          </a:bodyPr>
          <a:lstStyle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2250" y="1825625"/>
            <a:ext cx="5328000" cy="3906435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58707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8" y="1825626"/>
            <a:ext cx="3358489" cy="3763134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604979" y="1825625"/>
            <a:ext cx="3358489" cy="3763134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8371761" y="1825625"/>
            <a:ext cx="3358489" cy="3763134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8109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wrap="square" anchor="b">
            <a:no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097331"/>
          </a:xfrm>
        </p:spPr>
        <p:txBody>
          <a:bodyPr wrap="square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noFill/>
        </p:spPr>
        <p:txBody>
          <a:bodyPr wrap="square" anchor="b">
            <a:no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097331"/>
          </a:xfrm>
        </p:spPr>
        <p:txBody>
          <a:bodyPr wrap="square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12" name="Straight Connector 11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1419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6010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-59635" y="-59635"/>
            <a:ext cx="6155635" cy="6983896"/>
          </a:xfrm>
          <a:solidFill>
            <a:schemeClr val="bg2"/>
          </a:solidFill>
          <a:ln w="28575">
            <a:solidFill>
              <a:schemeClr val="accent5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3214048" y="1992573"/>
            <a:ext cx="8550322" cy="3616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447" y="743802"/>
            <a:ext cx="544923" cy="54492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8331" y="1992572"/>
            <a:ext cx="8226040" cy="3616657"/>
          </a:xfrm>
          <a:solidFill>
            <a:schemeClr val="bg1"/>
          </a:solidFill>
        </p:spPr>
        <p:txBody>
          <a:bodyPr lIns="360000" tIns="360000" rIns="360000" bIns="360000" anchor="ctr" anchorCtr="0">
            <a:noAutofit/>
          </a:bodyPr>
          <a:lstStyle>
            <a:lvl1pPr marL="0" indent="0">
              <a:buFontTx/>
              <a:buNone/>
              <a:defRPr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8313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(half p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7056" y="1825625"/>
            <a:ext cx="4926841" cy="3769957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817056" y="482860"/>
            <a:ext cx="4669266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-46383" y="-46383"/>
            <a:ext cx="6142383" cy="6964017"/>
          </a:xfrm>
          <a:solidFill>
            <a:schemeClr val="bg2"/>
          </a:solidFill>
          <a:ln w="28575">
            <a:solidFill>
              <a:schemeClr val="accent5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2791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70722" y="2284667"/>
            <a:ext cx="3141663" cy="20907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901451" y="2284668"/>
            <a:ext cx="3141663" cy="20907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436086" y="2284667"/>
            <a:ext cx="3141663" cy="20907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1206774" y="4038684"/>
            <a:ext cx="2669558" cy="1524235"/>
          </a:xfrm>
          <a:solidFill>
            <a:schemeClr val="bg1"/>
          </a:solidFill>
        </p:spPr>
        <p:txBody>
          <a:bodyPr tIns="90000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72139" y="4041944"/>
            <a:ext cx="2669558" cy="1524235"/>
          </a:xfrm>
          <a:solidFill>
            <a:schemeClr val="bg1"/>
          </a:solidFill>
        </p:spPr>
        <p:txBody>
          <a:bodyPr tIns="90000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37503" y="4037437"/>
            <a:ext cx="2669558" cy="1524235"/>
          </a:xfrm>
          <a:solidFill>
            <a:schemeClr val="bg1"/>
          </a:solidFill>
        </p:spPr>
        <p:txBody>
          <a:bodyPr tIns="90000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16244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713869" y="2159957"/>
            <a:ext cx="2461591" cy="1638158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713868" y="3968881"/>
            <a:ext cx="2461591" cy="1638158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324547" y="2159956"/>
            <a:ext cx="2461593" cy="163815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8935227" y="3968880"/>
            <a:ext cx="2520000" cy="1638158"/>
          </a:xfrm>
          <a:noFill/>
        </p:spPr>
        <p:txBody>
          <a:bodyPr tIns="90000"/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1033617" y="2159957"/>
            <a:ext cx="2520000" cy="1638159"/>
          </a:xfrm>
          <a:noFill/>
        </p:spPr>
        <p:txBody>
          <a:bodyPr tIns="90000"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6324549" y="3968880"/>
            <a:ext cx="2461591" cy="1638158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/>
          </p:nvPr>
        </p:nvSpPr>
        <p:spPr>
          <a:xfrm>
            <a:off x="1033617" y="3968881"/>
            <a:ext cx="2520000" cy="1638158"/>
          </a:xfrm>
          <a:noFill/>
        </p:spPr>
        <p:txBody>
          <a:bodyPr tIns="90000"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8966322" y="2159956"/>
            <a:ext cx="2520000" cy="1638159"/>
          </a:xfrm>
          <a:noFill/>
        </p:spPr>
        <p:txBody>
          <a:bodyPr tIns="90000"/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5077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429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46643"/>
            <a:ext cx="10515600" cy="78235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838200" y="3630613"/>
            <a:ext cx="10515600" cy="2035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293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6477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"/>
          <a:stretch/>
        </p:blipFill>
        <p:spPr>
          <a:xfrm>
            <a:off x="0" y="0"/>
            <a:ext cx="12200290" cy="689329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0400" y="1457269"/>
            <a:ext cx="7324004" cy="2249334"/>
          </a:xfrm>
          <a:prstGeom prst="rect">
            <a:avLst/>
          </a:prstGeom>
        </p:spPr>
        <p:txBody>
          <a:bodyPr lIns="0" anchor="b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806092" y="3874486"/>
            <a:ext cx="7324003" cy="135170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Click to edit Master subtitle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806092" y="5399738"/>
            <a:ext cx="5724000" cy="684000"/>
          </a:xfrm>
          <a:prstGeom prst="rect">
            <a:avLst/>
          </a:prstGeom>
        </p:spPr>
        <p:txBody>
          <a:bodyPr lIns="0" tIns="0"/>
          <a:lstStyle>
            <a:lvl1pPr marL="0" indent="0" algn="l">
              <a:spcAft>
                <a:spcPts val="400"/>
              </a:spcAft>
              <a:buFont typeface="Arial" panose="020B0604020202020204" pitchFamily="34" charset="0"/>
              <a:buNone/>
              <a:defRPr sz="19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Speaker</a:t>
            </a:r>
            <a:br>
              <a:rPr lang="en-GB" noProof="0" dirty="0"/>
            </a:br>
            <a:r>
              <a:rPr lang="en-GB" noProof="0" dirty="0"/>
              <a:t>Venue and date</a:t>
            </a:r>
          </a:p>
        </p:txBody>
      </p:sp>
    </p:spTree>
    <p:extLst>
      <p:ext uri="{BB962C8B-B14F-4D97-AF65-F5344CB8AC3E}">
        <p14:creationId xmlns:p14="http://schemas.microsoft.com/office/powerpoint/2010/main" val="28888759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>
              <a:defRPr sz="3800"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H="1">
            <a:off x="838201" y="0"/>
            <a:ext cx="1" cy="136525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/>
          <p:cNvSpPr>
            <a:spLocks noGrp="1"/>
          </p:cNvSpPr>
          <p:nvPr>
            <p:ph idx="10" hasCustomPrompt="1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Font typeface="Arial" pitchFamily="34" charset="0"/>
              <a:buNone/>
              <a:defRPr baseline="0"/>
            </a:lvl1pPr>
            <a:lvl2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/>
            </a:lvl2pPr>
            <a:lvl3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/>
            </a:lvl3pPr>
            <a:lvl4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/>
            </a:lvl4pPr>
            <a:lvl5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/>
            </a:lvl5pPr>
          </a:lstStyle>
          <a:p>
            <a:pPr lvl="0"/>
            <a:r>
              <a:rPr lang="en-GB" noProof="0" dirty="0"/>
              <a:t>Insert text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1" hasCustomPrompt="1"/>
          </p:nvPr>
        </p:nvSpPr>
        <p:spPr>
          <a:xfrm>
            <a:off x="6232524" y="1825624"/>
            <a:ext cx="5004000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Font typeface="Arial"/>
              <a:buNone/>
              <a:defRPr strike="noStrike"/>
            </a:lvl1pPr>
            <a:lvl2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 strike="noStrike"/>
            </a:lvl2pPr>
            <a:lvl3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 strike="noStrike"/>
            </a:lvl3pPr>
            <a:lvl4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 strike="noStrike"/>
            </a:lvl4pPr>
            <a:lvl5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 strike="noStrike"/>
            </a:lvl5pPr>
          </a:lstStyle>
          <a:p>
            <a:pPr lvl="0"/>
            <a:r>
              <a:rPr lang="en-GB" noProof="0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16221304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>
              <a:defRPr sz="3800"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70722" y="1825625"/>
            <a:ext cx="3229533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indent="-342900">
              <a:buClr>
                <a:schemeClr val="accent5"/>
              </a:buClr>
              <a:buFont typeface="Arial"/>
              <a:buNone/>
              <a:defRPr baseline="0"/>
            </a:lvl1pPr>
            <a:lvl2pPr>
              <a:buClr>
                <a:schemeClr val="accent5"/>
              </a:buClr>
              <a:buNone/>
              <a:defRPr/>
            </a:lvl2pPr>
            <a:lvl3pPr>
              <a:buClr>
                <a:schemeClr val="accent5"/>
              </a:buClr>
              <a:buNone/>
              <a:defRPr/>
            </a:lvl3pPr>
            <a:lvl4pPr>
              <a:buClr>
                <a:schemeClr val="accent5"/>
              </a:buClr>
              <a:buNone/>
              <a:defRPr/>
            </a:lvl4pPr>
            <a:lvl5pPr>
              <a:buClr>
                <a:schemeClr val="accent5"/>
              </a:buClr>
              <a:buNone/>
              <a:defRPr/>
            </a:lvl5pPr>
          </a:lstStyle>
          <a:p>
            <a:pPr lvl="0"/>
            <a:r>
              <a:rPr lang="en-GB" noProof="0" dirty="0"/>
              <a:t>Insert text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476002" y="1825624"/>
            <a:ext cx="3239996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SzTx/>
              <a:buFont typeface="Arial"/>
              <a:buNone/>
              <a:tabLst/>
              <a:defRPr/>
            </a:lvl1pPr>
            <a:lvl2pPr>
              <a:buClr>
                <a:schemeClr val="accent5"/>
              </a:buClr>
              <a:defRPr/>
            </a:lvl2pPr>
            <a:lvl3pPr>
              <a:buClr>
                <a:schemeClr val="accent5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accent5"/>
              </a:buClr>
              <a:defRPr/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SzTx/>
              <a:buFont typeface="Arial"/>
              <a:buNone/>
              <a:tabLst/>
              <a:defRPr/>
            </a:pPr>
            <a:r>
              <a:rPr lang="en-GB" noProof="0" dirty="0"/>
              <a:t>Insert text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7990763" y="1825624"/>
            <a:ext cx="3239998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SzTx/>
              <a:buFont typeface="Arial"/>
              <a:buNone/>
              <a:tabLst/>
              <a:defRPr/>
            </a:lvl1pPr>
            <a:lvl2pPr>
              <a:buClr>
                <a:schemeClr val="accent5"/>
              </a:buClr>
              <a:defRPr/>
            </a:lvl2pPr>
            <a:lvl3pPr>
              <a:buClr>
                <a:schemeClr val="accent5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accent5"/>
              </a:buClr>
              <a:defRPr/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SzTx/>
              <a:buFont typeface="Arial"/>
              <a:buNone/>
              <a:tabLst/>
              <a:defRPr/>
            </a:pPr>
            <a:r>
              <a:rPr lang="en-GB" noProof="0" dirty="0"/>
              <a:t>Insert text</a:t>
            </a:r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H="1">
            <a:off x="838201" y="0"/>
            <a:ext cx="1" cy="136525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0647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>
              <a:defRPr sz="3800"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1750540"/>
            <a:ext cx="12192000" cy="424544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 noProof="0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H="1">
            <a:off x="838201" y="0"/>
            <a:ext cx="1" cy="136525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3841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0430CE-3EAA-0F5F-3032-04C3EBD4B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342900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38200" y="0"/>
            <a:ext cx="0" cy="236271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1072800" y="1122363"/>
            <a:ext cx="10800760" cy="124034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084385" y="3855676"/>
            <a:ext cx="10003692" cy="192529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27328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B9C2F-5D28-A54A-50E0-A4833437E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749" y="2544416"/>
            <a:ext cx="10442049" cy="165523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GB" dirty="0"/>
              <a:t>Click to edit Master title style</a:t>
            </a:r>
            <a:endParaRPr lang="en-L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9031-1086-D01F-D348-6DCC81170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749" y="4346714"/>
            <a:ext cx="10442048" cy="911087"/>
          </a:xfrm>
        </p:spPr>
        <p:txBody>
          <a:bodyPr/>
          <a:lstStyle>
            <a:lvl1pPr marL="0" indent="0" algn="l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 dirty="0"/>
              <a:t>Click to edit Master subtitle style</a:t>
            </a:r>
            <a:endParaRPr lang="en-L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F2F3C-0F34-8277-D84E-22364585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51881" y="6356352"/>
            <a:ext cx="1101919" cy="219181"/>
          </a:xfrm>
        </p:spPr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F6E5A-5943-665E-2FE0-9FE8B8549E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42705622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3D908-A0D1-D5E5-F832-59C5C0FD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67"/>
            </a:lvl1pPr>
          </a:lstStyle>
          <a:p>
            <a:r>
              <a:rPr lang="en-GB" dirty="0"/>
              <a:t>Click to edit Master title style</a:t>
            </a:r>
            <a:endParaRPr lang="en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49DC9-B3EF-48E8-4FB6-A275F9BAF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467"/>
            </a:lvl1pPr>
            <a:lvl2pPr>
              <a:defRPr sz="2933"/>
            </a:lvl2pPr>
            <a:lvl3pPr>
              <a:defRPr sz="2400"/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  <a:endParaRPr lang="en-L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0848C-7C5F-FB69-368D-81B60EE2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60C3C1B-EA5B-92F9-967F-4D0BDD4535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4688814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24BB82-A13F-7C3F-1F51-FDFCD1CF6D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0" y="972047"/>
            <a:ext cx="6679096" cy="42479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3E576D-8368-D988-268C-B7C5FCE59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4076" y="1246131"/>
            <a:ext cx="4081007" cy="895420"/>
          </a:xfrm>
        </p:spPr>
        <p:txBody>
          <a:bodyPr lIns="0" tIns="0" rIns="0" bIns="0" anchor="t" anchorCtr="0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L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4BBEDA-4468-14FF-93EA-3E2BB54E7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pPr/>
              <a:t>‹#›</a:t>
            </a:fld>
            <a:endParaRPr lang="en-LU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FAC4E1B-32BD-5181-1D47-FFB86224E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792AD8-EA3B-99E0-A0F9-4ADA0647C1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284" y="2289977"/>
            <a:ext cx="4080933" cy="243865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  <a:lvl2pPr marL="609585" indent="0">
              <a:buNone/>
              <a:defRPr sz="1867">
                <a:solidFill>
                  <a:schemeClr val="bg1"/>
                </a:solidFill>
              </a:defRPr>
            </a:lvl2pPr>
            <a:lvl3pPr marL="1219170" indent="0">
              <a:buNone/>
              <a:defRPr sz="1867">
                <a:solidFill>
                  <a:schemeClr val="bg1"/>
                </a:solidFill>
              </a:defRPr>
            </a:lvl3pPr>
            <a:lvl4pPr marL="1828754" indent="0">
              <a:buNone/>
              <a:defRPr sz="1867">
                <a:solidFill>
                  <a:schemeClr val="bg1"/>
                </a:solidFill>
              </a:defRPr>
            </a:lvl4pPr>
            <a:lvl5pPr marL="2438339" indent="0">
              <a:buNone/>
              <a:defRPr sz="1867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or caption</a:t>
            </a:r>
            <a:endParaRPr lang="en-LU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5F0DC51F-A68F-E5E7-EA43-BCC3669E72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971711"/>
            <a:ext cx="6096000" cy="424798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15417365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576D-8368-D988-268C-B7C5FCE59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5601" y="1246131"/>
            <a:ext cx="4081007" cy="895420"/>
          </a:xfrm>
        </p:spPr>
        <p:txBody>
          <a:bodyPr lIns="0" tIns="0" rIns="0" bIns="0" anchor="t" anchorCtr="0"/>
          <a:lstStyle>
            <a:lvl1pPr>
              <a:defRPr sz="3200">
                <a:solidFill>
                  <a:srgbClr val="F15A24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L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4BBEDA-4468-14FF-93EA-3E2BB54E7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pPr/>
              <a:t>‹#›</a:t>
            </a:fld>
            <a:endParaRPr lang="en-LU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FAC4E1B-32BD-5181-1D47-FFB86224E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792AD8-EA3B-99E0-A0F9-4ADA0647C1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5600" y="2289977"/>
            <a:ext cx="4080933" cy="243865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585" indent="0">
              <a:buNone/>
              <a:defRPr sz="1867">
                <a:solidFill>
                  <a:schemeClr val="bg1"/>
                </a:solidFill>
              </a:defRPr>
            </a:lvl2pPr>
            <a:lvl3pPr marL="1219170" indent="0">
              <a:buNone/>
              <a:defRPr sz="1867">
                <a:solidFill>
                  <a:schemeClr val="bg1"/>
                </a:solidFill>
              </a:defRPr>
            </a:lvl3pPr>
            <a:lvl4pPr marL="1828754" indent="0">
              <a:buNone/>
              <a:defRPr sz="1867">
                <a:solidFill>
                  <a:schemeClr val="bg1"/>
                </a:solidFill>
              </a:defRPr>
            </a:lvl4pPr>
            <a:lvl5pPr marL="2438339" indent="0">
              <a:buNone/>
              <a:defRPr sz="1867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or caption</a:t>
            </a:r>
            <a:endParaRPr lang="en-L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62020E-5DEC-3DC4-EC6C-629CB6E583B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sz="24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B0AB515-4280-CF6B-A580-EC2D57DE345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53015" y="721785"/>
            <a:ext cx="4981971" cy="5014383"/>
          </a:xfrm>
        </p:spPr>
        <p:txBody>
          <a:bodyPr>
            <a:normAutofit/>
          </a:bodyPr>
          <a:lstStyle>
            <a:lvl1pPr>
              <a:buClr>
                <a:schemeClr val="bg1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8499214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4E6B3-010F-DD09-798B-9B0673EA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6185"/>
            <a:ext cx="10515600" cy="132503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117DF-268B-9AE4-0352-80145A003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0634"/>
            <a:ext cx="5158316" cy="8255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933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62ABD-3F34-1C44-9C58-FB1CDDBE9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6133"/>
            <a:ext cx="5158316" cy="3683000"/>
          </a:xfrm>
        </p:spPr>
        <p:txBody>
          <a:bodyPr/>
          <a:lstStyle>
            <a:lvl1pPr>
              <a:defRPr sz="2933"/>
            </a:lvl1pPr>
            <a:lvl2pPr>
              <a:defRPr sz="2667"/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en-L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4F218A-A2C8-FE06-A78F-A116E25F8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0634"/>
            <a:ext cx="5183717" cy="8255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933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5BB12-4435-AB55-4224-FBBB266FC9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6133"/>
            <a:ext cx="5183717" cy="36830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en-L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341713-18F8-9368-1AB9-6B756B2A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5BB221-3826-6CD1-A8B0-57351E17A4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4649980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658DA-9633-A419-9175-69A438A66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67"/>
            </a:lvl1pPr>
          </a:lstStyle>
          <a:p>
            <a:r>
              <a:rPr lang="en-GB" dirty="0"/>
              <a:t>Click to edit Master title style</a:t>
            </a:r>
            <a:endParaRPr lang="en-L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CEF16-2079-7A62-2E14-200A4908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AC1479A-A4F1-508A-C419-807EB18CB6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4263975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08A63-3242-929F-9BCE-7C365F84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084E4B1-50DF-5FA9-B73D-29A37B83EB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37241205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13608-4B0D-40BF-A439-7BF3CE825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054" y="988485"/>
            <a:ext cx="5755863" cy="48725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en-L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24F59-D944-01C5-8E6D-EEE9C679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C9509BE-F720-ADCB-B3F1-CF5D9B27B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FB1D257-B025-B885-922C-97A322BB52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5601" y="1246131"/>
            <a:ext cx="4081007" cy="895420"/>
          </a:xfrm>
        </p:spPr>
        <p:txBody>
          <a:bodyPr lIns="0" tIns="0" rIns="0" bIns="0" anchor="t" anchorCtr="0"/>
          <a:lstStyle>
            <a:lvl1pPr>
              <a:defRPr sz="3200">
                <a:solidFill>
                  <a:srgbClr val="F15A24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LU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9CB858E-DBBD-00EB-DDB2-5F5317FC59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5600" y="2289977"/>
            <a:ext cx="4080933" cy="243865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585" indent="0">
              <a:buNone/>
              <a:defRPr sz="1867">
                <a:solidFill>
                  <a:schemeClr val="bg1"/>
                </a:solidFill>
              </a:defRPr>
            </a:lvl2pPr>
            <a:lvl3pPr marL="1219170" indent="0">
              <a:buNone/>
              <a:defRPr sz="1867">
                <a:solidFill>
                  <a:schemeClr val="bg1"/>
                </a:solidFill>
              </a:defRPr>
            </a:lvl3pPr>
            <a:lvl4pPr marL="1828754" indent="0">
              <a:buNone/>
              <a:defRPr sz="1867">
                <a:solidFill>
                  <a:schemeClr val="bg1"/>
                </a:solidFill>
              </a:defRPr>
            </a:lvl4pPr>
            <a:lvl5pPr marL="2438339" indent="0">
              <a:buNone/>
              <a:defRPr sz="1867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or caption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501228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cover (option 2)" preserve="1">
  <p:cSld name="Chapter cover (option 2)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ctrTitle"/>
          </p:nvPr>
        </p:nvSpPr>
        <p:spPr>
          <a:xfrm>
            <a:off x="1077013" y="1122363"/>
            <a:ext cx="10284602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74B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174B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ubTitle" idx="1"/>
          </p:nvPr>
        </p:nvSpPr>
        <p:spPr>
          <a:xfrm>
            <a:off x="1070189" y="3602038"/>
            <a:ext cx="10284602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9" name="Google Shape;39;p12"/>
          <p:cNvCxnSpPr/>
          <p:nvPr/>
        </p:nvCxnSpPr>
        <p:spPr>
          <a:xfrm>
            <a:off x="838200" y="0"/>
            <a:ext cx="0" cy="3478213"/>
          </a:xfrm>
          <a:prstGeom prst="straightConnector1">
            <a:avLst/>
          </a:prstGeom>
          <a:noFill/>
          <a:ln w="28575" cap="flat" cmpd="sng">
            <a:solidFill>
              <a:srgbClr val="2174B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0" name="Google Shape;40;p1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45929" y="6193922"/>
            <a:ext cx="1718512" cy="4511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4630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26" Type="http://schemas.openxmlformats.org/officeDocument/2006/relationships/image" Target="../media/image6.png"/><Relationship Id="rId3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38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7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10" Type="http://schemas.openxmlformats.org/officeDocument/2006/relationships/image" Target="../media/image13.emf"/><Relationship Id="rId4" Type="http://schemas.openxmlformats.org/officeDocument/2006/relationships/slideLayout" Target="../slideLayouts/slideLayout45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 descr="EC-JRC-logo_horizontal_EN_pos_transparent-background.png"/>
          <p:cNvPicPr preferRelativeResize="0"/>
          <p:nvPr/>
        </p:nvPicPr>
        <p:blipFill rotWithShape="1">
          <a:blip r:embed="rId19">
            <a:alphaModFix/>
          </a:blip>
          <a:srcRect l="6902" t="10944" r="6668" b="9112"/>
          <a:stretch/>
        </p:blipFill>
        <p:spPr>
          <a:xfrm>
            <a:off x="9945929" y="6177847"/>
            <a:ext cx="1727997" cy="4672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>
            <a:spLocks noGrp="1"/>
          </p:cNvSpPr>
          <p:nvPr>
            <p:ph type="sldNum" idx="12"/>
          </p:nvPr>
        </p:nvSpPr>
        <p:spPr>
          <a:xfrm>
            <a:off x="838200" y="625429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4992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13128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C79FD-C571-418B-AB0F-5EE936C85276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3852" y="6045988"/>
            <a:ext cx="1715733" cy="45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9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  <p:sldLayoutId id="2147483908" r:id="rId14"/>
    <p:sldLayoutId id="2147483909" r:id="rId15"/>
    <p:sldLayoutId id="2147483910" r:id="rId16"/>
    <p:sldLayoutId id="2147483911" r:id="rId17"/>
    <p:sldLayoutId id="2147483912" r:id="rId18"/>
    <p:sldLayoutId id="2147483913" r:id="rId19"/>
    <p:sldLayoutId id="2147483914" r:id="rId20"/>
    <p:sldLayoutId id="2147483915" r:id="rId21"/>
    <p:sldLayoutId id="2147483916" r:id="rId22"/>
    <p:sldLayoutId id="2147483917" r:id="rId23"/>
    <p:sldLayoutId id="2147483918" r:id="rId2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1BB65F-2D78-DF4F-2045-4DFB8E087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7659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L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6D873-08AA-B05E-EEF2-26580979A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54667"/>
            <a:ext cx="10515600" cy="4821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L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46212-B238-640A-F74A-CA77B643E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18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F67114D-ED23-2A43-BD26-04D629DC704A}" type="slidenum">
              <a:rPr lang="en-LU" smtClean="0"/>
              <a:pPr/>
              <a:t>‹#›</a:t>
            </a:fld>
            <a:endParaRPr lang="en-L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E85B63-11E9-0513-CDFE-D20C89768ACD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38201" y="6356351"/>
            <a:ext cx="1112761" cy="18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13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333" kern="1200">
          <a:solidFill>
            <a:srgbClr val="F15A24"/>
          </a:solidFill>
          <a:latin typeface="+mn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Clr>
          <a:srgbClr val="F15A24"/>
        </a:buClr>
        <a:buFont typeface="Arial" panose="020B0604020202020204" pitchFamily="34" charset="0"/>
        <a:buChar char="•"/>
        <a:defRPr sz="3733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F15A24"/>
        </a:buClr>
        <a:buFont typeface="Arial" panose="020B0604020202020204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F15A24"/>
        </a:buClr>
        <a:buFont typeface="Arial" panose="020B0604020202020204" pitchFamily="34" charset="0"/>
        <a:buChar char="•"/>
        <a:defRPr sz="2667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F15A24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F15A24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 descr="EC-JRC-logo_horizontal_EN_pos_transparent-background.pn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45929" y="6177847"/>
            <a:ext cx="1727997" cy="4672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>
            <a:spLocks noGrp="1"/>
          </p:cNvSpPr>
          <p:nvPr>
            <p:ph type="sldNum" idx="12"/>
          </p:nvPr>
        </p:nvSpPr>
        <p:spPr>
          <a:xfrm>
            <a:off x="838200" y="625429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949494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949494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37205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4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github.com/INSPIRE-MIF/GeoDCAT-AP-pilot/" TargetMode="External"/><Relationship Id="rId7" Type="http://schemas.openxmlformats.org/officeDocument/2006/relationships/image" Target="../media/image20.png"/><Relationship Id="rId2" Type="http://schemas.openxmlformats.org/officeDocument/2006/relationships/hyperlink" Target="https://wikis.ec.europa.eu/display/InspireMIG/Action+2.5+Alignment+of+INSPIRE+and+high-value+dataset+implement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ttps://github.com/INSPIRE-MIF/GeoDCAT-AP-pilot/blob/main/final-report/ISO-GeoDCAT-AP_Pilot_issues_v3_FinalReport.xlsx" TargetMode="External"/><Relationship Id="rId3" Type="http://schemas.openxmlformats.org/officeDocument/2006/relationships/image" Target="../media/image25.png"/><Relationship Id="rId7" Type="http://schemas.openxmlformats.org/officeDocument/2006/relationships/hyperlink" Target="https://data.europa.eu/doi/10.2760/9289518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INSPIRE-MIF/GeoDCAT-AP-pilot/tree/main/good-practices/hvd-tagging" TargetMode="Externa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op.europa.eu/en/web/endorse-2025/programme" TargetMode="External"/><Relationship Id="rId1" Type="http://schemas.openxmlformats.org/officeDocument/2006/relationships/slideLayout" Target="../slideLayouts/slideLayout50.xml"/><Relationship Id="rId5" Type="http://schemas.openxmlformats.org/officeDocument/2006/relationships/image" Target="../media/image24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joint-research-centre.ec.europa.eu/index_en" TargetMode="External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1589" y="2095624"/>
            <a:ext cx="10114571" cy="2249334"/>
          </a:xfrm>
        </p:spPr>
        <p:txBody>
          <a:bodyPr lIns="0" tIns="45720" rIns="91440" bIns="45720" anchor="b">
            <a:noAutofit/>
          </a:bodyPr>
          <a:lstStyle/>
          <a:p>
            <a:r>
              <a:rPr lang="en-GB" sz="5400" b="1" dirty="0"/>
              <a:t>ISO &amp; GeoDCAT-AP pilot</a:t>
            </a:r>
            <a:br>
              <a:rPr lang="en-GB" sz="4000" dirty="0"/>
            </a:br>
            <a:r>
              <a:rPr lang="en-GB" sz="3600" dirty="0"/>
              <a:t>Working Plan Proposal</a:t>
            </a:r>
            <a:br>
              <a:rPr lang="en-GB" sz="3600" dirty="0"/>
            </a:br>
            <a:endParaRPr lang="en-GB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6389" y="4836407"/>
            <a:ext cx="10011597" cy="1006726"/>
          </a:xfrm>
        </p:spPr>
        <p:txBody>
          <a:bodyPr lIns="0" tIns="45720" rIns="91440" bIns="4572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GB" sz="2200" dirty="0">
                <a:solidFill>
                  <a:srgbClr val="F8CC29"/>
                </a:solidFill>
                <a:ea typeface="+mn-lt"/>
                <a:cs typeface="+mn-lt"/>
              </a:rPr>
              <a:t>ISO &amp; GeoDCAT-AP Pilot - Phase 2 - Kick-off Meeting – December 5, 2025</a:t>
            </a:r>
            <a:endParaRPr lang="en-GB" dirty="0">
              <a:cs typeface="Arial"/>
            </a:endParaRPr>
          </a:p>
          <a:p>
            <a:endParaRPr lang="en-GB" dirty="0">
              <a:cs typeface="Arial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sz="2000" dirty="0"/>
              <a:t>Jordi Escriu, Hagar Lowenthal</a:t>
            </a:r>
            <a:endParaRPr lang="en-GB" sz="2000" dirty="0">
              <a:cs typeface="Arial"/>
            </a:endParaRPr>
          </a:p>
          <a:p>
            <a:r>
              <a:rPr lang="en-GB" sz="2000" dirty="0">
                <a:cs typeface="Arial"/>
              </a:rPr>
              <a:t>European Commission, Joint Research Centre</a:t>
            </a:r>
          </a:p>
        </p:txBody>
      </p:sp>
    </p:spTree>
    <p:extLst>
      <p:ext uri="{BB962C8B-B14F-4D97-AF65-F5344CB8AC3E}">
        <p14:creationId xmlns:p14="http://schemas.microsoft.com/office/powerpoint/2010/main" val="1306284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70721" y="575220"/>
            <a:ext cx="5969094" cy="782357"/>
          </a:xfrm>
        </p:spPr>
        <p:txBody>
          <a:bodyPr/>
          <a:lstStyle/>
          <a:p>
            <a:pPr algn="l"/>
            <a:r>
              <a:rPr lang="en-GB" sz="3600" b="1" dirty="0"/>
              <a:t>ISO &amp; GeoDCAT-AP </a:t>
            </a:r>
            <a:br>
              <a:rPr lang="en-GB" sz="3600" b="1" dirty="0"/>
            </a:br>
            <a:r>
              <a:rPr lang="en-GB" sz="3600" b="1" dirty="0"/>
              <a:t>Pilot</a:t>
            </a:r>
            <a:endParaRPr lang="en-GB" sz="3600" b="1" dirty="0">
              <a:solidFill>
                <a:srgbClr val="00B0F0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6470" y="1508760"/>
            <a:ext cx="5854147" cy="2981509"/>
          </a:xfrm>
          <a:noFill/>
        </p:spPr>
        <p:txBody>
          <a:bodyPr/>
          <a:lstStyle/>
          <a:p>
            <a:pPr marL="347663" indent="-331788"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MIG Action 2.5</a:t>
            </a:r>
            <a:r>
              <a:rPr lang="en-US" sz="2000" dirty="0"/>
              <a:t> (</a:t>
            </a:r>
            <a:r>
              <a:rPr lang="en-US" sz="2000" dirty="0">
                <a:hlinkClick r:id="rId2"/>
              </a:rPr>
              <a:t>URL</a:t>
            </a:r>
            <a:r>
              <a:rPr lang="en-US" sz="2000" dirty="0"/>
              <a:t>)</a:t>
            </a:r>
            <a:endParaRPr lang="en-US" sz="2000" b="1" dirty="0"/>
          </a:p>
          <a:p>
            <a:pPr marL="347663" indent="0">
              <a:spcAft>
                <a:spcPts val="600"/>
              </a:spcAft>
              <a:buNone/>
            </a:pPr>
            <a:r>
              <a:rPr lang="en-US" sz="2000" dirty="0"/>
              <a:t>Ad-hoc Subgroup on the </a:t>
            </a:r>
            <a:r>
              <a:rPr lang="en-US" sz="2000" dirty="0">
                <a:solidFill>
                  <a:srgbClr val="0070C0"/>
                </a:solidFill>
              </a:rPr>
              <a:t>Alignment of INSPIRE and High-Value Datasets</a:t>
            </a:r>
            <a:r>
              <a:rPr lang="en-US" sz="2000" dirty="0"/>
              <a:t> implementation.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</a:pPr>
            <a:endParaRPr lang="en-GB" sz="20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</a:pPr>
            <a:endParaRPr lang="en-GB" sz="20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</a:pPr>
            <a:endParaRPr lang="en-GB" sz="20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</a:pPr>
            <a:endParaRPr lang="en-GB" sz="20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</a:pPr>
            <a:endParaRPr lang="en-GB" sz="20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</a:pPr>
            <a:endParaRPr lang="en-GB" sz="20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</a:pPr>
            <a:r>
              <a:rPr lang="en-GB" sz="2000" dirty="0">
                <a:solidFill>
                  <a:schemeClr val="tx1"/>
                </a:solidFill>
              </a:rPr>
              <a:t>Cross-community collaboration activity.</a:t>
            </a:r>
          </a:p>
          <a:p>
            <a:pPr marL="357188" indent="-6350">
              <a:spcAft>
                <a:spcPts val="600"/>
              </a:spcAft>
              <a:buNone/>
            </a:pPr>
            <a:r>
              <a:rPr lang="en-GB" sz="1800" dirty="0">
                <a:solidFill>
                  <a:schemeClr val="tx1"/>
                </a:solidFill>
                <a:hlinkClick r:id="rId3"/>
              </a:rPr>
              <a:t>https://github.com/INSPIRE-MIF/GeoDCAT-AP-pilot/</a:t>
            </a:r>
            <a:r>
              <a:rPr lang="en-GB" sz="1800" dirty="0">
                <a:solidFill>
                  <a:schemeClr val="tx1"/>
                </a:solidFill>
              </a:rPr>
              <a:t>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9EDC60-5031-C598-0CB3-7FBB0AD6EB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420"/>
          <a:stretch/>
        </p:blipFill>
        <p:spPr>
          <a:xfrm>
            <a:off x="6715721" y="119270"/>
            <a:ext cx="5310626" cy="66476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A041BD-F1D3-A1CD-E408-6F571173B7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599" y="2816923"/>
            <a:ext cx="5343696" cy="1328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657D3C-3817-2901-5DED-769022611D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599" y="4144976"/>
            <a:ext cx="5343696" cy="169862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F538BC-E662-A2AF-6483-D11D77BE77AB}"/>
              </a:ext>
            </a:extLst>
          </p:cNvPr>
          <p:cNvGrpSpPr>
            <a:grpSpLocks noChangeAspect="1"/>
          </p:cNvGrpSpPr>
          <p:nvPr/>
        </p:nvGrpSpPr>
        <p:grpSpPr>
          <a:xfrm>
            <a:off x="10609500" y="5590540"/>
            <a:ext cx="1238581" cy="1104000"/>
            <a:chOff x="7242086" y="1016750"/>
            <a:chExt cx="1211655" cy="1080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1A9E8EF-E49E-7739-0478-DC1F2535A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70846" y="1016750"/>
              <a:ext cx="982895" cy="10800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8862B95-845B-E10C-AFE6-EA9B5BDA67A1}"/>
                </a:ext>
              </a:extLst>
            </p:cNvPr>
            <p:cNvGrpSpPr/>
            <p:nvPr/>
          </p:nvGrpSpPr>
          <p:grpSpPr>
            <a:xfrm>
              <a:off x="7242086" y="1491059"/>
              <a:ext cx="540572" cy="558137"/>
              <a:chOff x="6541501" y="1519112"/>
              <a:chExt cx="540572" cy="558137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75CED36-3265-18B7-CA19-4CBDFAE4AC70}"/>
                  </a:ext>
                </a:extLst>
              </p:cNvPr>
              <p:cNvSpPr/>
              <p:nvPr/>
            </p:nvSpPr>
            <p:spPr>
              <a:xfrm>
                <a:off x="6649102" y="1519112"/>
                <a:ext cx="432971" cy="432971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2583D606-9975-7A26-8977-57855A3C5B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541501" y="1519113"/>
                <a:ext cx="537075" cy="55813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57039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3AC4D-38F1-95B6-D882-8193498D45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Phase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A6726-BB6D-6C28-7457-9A8C5C151D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825621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B2220-E2F0-558F-40EF-E6236687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69BB4D-A40B-FE89-FA0F-43B243C39FA3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03955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Pilot Phase 1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Finished in June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310C8-E0E6-F3E8-D903-D0B077E263B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1" y="240000"/>
            <a:ext cx="1004737" cy="1104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2C6271-5460-9B62-3890-2FE27CC60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047393"/>
            <a:ext cx="12009120" cy="359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46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AA385-5491-7962-A783-2274DB426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CD114BE5-AE94-E63C-2822-8FE27AA77664}"/>
              </a:ext>
            </a:extLst>
          </p:cNvPr>
          <p:cNvSpPr txBox="1">
            <a:spLocks/>
          </p:cNvSpPr>
          <p:nvPr/>
        </p:nvSpPr>
        <p:spPr>
          <a:xfrm>
            <a:off x="970721" y="575220"/>
            <a:ext cx="5969094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3600" b="1" dirty="0">
                <a:solidFill>
                  <a:srgbClr val="034EA2"/>
                </a:solidFill>
              </a:rPr>
              <a:t>Pilot Phase 1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Main results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19A735-CB9C-A2D3-F2E7-B42F983324F0}"/>
              </a:ext>
            </a:extLst>
          </p:cNvPr>
          <p:cNvSpPr txBox="1">
            <a:spLocks/>
          </p:cNvSpPr>
          <p:nvPr/>
        </p:nvSpPr>
        <p:spPr>
          <a:xfrm>
            <a:off x="838199" y="1354667"/>
            <a:ext cx="11008932" cy="4821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3467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933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F15A24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2667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04792" marR="0" lvl="0" indent="-304792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F15A2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04792" marR="0" lvl="0" indent="-304792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F15A2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04792" marR="0" lvl="0" indent="-304792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F15A2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04792" marR="0" lvl="0" indent="-304792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F15A2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04792" marR="0" lvl="0" indent="-304792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F15A2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04792" marR="0" lvl="0" indent="-304792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F15A2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667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04792" marR="0" lvl="0" indent="-304792" algn="l" defTabSz="1219170" rtl="0" eaLnBrk="1" fontAlgn="auto" latinLnBrk="0" hangingPunct="1">
              <a:lnSpc>
                <a:spcPct val="100000"/>
              </a:lnSpc>
              <a:spcBef>
                <a:spcPts val="2933"/>
              </a:spcBef>
              <a:spcAft>
                <a:spcPts val="0"/>
              </a:spcAft>
              <a:buClr>
                <a:schemeClr val="accent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Continued support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geospatial HVDs reporting: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Pilot Phase 2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until Feb. 2027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ECCA13-E091-A43E-CB6F-EF834A3D754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40000"/>
            <a:ext cx="1007157" cy="110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781B62-F927-A19F-4DFC-7B03DE3F1C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297" b="23280"/>
          <a:stretch/>
        </p:blipFill>
        <p:spPr>
          <a:xfrm>
            <a:off x="191322" y="2222281"/>
            <a:ext cx="3864239" cy="21452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7A84DE-E75F-E6F3-A173-4D9EC28D8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259" y="2233926"/>
            <a:ext cx="4641276" cy="21335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9CEAEB47-5995-B3A7-CA4C-552751A0C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2245" y="161415"/>
            <a:ext cx="2959832" cy="4206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79AED3-6713-D7BE-A802-7731B6C80CC5}"/>
              </a:ext>
            </a:extLst>
          </p:cNvPr>
          <p:cNvSpPr txBox="1"/>
          <p:nvPr/>
        </p:nvSpPr>
        <p:spPr>
          <a:xfrm>
            <a:off x="20320" y="4517760"/>
            <a:ext cx="4206240" cy="10874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609585"/>
            <a:r>
              <a:rPr lang="en-US" sz="1867" b="1" dirty="0">
                <a:solidFill>
                  <a:srgbClr val="0070C0"/>
                </a:solidFill>
                <a:latin typeface="Calibri" panose="020F0502020204030204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Geospatial HVDs tagging good practice</a:t>
            </a:r>
            <a:endParaRPr lang="en-US" sz="1867" b="1" dirty="0">
              <a:solidFill>
                <a:srgbClr val="0070C0"/>
              </a:solidFill>
              <a:latin typeface="Calibri" panose="020F0502020204030204"/>
            </a:endParaRPr>
          </a:p>
          <a:p>
            <a:pPr algn="ctr" defTabSz="609585">
              <a:spcBef>
                <a:spcPts val="800"/>
              </a:spcBef>
            </a:pPr>
            <a:r>
              <a:rPr lang="en-GB" sz="1867" dirty="0">
                <a:solidFill>
                  <a:prstClr val="black"/>
                </a:solidFill>
                <a:latin typeface="Calibri" panose="020F0502020204030204"/>
              </a:rPr>
              <a:t>Agreed way to </a:t>
            </a:r>
            <a:r>
              <a:rPr lang="en-GB" sz="1867" dirty="0">
                <a:solidFill>
                  <a:srgbClr val="0070C0"/>
                </a:solidFill>
                <a:latin typeface="Calibri" panose="020F0502020204030204"/>
              </a:rPr>
              <a:t>identify and classify HVDs</a:t>
            </a:r>
            <a:r>
              <a:rPr lang="en-GB" sz="1867" dirty="0">
                <a:solidFill>
                  <a:prstClr val="black"/>
                </a:solidFill>
                <a:latin typeface="Calibri" panose="020F0502020204030204"/>
              </a:rPr>
              <a:t> (category and subcategory)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9FF31C-A3F5-D291-9A20-936FF1E58B5B}"/>
              </a:ext>
            </a:extLst>
          </p:cNvPr>
          <p:cNvSpPr txBox="1"/>
          <p:nvPr/>
        </p:nvSpPr>
        <p:spPr>
          <a:xfrm>
            <a:off x="4013200" y="4517760"/>
            <a:ext cx="3677920" cy="10874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609585"/>
            <a:r>
              <a:rPr lang="en-GB" sz="1867" b="1" dirty="0">
                <a:solidFill>
                  <a:srgbClr val="0070C0"/>
                </a:solidFill>
                <a:latin typeface="Calibri" panose="020F0502020204030204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Final Report - Pilot Phase 1</a:t>
            </a:r>
            <a:endParaRPr lang="en-GB" sz="1867" b="1" dirty="0">
              <a:solidFill>
                <a:srgbClr val="0070C0"/>
              </a:solidFill>
              <a:latin typeface="Calibri" panose="020F0502020204030204"/>
            </a:endParaRPr>
          </a:p>
          <a:p>
            <a:pPr algn="ctr" defTabSz="609585">
              <a:spcBef>
                <a:spcPts val="800"/>
              </a:spcBef>
            </a:pPr>
            <a:r>
              <a:rPr lang="en-GB" sz="1867" dirty="0">
                <a:solidFill>
                  <a:srgbClr val="0070C0"/>
                </a:solidFill>
                <a:latin typeface="Calibri" panose="020F0502020204030204"/>
              </a:rPr>
              <a:t>Expectations</a:t>
            </a:r>
            <a:r>
              <a:rPr lang="en-GB" sz="1867" dirty="0">
                <a:solidFill>
                  <a:prstClr val="black"/>
                </a:solidFill>
                <a:latin typeface="Calibri" panose="020F0502020204030204"/>
              </a:rPr>
              <a:t>, testing </a:t>
            </a:r>
            <a:r>
              <a:rPr lang="en-GB" sz="1867" dirty="0">
                <a:solidFill>
                  <a:srgbClr val="0070C0"/>
                </a:solidFill>
                <a:latin typeface="Calibri" panose="020F0502020204030204"/>
              </a:rPr>
              <a:t>approaches</a:t>
            </a:r>
            <a:r>
              <a:rPr lang="en-GB" sz="1867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-GB" sz="1867" dirty="0">
                <a:solidFill>
                  <a:srgbClr val="0070C0"/>
                </a:solidFill>
                <a:latin typeface="Calibri" panose="020F0502020204030204"/>
              </a:rPr>
              <a:t>issues</a:t>
            </a:r>
            <a:r>
              <a:rPr lang="en-GB" sz="1867" dirty="0">
                <a:solidFill>
                  <a:prstClr val="black"/>
                </a:solidFill>
                <a:latin typeface="Calibri" panose="020F0502020204030204"/>
              </a:rPr>
              <a:t> identified and </a:t>
            </a:r>
            <a:r>
              <a:rPr lang="en-GB" sz="1867" dirty="0">
                <a:solidFill>
                  <a:srgbClr val="0070C0"/>
                </a:solidFill>
                <a:latin typeface="Calibri" panose="020F0502020204030204"/>
              </a:rPr>
              <a:t>conclusions</a:t>
            </a:r>
            <a:endParaRPr lang="en-GB" sz="1867" b="1" dirty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2567CA-6305-CF5A-A682-D32AA8045ABF}"/>
              </a:ext>
            </a:extLst>
          </p:cNvPr>
          <p:cNvSpPr txBox="1"/>
          <p:nvPr/>
        </p:nvSpPr>
        <p:spPr>
          <a:xfrm>
            <a:off x="7805185" y="4517760"/>
            <a:ext cx="4049425" cy="10874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609585"/>
            <a:r>
              <a:rPr lang="en-GB" sz="1867" b="1" dirty="0">
                <a:solidFill>
                  <a:srgbClr val="0070C0"/>
                </a:solidFill>
                <a:latin typeface="Calibri" panose="020F0502020204030204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Bunch of issues collected on GitHub</a:t>
            </a:r>
            <a:endParaRPr lang="en-GB" sz="1867" b="1" dirty="0">
              <a:solidFill>
                <a:srgbClr val="0070C0"/>
              </a:solidFill>
              <a:latin typeface="Calibri" panose="020F0502020204030204"/>
            </a:endParaRPr>
          </a:p>
          <a:p>
            <a:pPr algn="ctr" defTabSz="609585">
              <a:spcBef>
                <a:spcPts val="800"/>
              </a:spcBef>
            </a:pPr>
            <a:r>
              <a:rPr lang="en-GB" sz="1867" dirty="0">
                <a:solidFill>
                  <a:srgbClr val="0070C0"/>
                </a:solidFill>
                <a:latin typeface="Calibri" panose="020F0502020204030204"/>
              </a:rPr>
              <a:t>Issues-summary spreadsheet </a:t>
            </a:r>
            <a:r>
              <a:rPr lang="en-GB" sz="1867" dirty="0">
                <a:solidFill>
                  <a:prstClr val="black"/>
                </a:solidFill>
                <a:latin typeface="Calibri" panose="020F0502020204030204"/>
              </a:rPr>
              <a:t>available, including </a:t>
            </a:r>
            <a:r>
              <a:rPr lang="en-GB" sz="1867" dirty="0">
                <a:solidFill>
                  <a:srgbClr val="0070C0"/>
                </a:solidFill>
                <a:latin typeface="Calibri" panose="020F0502020204030204"/>
              </a:rPr>
              <a:t>issue classification and status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215469-490C-59F1-6CEA-E6B8B9F5D35D}"/>
              </a:ext>
            </a:extLst>
          </p:cNvPr>
          <p:cNvSpPr txBox="1"/>
          <p:nvPr/>
        </p:nvSpPr>
        <p:spPr>
          <a:xfrm>
            <a:off x="2682321" y="2874754"/>
            <a:ext cx="1477960" cy="707694"/>
          </a:xfrm>
          <a:prstGeom prst="rect">
            <a:avLst/>
          </a:prstGeom>
          <a:solidFill>
            <a:srgbClr val="F8CC29">
              <a:lumMod val="20000"/>
              <a:lumOff val="80000"/>
            </a:srgbClr>
          </a:solidFill>
          <a:ln w="25400">
            <a:solidFill>
              <a:srgbClr val="0000CC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defRPr>
            </a:lvl1pPr>
          </a:lstStyle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33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Mono-lingual &amp; Multi-lingual examples</a:t>
            </a:r>
            <a:endParaRPr kumimoji="0" lang="en-GB" sz="1333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145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8750560-9D95-C883-F051-EFDA59A75428}"/>
              </a:ext>
            </a:extLst>
          </p:cNvPr>
          <p:cNvSpPr txBox="1"/>
          <p:nvPr/>
        </p:nvSpPr>
        <p:spPr>
          <a:xfrm>
            <a:off x="1077014" y="351350"/>
            <a:ext cx="10289192" cy="29238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endParaRPr kumimoji="0" lang="es-ES" sz="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ED8D2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</a:p>
          <a:p>
            <a:pPr marL="287338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  <a:hlinkClick r:id="rId2"/>
              </a:rPr>
              <a:t>Paving the way for European geospatial data sharing:</a:t>
            </a:r>
          </a:p>
          <a:p>
            <a:pPr marL="2873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  <a:hlinkClick r:id="rId2"/>
              </a:rPr>
              <a:t>The ISO &amp; GeoDCAT-AP Metadata Implementation Pilot</a:t>
            </a:r>
            <a:endParaRPr kumimoji="0" lang="es-ES" sz="2600" b="0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9" name="Picture 8" descr="A black and orange logo&#10;&#10;AI-generated content may be incorrect.">
            <a:extLst>
              <a:ext uri="{FF2B5EF4-FFF2-40B4-BE49-F238E27FC236}">
                <a16:creationId xmlns:a16="http://schemas.microsoft.com/office/drawing/2014/main" id="{FA6861AA-46C8-6A26-87D1-53981C3D7A5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6234" y="1446978"/>
            <a:ext cx="6573777" cy="847136"/>
          </a:xfrm>
          <a:prstGeom prst="rect">
            <a:avLst/>
          </a:prstGeom>
          <a:noFill/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D32BC8D8-F8A2-F8F7-DD8E-0BB5EFD90964}"/>
              </a:ext>
            </a:extLst>
          </p:cNvPr>
          <p:cNvSpPr txBox="1">
            <a:spLocks/>
          </p:cNvSpPr>
          <p:nvPr/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74B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174B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74B0"/>
              </a:buClr>
              <a:buSzPts val="6000"/>
              <a:buFont typeface="Arial"/>
              <a:buNone/>
              <a:tabLst/>
              <a:defRPr/>
            </a:pPr>
            <a:r>
              <a:rPr lang="en-US" sz="3600" b="1" dirty="0">
                <a:solidFill>
                  <a:srgbClr val="034EA2"/>
                </a:solidFill>
                <a:ea typeface="+mj-ea"/>
                <a:cs typeface="+mj-cs"/>
              </a:rPr>
              <a:t>Pilot Phase 1</a:t>
            </a:r>
            <a:b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174B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6ACBF3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We pres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ented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6ACBF3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our results at…</a:t>
            </a:r>
            <a:endParaRPr kumimoji="0" lang="es-ES" sz="6000" b="0" i="0" u="none" strike="noStrike" kern="0" cap="none" spc="0" normalizeH="0" baseline="0" noProof="0" dirty="0">
              <a:ln>
                <a:noFill/>
              </a:ln>
              <a:solidFill>
                <a:srgbClr val="2174B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AB0EFE-197C-08E0-FB1C-FD1FDA219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86" y="3280357"/>
            <a:ext cx="11393490" cy="35056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A0821A-746B-7E3B-2FA5-B40814DE2701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40000"/>
            <a:ext cx="1007157" cy="11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32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16058-C195-77F6-0974-D5F728DF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6E3A159B-541F-48E6-9445-7E340E6AA286}"/>
              </a:ext>
            </a:extLst>
          </p:cNvPr>
          <p:cNvSpPr txBox="1">
            <a:spLocks/>
          </p:cNvSpPr>
          <p:nvPr/>
        </p:nvSpPr>
        <p:spPr>
          <a:xfrm>
            <a:off x="970721" y="575220"/>
            <a:ext cx="5969094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3600" b="1" dirty="0">
                <a:solidFill>
                  <a:srgbClr val="034EA2"/>
                </a:solidFill>
              </a:rPr>
              <a:t>Pilot Phase 1</a:t>
            </a:r>
            <a:br>
              <a:rPr lang="en-US" sz="3600" b="1" kern="0" dirty="0">
                <a:solidFill>
                  <a:srgbClr val="2174B0"/>
                </a:solidFill>
                <a:cs typeface="Arial"/>
                <a:sym typeface="Arial"/>
              </a:rPr>
            </a:br>
            <a:r>
              <a:rPr lang="en-GB" sz="3600" b="1" dirty="0">
                <a:solidFill>
                  <a:srgbClr val="19AFEC"/>
                </a:solidFill>
              </a:rPr>
              <a:t>Conclusions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19AFEC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F5E3CC-9192-8A8B-BB16-FD0644F096B6}"/>
              </a:ext>
            </a:extLst>
          </p:cNvPr>
          <p:cNvSpPr txBox="1">
            <a:spLocks/>
          </p:cNvSpPr>
          <p:nvPr/>
        </p:nvSpPr>
        <p:spPr>
          <a:xfrm>
            <a:off x="838200" y="1371600"/>
            <a:ext cx="10966537" cy="4821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3467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933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792" marR="0" lvl="0" indent="-304792" algn="l" defTabSz="121917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rgbClr val="F15A2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7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lang="en-GB" sz="2800" dirty="0">
                <a:solidFill>
                  <a:srgbClr val="0070C0"/>
                </a:solidFill>
                <a:latin typeface="Calibri" panose="020F0502020204030204"/>
              </a:rPr>
              <a:t>Qualitative transformation maturity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lang="en-US" sz="2400" dirty="0">
                <a:solidFill>
                  <a:srgbClr val="090F16"/>
                </a:solidFill>
                <a:latin typeface="Calibri" panose="020F0502020204030204"/>
              </a:rPr>
              <a:t>Phase 1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lang="en-US" sz="2200" dirty="0">
                <a:solidFill>
                  <a:srgbClr val="0070C0"/>
                </a:solidFill>
                <a:latin typeface="Calibri" panose="020F0502020204030204"/>
              </a:rPr>
              <a:t>First step towards improving the GeoDCAT-AP specification / XSLT</a:t>
            </a:r>
            <a:r>
              <a:rPr lang="en-US" sz="2200" dirty="0">
                <a:solidFill>
                  <a:srgbClr val="090F16"/>
                </a:solidFill>
                <a:latin typeface="Calibri" panose="020F0502020204030204"/>
              </a:rPr>
              <a:t>. 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lang="en-US" sz="2200" dirty="0">
                <a:solidFill>
                  <a:srgbClr val="0070C0"/>
                </a:solidFill>
                <a:latin typeface="Calibri" panose="020F0502020204030204"/>
              </a:rPr>
              <a:t>Several issues still open</a:t>
            </a:r>
            <a:r>
              <a:rPr lang="en-US" sz="2200" dirty="0">
                <a:solidFill>
                  <a:srgbClr val="090F16"/>
                </a:solidFill>
                <a:latin typeface="Calibri" panose="020F0502020204030204"/>
              </a:rPr>
              <a:t>, other yet to be discovered. 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lang="en-US" sz="2200" dirty="0">
                <a:solidFill>
                  <a:srgbClr val="0070C0"/>
                </a:solidFill>
                <a:latin typeface="Calibri" panose="020F0502020204030204"/>
              </a:rPr>
              <a:t>No maturity evaluation </a:t>
            </a:r>
            <a:r>
              <a:rPr lang="en-US" sz="2200" dirty="0">
                <a:solidFill>
                  <a:srgbClr val="090F16"/>
                </a:solidFill>
                <a:latin typeface="Calibri" panose="020F0502020204030204"/>
              </a:rPr>
              <a:t>performed.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lang="en-US" sz="2400" dirty="0">
                <a:solidFill>
                  <a:srgbClr val="090F16"/>
                </a:solidFill>
                <a:latin typeface="Calibri" panose="020F0502020204030204"/>
              </a:rPr>
              <a:t>Tangible results: 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lang="en-US" sz="2200" dirty="0">
                <a:solidFill>
                  <a:srgbClr val="0070C0"/>
                </a:solidFill>
                <a:latin typeface="Calibri" panose="020F0502020204030204"/>
              </a:rPr>
              <a:t>Encoding of geospatial High-Value Datasets</a:t>
            </a:r>
            <a:r>
              <a:rPr lang="en-US" sz="220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libri" panose="020F0502020204030204"/>
              </a:rPr>
              <a:t> </a:t>
            </a:r>
            <a:r>
              <a:rPr lang="en-US" sz="2200" dirty="0">
                <a:solidFill>
                  <a:srgbClr val="090F16"/>
                </a:solidFill>
                <a:latin typeface="Calibri" panose="020F0502020204030204"/>
              </a:rPr>
              <a:t>(HVDs).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lang="en-US" sz="2200" dirty="0">
                <a:solidFill>
                  <a:srgbClr val="0070C0"/>
                </a:solidFill>
                <a:latin typeface="Calibri" panose="020F0502020204030204"/>
              </a:rPr>
              <a:t>SEMIC asset updates </a:t>
            </a:r>
            <a:r>
              <a:rPr lang="en-US" sz="2200" dirty="0">
                <a:solidFill>
                  <a:srgbClr val="090F16"/>
                </a:solidFill>
                <a:latin typeface="Calibri" panose="020F0502020204030204"/>
              </a:rPr>
              <a:t>(GeoDCAT-AP specification / XSLT) by ~ end 2025.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lang="en-US" sz="2400" dirty="0">
                <a:solidFill>
                  <a:srgbClr val="090F16"/>
                </a:solidFill>
                <a:latin typeface="Calibri" panose="020F0502020204030204"/>
              </a:rPr>
              <a:t>Member States 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lang="en-US" sz="2200" dirty="0">
                <a:solidFill>
                  <a:srgbClr val="0070C0"/>
                </a:solidFill>
                <a:latin typeface="Calibri" panose="020F0502020204030204"/>
              </a:rPr>
              <a:t>Still facing migration of own tools</a:t>
            </a:r>
            <a:r>
              <a:rPr lang="en-US" sz="2200" dirty="0">
                <a:solidFill>
                  <a:srgbClr val="090F16"/>
                </a:solidFill>
                <a:latin typeface="Calibri" panose="020F0502020204030204"/>
              </a:rPr>
              <a:t> / catalogues from DCAT/GeoDCAT </a:t>
            </a:r>
            <a:r>
              <a:rPr lang="en-US" sz="2200" dirty="0">
                <a:solidFill>
                  <a:srgbClr val="0070C0"/>
                </a:solidFill>
                <a:latin typeface="Calibri" panose="020F0502020204030204"/>
              </a:rPr>
              <a:t>v2 to v3</a:t>
            </a:r>
            <a:r>
              <a:rPr lang="en-US" sz="2200" dirty="0">
                <a:solidFill>
                  <a:srgbClr val="090F16"/>
                </a:solidFill>
                <a:latin typeface="Calibri" panose="020F0502020204030204"/>
              </a:rPr>
              <a:t>.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lang="en-US" sz="2200" dirty="0">
                <a:solidFill>
                  <a:srgbClr val="0070C0"/>
                </a:solidFill>
                <a:latin typeface="Calibri" panose="020F0502020204030204"/>
              </a:rPr>
              <a:t>Implementing geospatial HVD-tagging good practice</a:t>
            </a:r>
            <a:r>
              <a:rPr lang="en-US" sz="2200" dirty="0">
                <a:solidFill>
                  <a:srgbClr val="090F16"/>
                </a:solidFill>
                <a:latin typeface="Calibri" panose="020F0502020204030204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CC49B4-98D0-CB4E-5AD5-15566F70E82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1" y="240000"/>
            <a:ext cx="1004737" cy="11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1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C9182-4946-1EFA-9D8E-DC60C41AD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716E32D-4E77-91AC-2347-842929CEC2E0}"/>
              </a:ext>
            </a:extLst>
          </p:cNvPr>
          <p:cNvSpPr txBox="1">
            <a:spLocks/>
          </p:cNvSpPr>
          <p:nvPr/>
        </p:nvSpPr>
        <p:spPr>
          <a:xfrm>
            <a:off x="970721" y="575220"/>
            <a:ext cx="5969094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3600" b="1" dirty="0">
                <a:solidFill>
                  <a:srgbClr val="034EA2"/>
                </a:solidFill>
              </a:rPr>
              <a:t>Pilot Phase 1</a:t>
            </a:r>
            <a:br>
              <a:rPr lang="en-US" sz="3600" b="1" kern="0" dirty="0">
                <a:solidFill>
                  <a:srgbClr val="2174B0"/>
                </a:solidFill>
                <a:cs typeface="Arial"/>
                <a:sym typeface="Arial"/>
              </a:rPr>
            </a:br>
            <a:r>
              <a:rPr lang="en-GB" sz="3600" b="1" dirty="0">
                <a:solidFill>
                  <a:srgbClr val="19AFEC"/>
                </a:solidFill>
              </a:rPr>
              <a:t>Challenges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19AFEC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07F1FD-9363-52D9-56A7-CB0ACC35DA90}"/>
              </a:ext>
            </a:extLst>
          </p:cNvPr>
          <p:cNvSpPr txBox="1">
            <a:spLocks/>
          </p:cNvSpPr>
          <p:nvPr/>
        </p:nvSpPr>
        <p:spPr>
          <a:xfrm>
            <a:off x="838200" y="1600200"/>
            <a:ext cx="10966537" cy="4821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3467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933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792" marR="0" lvl="0" indent="-304792" algn="l" defTabSz="121917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rgbClr val="F15A2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7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90F1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Smooth integration of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geospatial / INSPIRE data into data.</a:t>
            </a:r>
            <a:r>
              <a:rPr lang="en-GB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uropa.eu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lang="en-GB" sz="2000" dirty="0">
                <a:solidFill>
                  <a:srgbClr val="090F1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support to MSs on the identification and solution of transformation issues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90F1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Geospatial data filtering in data.</a:t>
            </a:r>
            <a:r>
              <a:rPr lang="en-GB" sz="2000" dirty="0">
                <a:solidFill>
                  <a:srgbClr val="090F1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90F1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uropa.eu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lang="en-GB" sz="2000" dirty="0">
                <a:solidFill>
                  <a:srgbClr val="090F1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Others to be identified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90F16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Quantitative</a:t>
            </a:r>
            <a:r>
              <a:rPr lang="en-GB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measurement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90F1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metadata transformation maturity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90F1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2400" dirty="0">
                <a:solidFill>
                  <a:srgbClr val="090F1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reliable measurement)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90F16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Coordination / consistency</a:t>
            </a:r>
            <a:r>
              <a:rPr lang="en-GB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timely update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different existing transformations to GeoDCAT-AP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(SEMIC / national and software solutions)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Specifics pending from Phase 1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approach for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describing Data Services &amp; API endpoints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defRPr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 </a:t>
            </a:r>
            <a:r>
              <a:rPr lang="en-GB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potential metadata information losses </a:t>
            </a:r>
            <a:r>
              <a:rPr lang="en-GB" sz="200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INSPIRE-compliant metadata records transformed to GeoDCAT format still ongoing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08ABA1-BA1E-E57E-500F-51DE3D69929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1" y="240000"/>
            <a:ext cx="1004737" cy="11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073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205DC-B5F6-BADB-9F8D-9F5B5C768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CC284-DA89-618F-A33A-004EEE64F4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Phase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073A2A-4C7E-1405-106D-C04E716224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 / Working Plan proposal</a:t>
            </a:r>
          </a:p>
        </p:txBody>
      </p:sp>
    </p:spTree>
    <p:extLst>
      <p:ext uri="{BB962C8B-B14F-4D97-AF65-F5344CB8AC3E}">
        <p14:creationId xmlns:p14="http://schemas.microsoft.com/office/powerpoint/2010/main" val="503820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47127-94FA-0B80-37FC-55F785E8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091204C5-CCE2-B7C8-0EE1-D7AFD3B60D77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530441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Phase 2</a:t>
            </a:r>
            <a:b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Objectives / Working Teams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8F11B6-C741-66A1-04EB-8B94382442FF}"/>
              </a:ext>
            </a:extLst>
          </p:cNvPr>
          <p:cNvSpPr txBox="1">
            <a:spLocks/>
          </p:cNvSpPr>
          <p:nvPr/>
        </p:nvSpPr>
        <p:spPr>
          <a:xfrm>
            <a:off x="838200" y="1600200"/>
            <a:ext cx="10966537" cy="4821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3467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933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792" marR="0" lvl="0" indent="-304792" algn="l" defTabSz="121917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rgbClr val="F15A2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7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US" sz="2200" b="1" dirty="0">
                <a:solidFill>
                  <a:srgbClr val="0070C0"/>
                </a:solidFill>
              </a:rPr>
              <a:t>T-1</a:t>
            </a:r>
            <a:r>
              <a:rPr lang="en-US" sz="2200" dirty="0">
                <a:solidFill>
                  <a:srgbClr val="0070C0"/>
                </a:solidFill>
              </a:rPr>
              <a:t>. Support to the alignment of INSPIRE to data.europa.eu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US" sz="2000" b="1" dirty="0">
                <a:solidFill>
                  <a:srgbClr val="0070C0"/>
                </a:solidFill>
              </a:rPr>
              <a:t>T-1A</a:t>
            </a:r>
            <a:r>
              <a:rPr lang="en-US" sz="2000" dirty="0">
                <a:solidFill>
                  <a:srgbClr val="0070C0"/>
                </a:solidFill>
              </a:rPr>
              <a:t>. Management of geospatial metadata harvesting and reporting issues </a:t>
            </a:r>
          </a:p>
          <a:p>
            <a:pPr marL="9144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None/>
            </a:pPr>
            <a:r>
              <a:rPr lang="en-US" sz="2000" dirty="0">
                <a:solidFill>
                  <a:schemeClr val="tx1"/>
                </a:solidFill>
              </a:rPr>
              <a:t>A forum for discussing issues, submitted (or to be submitted) to the relevant SEMIC GitHub repositories in the scope of geospatial datasets reporting (ISO / INSPIRE to GeoDCAT-AP), including geospatial HVDs.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GB" sz="2000" b="1" dirty="0">
                <a:solidFill>
                  <a:srgbClr val="0070C0"/>
                </a:solidFill>
              </a:rPr>
              <a:t>T-1B</a:t>
            </a:r>
            <a:r>
              <a:rPr lang="en-GB" sz="2000" dirty="0">
                <a:solidFill>
                  <a:srgbClr val="0070C0"/>
                </a:solidFill>
              </a:rPr>
              <a:t>. Specific analysis and good practices for INSPIRE-data.europa.eu alignment</a:t>
            </a:r>
          </a:p>
          <a:p>
            <a:pPr marL="9144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None/>
            </a:pPr>
            <a:r>
              <a:rPr lang="en-US" sz="2000" dirty="0">
                <a:solidFill>
                  <a:schemeClr val="tx1"/>
                </a:solidFill>
              </a:rPr>
              <a:t>Team for performing specific analysis, discussing on and formalising common good practices in the scope of the alignment and integration of INSPIRE into data.europa.eu.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US" sz="2200" b="1" dirty="0">
                <a:solidFill>
                  <a:srgbClr val="0070C0"/>
                </a:solidFill>
              </a:rPr>
              <a:t>T-2</a:t>
            </a:r>
            <a:r>
              <a:rPr lang="en-US" sz="2200" dirty="0">
                <a:solidFill>
                  <a:srgbClr val="0070C0"/>
                </a:solidFill>
              </a:rPr>
              <a:t>. Exploration of the use of AI-powered tools for metadata management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GB" sz="2000" dirty="0">
                <a:solidFill>
                  <a:schemeClr val="tx1"/>
                </a:solidFill>
              </a:rPr>
              <a:t>Team to explore and support the use of AI-assisted tools in metadata generation, and other potential uses in metadata management tasks.</a:t>
            </a:r>
            <a:endParaRPr lang="en-GB" sz="18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F52A67-D03A-CEA2-9207-44D3FDD616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064" y="237744"/>
            <a:ext cx="985055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58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DDF8A-D07F-1B46-E95F-ADA541C60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584F949-EDEE-1075-099D-FFCB551DCCC4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530441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kumimoji="0" lang="en-GB" sz="3600" b="1" i="0" u="none" strike="noStrike" kern="1200" cap="none" spc="0" normalizeH="0" baseline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Phase 2</a:t>
            </a:r>
            <a:br>
              <a:rPr kumimoji="0" lang="en-GB" sz="3600" b="1" i="0" u="none" strike="noStrike" kern="1200" cap="none" spc="0" normalizeH="0" baseline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lang="en-GB" sz="3600" b="1" dirty="0">
                <a:solidFill>
                  <a:srgbClr val="19AFEC"/>
                </a:solidFill>
              </a:rPr>
              <a:t>Working Teams</a:t>
            </a:r>
            <a:r>
              <a:rPr kumimoji="0" lang="en-GB" sz="3600" b="1" i="0" u="none" strike="noStrike" kern="1200" cap="none" spc="0" normalizeH="0" baseline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Tasks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36360C-B82D-1955-35C0-282B659B6509}"/>
              </a:ext>
            </a:extLst>
          </p:cNvPr>
          <p:cNvSpPr txBox="1">
            <a:spLocks/>
          </p:cNvSpPr>
          <p:nvPr/>
        </p:nvSpPr>
        <p:spPr>
          <a:xfrm>
            <a:off x="838200" y="1371600"/>
            <a:ext cx="10966537" cy="4821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3467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933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792" marR="0" lvl="0" indent="-304792" algn="l" defTabSz="121917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rgbClr val="F15A2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7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D8D2F"/>
              </a:buClr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T-1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</a:t>
            </a:r>
            <a:r>
              <a:rPr lang="en-US" sz="2400" dirty="0">
                <a:solidFill>
                  <a:srgbClr val="0070C0"/>
                </a:solidFill>
              </a:rPr>
              <a:t>Support to the alignment of INSPIRE to data.europa.eu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90563" marR="0" lvl="1" indent="-303213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D8D2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T-1A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Management of geospatial metadata harvesting and reporting issues</a:t>
            </a:r>
          </a:p>
          <a:p>
            <a:pPr marL="690563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D8D2F"/>
              </a:buClr>
              <a:buNone/>
            </a:pPr>
            <a:r>
              <a:rPr lang="en-US" sz="2200" dirty="0">
                <a:solidFill>
                  <a:schemeClr val="tx1"/>
                </a:solidFill>
              </a:rPr>
              <a:t>A forum for discussing issues, submitted (or to be submitted) to the relevant SEMIC GitHub repositories in the scope of geospatial datasets reporting (ISO / INSPIRE to GeoDCAT-AP), including geospatial HVDs.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260475" lvl="2" indent="-30321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D8D2F"/>
              </a:buCl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Identification of potential harvesting and reporting issues in the SEMIC repositories</a:t>
            </a:r>
          </a:p>
          <a:p>
            <a:pPr marL="1260475" lvl="2" indent="-30321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D8D2F"/>
              </a:buClr>
            </a:pPr>
            <a:r>
              <a:rPr lang="en-US" sz="2000" dirty="0">
                <a:solidFill>
                  <a:schemeClr val="tx1"/>
                </a:solidFill>
                <a:latin typeface="Arial"/>
              </a:rPr>
              <a:t>Community discussion and agreement on targeted solutions</a:t>
            </a:r>
            <a:r>
              <a:rPr lang="en-US" sz="2000" dirty="0">
                <a:solidFill>
                  <a:schemeClr val="tx1"/>
                </a:solidFill>
              </a:rPr>
              <a:t> in GeoDCAT-AP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260475" lvl="2" indent="-30321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D8D2F"/>
              </a:buClr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GeoDCAT-AP specification and XSLT transformation updates (SEMIC) </a:t>
            </a:r>
          </a:p>
          <a:p>
            <a:pPr marL="1260475" lvl="2" indent="-30321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D8D2F"/>
              </a:buClr>
            </a:pPr>
            <a:r>
              <a:rPr lang="en-GB" sz="2000" dirty="0">
                <a:solidFill>
                  <a:schemeClr val="tx1"/>
                </a:solidFill>
                <a:latin typeface="Arial"/>
              </a:rPr>
              <a:t>Inputs for / Outputs from T-1B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04792" marR="0" lvl="0" indent="-304792" algn="l" defTabSz="121917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ED8D2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7E5AE4-FE5D-683D-A256-8D7F5A2B0F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064" y="237744"/>
            <a:ext cx="985055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34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0B871-8D31-3DBB-6764-22E3DB424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67D90962-C0EC-4F1F-3434-DA03C8C168B3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530441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Phase 2</a:t>
            </a:r>
            <a:b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lang="en-GB" sz="3600" b="1" dirty="0">
                <a:solidFill>
                  <a:srgbClr val="19AFEC"/>
                </a:solidFill>
              </a:rPr>
              <a:t>Working Teams Tasks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19AFEC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091930-E094-1BF1-B314-53A235B9C88D}"/>
              </a:ext>
            </a:extLst>
          </p:cNvPr>
          <p:cNvSpPr txBox="1">
            <a:spLocks/>
          </p:cNvSpPr>
          <p:nvPr/>
        </p:nvSpPr>
        <p:spPr>
          <a:xfrm>
            <a:off x="838200" y="1600200"/>
            <a:ext cx="11150600" cy="4821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3467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933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D8D2F"/>
              </a:buClr>
              <a:buSzTx/>
              <a:tabLst/>
              <a:defRPr/>
            </a:pPr>
            <a:r>
              <a:rPr lang="en-US" sz="2400" b="1" dirty="0">
                <a:solidFill>
                  <a:srgbClr val="0070C0"/>
                </a:solidFill>
                <a:latin typeface="Arial"/>
              </a:rPr>
              <a:t>T-1</a:t>
            </a:r>
            <a:r>
              <a:rPr lang="en-US" sz="2400" dirty="0">
                <a:solidFill>
                  <a:srgbClr val="0070C0"/>
                </a:solidFill>
                <a:latin typeface="Arial"/>
              </a:rPr>
              <a:t>. </a:t>
            </a:r>
            <a:r>
              <a:rPr lang="en-US" sz="2400" dirty="0">
                <a:solidFill>
                  <a:srgbClr val="0070C0"/>
                </a:solidFill>
              </a:rPr>
              <a:t>Support to the alignment of INSPIRE to data.europa.eu</a:t>
            </a:r>
            <a:endParaRPr lang="en-US" sz="2400" dirty="0">
              <a:solidFill>
                <a:srgbClr val="0070C0"/>
              </a:solidFill>
              <a:latin typeface="Arial"/>
            </a:endParaRPr>
          </a:p>
          <a:p>
            <a:pPr marL="690563" lvl="1" indent="-30321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D8D2F"/>
              </a:buClr>
            </a:pPr>
            <a:r>
              <a:rPr lang="en-GB" sz="2200" b="1" dirty="0">
                <a:solidFill>
                  <a:srgbClr val="0070C0"/>
                </a:solidFill>
                <a:latin typeface="Arial"/>
              </a:rPr>
              <a:t>T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-1B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Specific analysis and good practices for INSPIRE-data.europa.eu alignment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90563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D8D2F"/>
              </a:buClr>
              <a:buNone/>
            </a:pPr>
            <a:r>
              <a:rPr lang="en-US" sz="2200" dirty="0">
                <a:solidFill>
                  <a:schemeClr val="tx1"/>
                </a:solidFill>
              </a:rPr>
              <a:t>Team for performing specific analysis, discussing on and formalising common good practices in the scope of the alignment and integration of INSPIRE into data.europa.eu.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260475" lvl="2" indent="-303213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ED8D2F"/>
              </a:buClr>
            </a:pPr>
            <a:r>
              <a:rPr lang="en-US" sz="2000" dirty="0">
                <a:solidFill>
                  <a:schemeClr val="tx1"/>
                </a:solidFill>
              </a:rPr>
              <a:t>Geospatial-HVD tagging good practice (specification) </a:t>
            </a:r>
          </a:p>
          <a:p>
            <a:pPr marL="1260475" lvl="2" indent="-303213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ED8D2F"/>
              </a:buClr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Analysis of potential metadata information losses in the ISO-to-GeoDCAT-AP transformation</a:t>
            </a:r>
          </a:p>
          <a:p>
            <a:pPr marL="1260475" lvl="2" indent="-303213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Good practice for describing Data Services / APIs</a:t>
            </a:r>
          </a:p>
          <a:p>
            <a:pPr marL="1260475" lvl="2" indent="-303213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Discussing </a:t>
            </a:r>
            <a:r>
              <a:rPr lang="en-US" sz="2000" dirty="0">
                <a:solidFill>
                  <a:schemeClr val="tx1"/>
                </a:solidFill>
                <a:latin typeface="Arial"/>
              </a:rPr>
              <a:t>the need to 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over other (selected) remaining gaps identified</a:t>
            </a:r>
            <a:r>
              <a:rPr lang="en-US" sz="2000" dirty="0">
                <a:solidFill>
                  <a:schemeClr val="tx1"/>
                </a:solidFill>
                <a:latin typeface="Arial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e.g., related  to INSPIRE / HVD reporting, geospatial data filtering in data.europa.eu, analysis of specific changes needed to the TGs, etc.</a:t>
            </a:r>
          </a:p>
          <a:p>
            <a:pPr marL="1260475" lvl="2" indent="-303213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2000" dirty="0">
                <a:solidFill>
                  <a:schemeClr val="tx1"/>
                </a:solidFill>
              </a:rPr>
              <a:t>Inputs for / Outputs from T-1A</a:t>
            </a:r>
          </a:p>
          <a:p>
            <a:pPr marL="1219170" lvl="2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04792" marR="0" lvl="0" indent="-304792" algn="l" defTabSz="121917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ED8D2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9991B6-83FC-ED15-0834-68043052D0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064" y="237744"/>
            <a:ext cx="985055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32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B4590-3A01-F2DB-7F31-78643EBB6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32D0ABB4-AD49-3188-D154-94AE2FB118B0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530441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Phase 2</a:t>
            </a:r>
            <a:b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lang="en-GB" sz="3600" b="1" dirty="0">
                <a:solidFill>
                  <a:srgbClr val="19AFEC"/>
                </a:solidFill>
              </a:rPr>
              <a:t>Working Teams 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Tasks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6C70DD6-94D8-188C-9988-B3B7CC3B8501}"/>
              </a:ext>
            </a:extLst>
          </p:cNvPr>
          <p:cNvSpPr txBox="1">
            <a:spLocks/>
          </p:cNvSpPr>
          <p:nvPr/>
        </p:nvSpPr>
        <p:spPr>
          <a:xfrm>
            <a:off x="838200" y="1600200"/>
            <a:ext cx="10966537" cy="4821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3467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933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792" marR="0" lvl="0" indent="-304792" algn="l" defTabSz="121917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rgbClr val="F15A2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7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04792" marR="0" lvl="0" indent="-304792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D8D2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T-2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Exploration of the use of AI-powered tools for metadata management</a:t>
            </a:r>
          </a:p>
          <a:p>
            <a:pPr marL="284163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None/>
            </a:pPr>
            <a:r>
              <a:rPr lang="en-GB" sz="2400" dirty="0">
                <a:solidFill>
                  <a:schemeClr val="tx1"/>
                </a:solidFill>
              </a:rPr>
              <a:t>Team to explore and support the use of AI-assisted tools in metadata generation, and other potential uses in metadata management tasks.</a:t>
            </a:r>
          </a:p>
          <a:p>
            <a:pPr marL="914377" marR="0" lvl="1" indent="-304792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D8D2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200" dirty="0">
                <a:solidFill>
                  <a:schemeClr val="tx1"/>
                </a:solidFill>
                <a:latin typeface="Arial"/>
              </a:rPr>
              <a:t>Exploration and testing of AI-assisted tools for metadata generation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D8D2F"/>
              </a:buClr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Identification of other </a:t>
            </a:r>
            <a:r>
              <a:rPr lang="en-GB" sz="2200" dirty="0">
                <a:solidFill>
                  <a:schemeClr val="tx1"/>
                </a:solidFill>
              </a:rPr>
              <a:t>areas where AI-assisted tools may be used to support 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metadata management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D8D2F"/>
              </a:buClr>
            </a:pPr>
            <a:r>
              <a:rPr lang="en-GB" sz="2200" dirty="0">
                <a:solidFill>
                  <a:schemeClr val="tx1"/>
                </a:solidFill>
                <a:latin typeface="Arial"/>
              </a:rPr>
              <a:t>Other tasks (to be agreed)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04792" marR="0" lvl="0" indent="-304792" algn="l" defTabSz="121917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rgbClr val="ED8D2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E29435-7FF6-8E5D-86BA-0E75E31D67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064" y="237744"/>
            <a:ext cx="985055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640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ED9B7-9950-4CF9-53AD-8BE78ACCC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C5A0AD0F-6CCF-5631-D134-0056B5573DB2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530441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Phase 2</a:t>
            </a:r>
            <a:b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Working Plan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2E2C91-3A17-7FAB-5BD1-C9B393331405}"/>
              </a:ext>
            </a:extLst>
          </p:cNvPr>
          <p:cNvSpPr txBox="1">
            <a:spLocks/>
          </p:cNvSpPr>
          <p:nvPr/>
        </p:nvSpPr>
        <p:spPr>
          <a:xfrm>
            <a:off x="838200" y="1600200"/>
            <a:ext cx="10966537" cy="4821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3467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933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Clr>
                <a:srgbClr val="F15A2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792" marR="0" lvl="0" indent="-304792" algn="l" defTabSz="121917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rgbClr val="F15A2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7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D8D2F"/>
              </a:buClr>
              <a:buSzTx/>
              <a:buNone/>
              <a:tabLst/>
              <a:defRPr/>
            </a:pPr>
            <a:r>
              <a:rPr kumimoji="0" lang="en-GB" sz="2800" b="0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Periodicity of meetings</a:t>
            </a:r>
          </a:p>
          <a:p>
            <a:pPr marL="304792" marR="0" lvl="0" indent="-304792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D8D2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Bi-monthly Pilot meetings</a:t>
            </a:r>
            <a:r>
              <a:rPr kumimoji="0" lang="en-GB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starting from Jan. 2026 until ~ Feb. 2027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D8D2F"/>
              </a:buClr>
              <a:defRPr/>
            </a:pPr>
            <a:r>
              <a:rPr lang="en-GB" sz="2800" dirty="0">
                <a:solidFill>
                  <a:srgbClr val="0070C0"/>
                </a:solidFill>
                <a:latin typeface="Calibri" panose="020F0502020204030204"/>
              </a:rPr>
              <a:t>(At least) Monthly Working team meetings in between</a:t>
            </a:r>
            <a:r>
              <a:rPr lang="en-GB" sz="2800" dirty="0">
                <a:solidFill>
                  <a:schemeClr val="tx1"/>
                </a:solidFill>
                <a:latin typeface="Calibri" panose="020F0502020204030204"/>
              </a:rPr>
              <a:t>. More meetings depending on the needs identified.</a:t>
            </a:r>
          </a:p>
          <a:p>
            <a:pPr marL="304792" marR="0" lvl="0" indent="-304792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D8D2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Pilot leader</a:t>
            </a:r>
            <a:r>
              <a:rPr kumimoji="0" lang="en-GB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 + 1..N </a:t>
            </a:r>
            <a:r>
              <a:rPr kumimoji="0" lang="en-GB" sz="2800" b="0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Team Co-leaders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D8D2F"/>
              </a:buClr>
              <a:buSzTx/>
              <a:buNone/>
              <a:tabLst/>
              <a:defRPr/>
            </a:pPr>
            <a:r>
              <a:rPr kumimoji="0" lang="en-GB" sz="2800" b="0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Aspects to improve from Phase 1</a:t>
            </a:r>
          </a:p>
          <a:p>
            <a:pPr marL="304792" marR="0" lvl="0" indent="-304792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D8D2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Promote a </a:t>
            </a:r>
            <a:r>
              <a:rPr kumimoji="0" lang="en-GB" sz="2800" b="0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more active participation</a:t>
            </a:r>
            <a:r>
              <a:rPr kumimoji="0" lang="en-GB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 - Essential to get useful results</a:t>
            </a:r>
          </a:p>
          <a:p>
            <a:pPr marL="304792" marR="0" lvl="0" indent="-304792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D8D2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800" dirty="0">
                <a:solidFill>
                  <a:srgbClr val="0070C0"/>
                </a:solidFill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Predefined planning of meetings</a:t>
            </a:r>
          </a:p>
          <a:p>
            <a:pPr marL="304792" marR="0" lvl="0" indent="-304792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D8D2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Constructive tips grasped from MS reports </a:t>
            </a:r>
            <a:r>
              <a:rPr kumimoji="0" lang="en-GB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delivered today</a:t>
            </a:r>
            <a:endParaRPr kumimoji="0" lang="en-GB" sz="2000" b="0" i="0" u="none" strike="noStrike" kern="120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4C12D8-17EB-DA59-083F-D3B16CD684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064" y="237744"/>
            <a:ext cx="985055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997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2800" y="1146427"/>
            <a:ext cx="10800760" cy="1240348"/>
          </a:xfrm>
        </p:spPr>
        <p:txBody>
          <a:bodyPr/>
          <a:lstStyle/>
          <a:p>
            <a:r>
              <a:rPr lang="en-GB" dirty="0"/>
              <a:t>Thank you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084385" y="4594523"/>
            <a:ext cx="10003692" cy="1261523"/>
          </a:xfrm>
        </p:spPr>
        <p:txBody>
          <a:bodyPr wrap="square" anchor="b" anchorCtr="0"/>
          <a:lstStyle/>
          <a:p>
            <a:r>
              <a:rPr lang="en-US" sz="1050" dirty="0"/>
              <a:t>This presentation has been prepared for internal purposes. The information and views expressed in it do not necessarily reflect an official position </a:t>
            </a:r>
            <a:br>
              <a:rPr lang="en-US" sz="1050" dirty="0"/>
            </a:br>
            <a:r>
              <a:rPr lang="en-US" sz="1050" dirty="0"/>
              <a:t>of the European Commission or of the European Union.</a:t>
            </a:r>
          </a:p>
          <a:p>
            <a:r>
              <a:rPr lang="en-US" sz="1050" dirty="0"/>
              <a:t>Except otherwise noted, © European Union (year). All Rights Reserved</a:t>
            </a: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8" t="-1225" r="87932" b="64001"/>
          <a:stretch>
            <a:fillRect/>
          </a:stretch>
        </p:blipFill>
        <p:spPr bwMode="auto">
          <a:xfrm>
            <a:off x="1162161" y="6053822"/>
            <a:ext cx="478965" cy="48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Follow the EU Science Hub in Twitter, Facebook, LinkedIn, YouTube and Instagram.">
            <a:hlinkClick r:id="rId3"/>
            <a:extLst>
              <a:ext uri="{FF2B5EF4-FFF2-40B4-BE49-F238E27FC236}">
                <a16:creationId xmlns:a16="http://schemas.microsoft.com/office/drawing/2014/main" id="{487DCD04-8042-2943-24BE-BFEF305A34F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661"/>
          <a:stretch/>
        </p:blipFill>
        <p:spPr>
          <a:xfrm>
            <a:off x="1672517" y="6127512"/>
            <a:ext cx="2415311" cy="42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16185"/>
      </p:ext>
    </p:extLst>
  </p:cSld>
  <p:clrMapOvr>
    <a:masterClrMapping/>
  </p:clrMapOvr>
</p:sld>
</file>

<file path=ppt/theme/theme1.xml><?xml version="1.0" encoding="utf-8"?>
<a:theme xmlns:a="http://schemas.openxmlformats.org/drawingml/2006/main" name="8_Office Theme">
  <a:themeElements>
    <a:clrScheme name="JRC palette 1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6ACBF3"/>
      </a:accent1>
      <a:accent2>
        <a:srgbClr val="3E99DA"/>
      </a:accent2>
      <a:accent3>
        <a:srgbClr val="1EC08A"/>
      </a:accent3>
      <a:accent4>
        <a:srgbClr val="ED8D2F"/>
      </a:accent4>
      <a:accent5>
        <a:srgbClr val="F8CC29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Office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C_Corporate_PPT_Template.potx" id="{4E874F3A-6BB1-4334-AA3C-CB69D53C2FB0}" vid="{CFDAC62F-BBD6-4674-995E-7A3058955A70}"/>
    </a:ext>
  </a:extLst>
</a:theme>
</file>

<file path=ppt/theme/theme3.xml><?xml version="1.0" encoding="utf-8"?>
<a:theme xmlns:a="http://schemas.openxmlformats.org/drawingml/2006/main" name="Custom Design">
  <a:themeElements>
    <a:clrScheme name="Gre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DORSE2023_Presentation-2" id="{DA9775EB-FAC1-594C-B775-D48E2963E454}" vid="{2915585B-38F4-A94E-9D3B-6EEF8714BCBE}"/>
    </a:ext>
  </a:extLst>
</a:theme>
</file>

<file path=ppt/theme/theme4.xml><?xml version="1.0" encoding="utf-8"?>
<a:theme xmlns:a="http://schemas.openxmlformats.org/drawingml/2006/main" name="4_Office Theme">
  <a:themeElements>
    <a:clrScheme name="JRC palette 1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6ACBF3"/>
      </a:accent1>
      <a:accent2>
        <a:srgbClr val="3E99DA"/>
      </a:accent2>
      <a:accent3>
        <a:srgbClr val="1EC08A"/>
      </a:accent3>
      <a:accent4>
        <a:srgbClr val="ED8D2F"/>
      </a:accent4>
      <a:accent5>
        <a:srgbClr val="F8CC29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8100">
          <a:solidFill>
            <a:srgbClr val="C00000"/>
          </a:solidFill>
          <a:prstDash val="dash"/>
          <a:tailEnd type="stealth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0AE5E838868A4F9CB50E4B4AF23413" ma:contentTypeVersion="8" ma:contentTypeDescription="Crear nuevo documento." ma:contentTypeScope="" ma:versionID="b24284dd4abcc89d9217181297068152">
  <xsd:schema xmlns:xsd="http://www.w3.org/2001/XMLSchema" xmlns:xs="http://www.w3.org/2001/XMLSchema" xmlns:p="http://schemas.microsoft.com/office/2006/metadata/properties" xmlns:ns3="1f6ebdee-899d-4fbd-8aeb-5a868fd22bdd" targetNamespace="http://schemas.microsoft.com/office/2006/metadata/properties" ma:root="true" ma:fieldsID="2102f8778d1be1b8402cbd5fe9ff8ed2" ns3:_="">
    <xsd:import namespace="1f6ebdee-899d-4fbd-8aeb-5a868fd22bd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6ebdee-899d-4fbd-8aeb-5a868fd22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D261EA-B4EC-407F-B33E-C4345B7AC4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6ebdee-899d-4fbd-8aeb-5a868fd22b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C515D3-7E4B-4E1F-8E41-BBB0172549BD}">
  <ds:schemaRefs>
    <ds:schemaRef ds:uri="http://purl.org/dc/elements/1.1/"/>
    <ds:schemaRef ds:uri="http://purl.org/dc/terms/"/>
    <ds:schemaRef ds:uri="1f6ebdee-899d-4fbd-8aeb-5a868fd22bdd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11B7F48-2441-489A-AAC1-B0F448FE55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3869</TotalTime>
  <Words>978</Words>
  <Application>Microsoft Office PowerPoint</Application>
  <PresentationFormat>Widescreen</PresentationFormat>
  <Paragraphs>116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8_Office Theme</vt:lpstr>
      <vt:lpstr>5_Office Theme</vt:lpstr>
      <vt:lpstr>Custom Design</vt:lpstr>
      <vt:lpstr>4_Office Theme</vt:lpstr>
      <vt:lpstr>ISO &amp; GeoDCAT-AP pilot Working Plan Proposal </vt:lpstr>
      <vt:lpstr>ISO &amp; GeoDCAT-AP  Pilot</vt:lpstr>
      <vt:lpstr>Phase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Phase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Antonio Pellicer</dc:creator>
  <cp:lastModifiedBy>ESCRIU Jordi (JRC-ISPRA)</cp:lastModifiedBy>
  <cp:revision>282</cp:revision>
  <dcterms:created xsi:type="dcterms:W3CDTF">2019-08-05T08:54:17Z</dcterms:created>
  <dcterms:modified xsi:type="dcterms:W3CDTF">2025-12-05T10:21:27Z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0x010100FF0AE5E838868A4F9CB50E4B4AF23413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2025-06-26T13:28:43Z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dfba9362-4949-4fa4-9af3-27a0338a5059</vt:lpwstr>
  </property>
  <property fmtid="{D5CDD505-2E9C-101B-9397-08002B2CF9AE}" pid="9" name="MSIP_Label_6bd9ddd1-4d20-43f6-abfa-fc3c07406f94_ContentBits">
    <vt:lpwstr>0</vt:lpwstr>
  </property>
</Properties>
</file>