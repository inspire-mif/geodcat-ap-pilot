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84" r:id="rId3"/>
  </p:sldIdLst>
  <p:sldSz cx="12192000" cy="6858000"/>
  <p:notesSz cx="6794500" cy="9906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orient="horz" pos="3777">
          <p15:clr>
            <a:srgbClr val="A4A3A4"/>
          </p15:clr>
        </p15:guide>
        <p15:guide id="4" pos="3839">
          <p15:clr>
            <a:srgbClr val="A4A3A4"/>
          </p15:clr>
        </p15:guide>
        <p15:guide id="5" orient="horz" pos="2162">
          <p15:clr>
            <a:srgbClr val="A4A3A4"/>
          </p15:clr>
        </p15:guide>
        <p15:guide id="6" pos="3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ZfmPaAZDOGffchqPWS8+vvHl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39" autoAdjust="0"/>
    <p:restoredTop sz="94660"/>
  </p:normalViewPr>
  <p:slideViewPr>
    <p:cSldViewPr snapToGrid="0">
      <p:cViewPr varScale="1">
        <p:scale>
          <a:sx n="94" d="100"/>
          <a:sy n="94" d="100"/>
        </p:scale>
        <p:origin x="480" y="96"/>
      </p:cViewPr>
      <p:guideLst>
        <p:guide orient="horz" pos="1026"/>
        <p:guide pos="529"/>
        <p:guide orient="horz" pos="3777"/>
        <p:guide pos="3839"/>
        <p:guide orient="horz" pos="2162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viewProps" Target="viewProps.xml"/><Relationship Id="rId31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e de Visser" userId="ecb297ee-5957-4fb0-ba72-043cc91c63d4" providerId="ADAL" clId="{55BE4942-974E-42BC-9F02-5C1E036F5F04}"/>
    <pc:docChg chg="undo custSel addSld delSld modSld">
      <pc:chgData name="Ine de Visser" userId="ecb297ee-5957-4fb0-ba72-043cc91c63d4" providerId="ADAL" clId="{55BE4942-974E-42BC-9F02-5C1E036F5F04}" dt="2025-12-05T10:50:11.204" v="176" actId="47"/>
      <pc:docMkLst>
        <pc:docMk/>
      </pc:docMkLst>
      <pc:sldChg chg="modSp add del mod">
        <pc:chgData name="Ine de Visser" userId="ecb297ee-5957-4fb0-ba72-043cc91c63d4" providerId="ADAL" clId="{55BE4942-974E-42BC-9F02-5C1E036F5F04}" dt="2025-12-05T10:50:08.347" v="175" actId="47"/>
        <pc:sldMkLst>
          <pc:docMk/>
          <pc:sldMk cId="4051915537" sldId="284"/>
        </pc:sldMkLst>
        <pc:spChg chg="mod">
          <ac:chgData name="Ine de Visser" userId="ecb297ee-5957-4fb0-ba72-043cc91c63d4" providerId="ADAL" clId="{55BE4942-974E-42BC-9F02-5C1E036F5F04}" dt="2025-12-05T10:34:43.529" v="173" actId="20577"/>
          <ac:spMkLst>
            <pc:docMk/>
            <pc:sldMk cId="4051915537" sldId="284"/>
            <ac:spMk id="2" creationId="{00000000-0000-0000-0000-000000000000}"/>
          </ac:spMkLst>
        </pc:spChg>
      </pc:sldChg>
      <pc:sldChg chg="del">
        <pc:chgData name="Ine de Visser" userId="ecb297ee-5957-4fb0-ba72-043cc91c63d4" providerId="ADAL" clId="{55BE4942-974E-42BC-9F02-5C1E036F5F04}" dt="2025-12-05T10:50:11.204" v="176" actId="47"/>
        <pc:sldMkLst>
          <pc:docMk/>
          <pc:sldMk cId="3386513559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645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/>
          <p:nvPr/>
        </p:nvSpPr>
        <p:spPr>
          <a:xfrm>
            <a:off x="0" y="1073101"/>
            <a:ext cx="12192000" cy="57849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838200" y="1978925"/>
            <a:ext cx="0" cy="487907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8"/>
          <p:cNvSpPr txBox="1">
            <a:spLocks noGrp="1"/>
          </p:cNvSpPr>
          <p:nvPr>
            <p:ph type="subTitle" idx="1"/>
          </p:nvPr>
        </p:nvSpPr>
        <p:spPr>
          <a:xfrm>
            <a:off x="1071350" y="4418049"/>
            <a:ext cx="10290265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2"/>
          </p:nvPr>
        </p:nvSpPr>
        <p:spPr>
          <a:xfrm>
            <a:off x="6094413" y="5391726"/>
            <a:ext cx="5267202" cy="87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200"/>
              <a:buFont typeface="Arial"/>
              <a:buNone/>
              <a:defRPr sz="22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8" descr="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7221" y="6390001"/>
            <a:ext cx="697559" cy="46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 descr="EC-JRC-logo_vertical_EN_pos_transparent-background.png"/>
          <p:cNvPicPr preferRelativeResize="0"/>
          <p:nvPr/>
        </p:nvPicPr>
        <p:blipFill rotWithShape="1">
          <a:blip r:embed="rId3">
            <a:alphaModFix/>
          </a:blip>
          <a:srcRect l="3733" t="5039" r="4158" b="4382"/>
          <a:stretch/>
        </p:blipFill>
        <p:spPr>
          <a:xfrm>
            <a:off x="5373779" y="264907"/>
            <a:ext cx="1674947" cy="11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2" name="Google Shape;22;p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1)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 txBox="1">
            <a:spLocks noGrp="1"/>
          </p:cNvSpPr>
          <p:nvPr>
            <p:ph type="ctrTitle"/>
          </p:nvPr>
        </p:nvSpPr>
        <p:spPr>
          <a:xfrm>
            <a:off x="1070189" y="1122363"/>
            <a:ext cx="102816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29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FFD1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16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3" name="Google Shape;33;p11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FFD12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3" name="Google Shape;43;p1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>
  <p:cSld name="Content and 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6232525" y="1825625"/>
            <a:ext cx="500209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1" name="Google Shape;51;p15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6" name="Google Shape;56;p16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3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3" name="Google Shape;63;p17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970722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970722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3"/>
          </p:nvPr>
        </p:nvSpPr>
        <p:spPr>
          <a:xfrm>
            <a:off x="6232768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4"/>
          </p:nvPr>
        </p:nvSpPr>
        <p:spPr>
          <a:xfrm>
            <a:off x="6232768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0" name="Google Shape;70;p18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hoto">
  <p:cSld name="Title_phot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-59635" y="-59635"/>
            <a:ext cx="6155635" cy="6983896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0"/>
          <p:cNvSpPr/>
          <p:nvPr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615" y="743802"/>
            <a:ext cx="544923" cy="5449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214048" y="1992572"/>
            <a:ext cx="8010798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360000" rIns="360000" bIns="360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nd Content (half page)">
  <p:cSld name="Picture and Content (half page)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6662614" y="1825625"/>
            <a:ext cx="4583519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‹nr.›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6662614" y="586765"/>
            <a:ext cx="4581771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-46383" y="-46383"/>
            <a:ext cx="6142383" cy="6964017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rizontal Picture and Content">
  <p:cSld name="Horizontal Pictur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>
            <a:spLocks noGrp="1"/>
          </p:cNvSpPr>
          <p:nvPr>
            <p:ph type="pic" idx="2"/>
          </p:nvPr>
        </p:nvSpPr>
        <p:spPr>
          <a:xfrm>
            <a:off x="-63280" y="-62165"/>
            <a:ext cx="12318560" cy="3468939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957385" y="2818576"/>
            <a:ext cx="10287000" cy="6283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957385" y="3630613"/>
            <a:ext cx="10287000" cy="236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">
  <p:cSld name="3 image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>
            <a:spLocks noGrp="1"/>
          </p:cNvSpPr>
          <p:nvPr>
            <p:ph type="pic" idx="2"/>
          </p:nvPr>
        </p:nvSpPr>
        <p:spPr>
          <a:xfrm>
            <a:off x="840157" y="2284667"/>
            <a:ext cx="3347997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2" name="Google Shape;92;p23"/>
          <p:cNvSpPr>
            <a:spLocks noGrp="1"/>
          </p:cNvSpPr>
          <p:nvPr>
            <p:ph type="pic" idx="3"/>
          </p:nvPr>
        </p:nvSpPr>
        <p:spPr>
          <a:xfrm>
            <a:off x="7940525" y="2284668"/>
            <a:ext cx="3419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3" name="Google Shape;93;p23"/>
          <p:cNvSpPr>
            <a:spLocks noGrp="1"/>
          </p:cNvSpPr>
          <p:nvPr>
            <p:ph type="pic" idx="4"/>
          </p:nvPr>
        </p:nvSpPr>
        <p:spPr>
          <a:xfrm>
            <a:off x="4390340" y="2284667"/>
            <a:ext cx="3347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1179376" y="403868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5"/>
          </p:nvPr>
        </p:nvSpPr>
        <p:spPr>
          <a:xfrm>
            <a:off x="4729560" y="404194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6"/>
          </p:nvPr>
        </p:nvSpPr>
        <p:spPr>
          <a:xfrm>
            <a:off x="8315745" y="4037437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98" name="Google Shape;98;p2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s">
  <p:cSld name="4 image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>
            <a:spLocks noGrp="1"/>
          </p:cNvSpPr>
          <p:nvPr>
            <p:ph type="pic" idx="2"/>
          </p:nvPr>
        </p:nvSpPr>
        <p:spPr>
          <a:xfrm>
            <a:off x="3489177" y="2159957"/>
            <a:ext cx="25189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1" name="Google Shape;101;p24"/>
          <p:cNvSpPr>
            <a:spLocks noGrp="1"/>
          </p:cNvSpPr>
          <p:nvPr>
            <p:ph type="pic" idx="3"/>
          </p:nvPr>
        </p:nvSpPr>
        <p:spPr>
          <a:xfrm>
            <a:off x="3489175" y="4076343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2" name="Google Shape;102;p24"/>
          <p:cNvSpPr>
            <a:spLocks noGrp="1"/>
          </p:cNvSpPr>
          <p:nvPr>
            <p:ph type="pic" idx="4"/>
          </p:nvPr>
        </p:nvSpPr>
        <p:spPr>
          <a:xfrm>
            <a:off x="6197546" y="2159956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8887605" y="4076342"/>
            <a:ext cx="2483779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5"/>
          </p:nvPr>
        </p:nvSpPr>
        <p:spPr>
          <a:xfrm>
            <a:off x="957385" y="2159957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>
            <a:spLocks noGrp="1"/>
          </p:cNvSpPr>
          <p:nvPr>
            <p:ph type="pic" idx="6"/>
          </p:nvPr>
        </p:nvSpPr>
        <p:spPr>
          <a:xfrm>
            <a:off x="6197548" y="4076342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6" name="Google Shape;106;p24"/>
          <p:cNvSpPr txBox="1">
            <a:spLocks noGrp="1"/>
          </p:cNvSpPr>
          <p:nvPr>
            <p:ph type="body" idx="7"/>
          </p:nvPr>
        </p:nvSpPr>
        <p:spPr>
          <a:xfrm>
            <a:off x="957385" y="4076343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8"/>
          </p:nvPr>
        </p:nvSpPr>
        <p:spPr>
          <a:xfrm>
            <a:off x="8919308" y="2159956"/>
            <a:ext cx="2452077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9" name="Google Shape;109;p24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2)">
  <p:cSld name="Last slide (option 2)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0" y="0"/>
            <a:ext cx="12192000" cy="34321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838200" y="0"/>
            <a:ext cx="0" cy="2362711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020968" cy="124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18">
            <a:alphaModFix/>
          </a:blip>
          <a:srcRect l="6902" t="10944" r="6668" b="9112"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5600" dirty="0"/>
              <a:t>ISO &amp; GeoDCAT-AP metadata</a:t>
            </a:r>
            <a:br>
              <a:rPr lang="en-US" sz="5600" dirty="0"/>
            </a:br>
            <a:r>
              <a:rPr lang="en-US" sz="5600" dirty="0"/>
              <a:t>implementation pilot</a:t>
            </a:r>
            <a:endParaRPr sz="5600" dirty="0"/>
          </a:p>
        </p:txBody>
      </p:sp>
      <p:sp>
        <p:nvSpPr>
          <p:cNvPr id="121" name="Google Shape;121;p1"/>
          <p:cNvSpPr txBox="1">
            <a:spLocks noGrp="1"/>
          </p:cNvSpPr>
          <p:nvPr>
            <p:ph type="subTitle" idx="1"/>
          </p:nvPr>
        </p:nvSpPr>
        <p:spPr>
          <a:xfrm>
            <a:off x="1071350" y="3876692"/>
            <a:ext cx="9453393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300"/>
            </a:pPr>
            <a:r>
              <a:rPr lang="en-US" sz="2400" b="1" dirty="0"/>
              <a:t>European Commission SEMIC Group (DG DIGIT), DG JRC,   Publications Office of the European Union </a:t>
            </a:r>
          </a:p>
          <a:p>
            <a:pPr>
              <a:buSzPts val="2300"/>
            </a:pPr>
            <a:r>
              <a:rPr lang="en-US" sz="2400" b="1" dirty="0"/>
              <a:t>&amp; Member States</a:t>
            </a: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22" name="Google Shape;122;p1"/>
          <p:cNvSpPr txBox="1">
            <a:spLocks noGrp="1"/>
          </p:cNvSpPr>
          <p:nvPr>
            <p:ph type="body" idx="2"/>
          </p:nvPr>
        </p:nvSpPr>
        <p:spPr>
          <a:xfrm>
            <a:off x="5684519" y="5384800"/>
            <a:ext cx="5677095" cy="136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GB" dirty="0">
                <a:solidFill>
                  <a:srgbClr val="FF0000"/>
                </a:solidFill>
              </a:rPr>
              <a:t>&lt;Participant (Member State / Country)&gt;</a:t>
            </a:r>
          </a:p>
          <a:p>
            <a:pPr marL="0" lvl="0" indent="0"/>
            <a:r>
              <a:rPr lang="en-GB" dirty="0"/>
              <a:t>Phase2 Kick-off Meeting</a:t>
            </a:r>
          </a:p>
          <a:p>
            <a:pPr marL="0" lvl="0" indent="0"/>
            <a:r>
              <a:rPr lang="en-GB" dirty="0"/>
              <a:t>December 5, 2025</a:t>
            </a:r>
          </a:p>
          <a:p>
            <a:pPr marL="0" lvl="0" indent="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67154" y="1463040"/>
            <a:ext cx="10267462" cy="4170363"/>
          </a:xfrm>
          <a:noFill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News at national level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Transformation from NL profile on ISO 19115 to DCAT-AP-NL in Dutch geoportal (</a:t>
            </a:r>
            <a:r>
              <a:rPr lang="en-US" sz="1800" dirty="0" err="1">
                <a:solidFill>
                  <a:srgbClr val="FF0000"/>
                </a:solidFill>
              </a:rPr>
              <a:t>Geonetwork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next step, also transformation to </a:t>
            </a:r>
            <a:r>
              <a:rPr lang="en-US" sz="1800" dirty="0" err="1">
                <a:solidFill>
                  <a:srgbClr val="FF0000"/>
                </a:solidFill>
              </a:rPr>
              <a:t>geoDCAT</a:t>
            </a:r>
            <a:r>
              <a:rPr lang="en-US" sz="1800" dirty="0">
                <a:solidFill>
                  <a:srgbClr val="FF0000"/>
                </a:solidFill>
              </a:rPr>
              <a:t>-AP</a:t>
            </a:r>
            <a:endParaRPr lang="en-US" sz="2000" b="1" dirty="0">
              <a:solidFill>
                <a:schemeClr val="bg2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Phase 1 – Feedback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Fix the phase 1 issues</a:t>
            </a:r>
            <a:endParaRPr lang="en-US" sz="2000" b="1" dirty="0">
              <a:solidFill>
                <a:schemeClr val="bg2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Phase 2 – Expectations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Discussions about solutions for common issues, and reach common agreement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Coordination between this pilot and SEMIC roadmap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Interaction with ISO19115-5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Interaction with </a:t>
            </a:r>
            <a:r>
              <a:rPr lang="en-US" sz="1800" dirty="0" err="1">
                <a:solidFill>
                  <a:srgbClr val="FF0000"/>
                </a:solidFill>
              </a:rPr>
              <a:t>Geonetwork</a:t>
            </a:r>
            <a:r>
              <a:rPr lang="en-US" sz="1800" dirty="0">
                <a:solidFill>
                  <a:srgbClr val="FF0000"/>
                </a:solidFill>
              </a:rPr>
              <a:t> community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/>
              <a:t>Pilot report </a:t>
            </a:r>
            <a:br>
              <a:rPr lang="en-GB" sz="3600" b="1" dirty="0"/>
            </a:br>
            <a:r>
              <a:rPr lang="en-GB" sz="3600" b="1" dirty="0">
                <a:solidFill>
                  <a:srgbClr val="FF0000"/>
                </a:solidFill>
              </a:rPr>
              <a:t>The Netherlands</a:t>
            </a:r>
          </a:p>
        </p:txBody>
      </p:sp>
    </p:spTree>
    <p:extLst>
      <p:ext uri="{BB962C8B-B14F-4D97-AF65-F5344CB8AC3E}">
        <p14:creationId xmlns:p14="http://schemas.microsoft.com/office/powerpoint/2010/main" val="405191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5111</TotalTime>
  <Words>111</Words>
  <Application>Microsoft Office PowerPoint</Application>
  <PresentationFormat>Breedbeeld</PresentationFormat>
  <Paragraphs>17</Paragraphs>
  <Slides>2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ISO &amp; GeoDCAT-AP metadata implementation pilot</vt:lpstr>
      <vt:lpstr>Pilot report  The Netherlands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INSPIRE Registry</dc:title>
  <dc:creator>JOHN Yvonne (COMM)</dc:creator>
  <cp:lastModifiedBy>Ine de Visser</cp:lastModifiedBy>
  <cp:revision>232</cp:revision>
  <dcterms:created xsi:type="dcterms:W3CDTF">2019-08-09T12:06:42Z</dcterms:created>
  <dcterms:modified xsi:type="dcterms:W3CDTF">2025-12-05T10:50:16Z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ServerID">
    <vt:lpwstr>0d3b22a6-6203-4efc-8e8e-b5279256493b</vt:lpwstr>
  </property>
  <property fmtid="{D5CDD505-2E9C-101B-9397-08002B2CF9AE}" pid="3" name="Offisync_UpdateToken">
    <vt:lpwstr>5</vt:lpwstr>
  </property>
  <property fmtid="{D5CDD505-2E9C-101B-9397-08002B2CF9AE}" pid="4" name="Jive_VersionGuid">
    <vt:lpwstr>895d1684-e390-44f7-87f3-a893d9b6b3e1</vt:lpwstr>
  </property>
  <property fmtid="{D5CDD505-2E9C-101B-9397-08002B2CF9AE}" pid="5" name="Offisync_UniqueId">
    <vt:lpwstr>216256</vt:lpwstr>
  </property>
  <property fmtid="{D5CDD505-2E9C-101B-9397-08002B2CF9AE}" pid="6" name="Offisync_ProviderInitializationData">
    <vt:lpwstr>https://webgate.ec.europa.eu/connected</vt:lpwstr>
  </property>
  <property fmtid="{D5CDD505-2E9C-101B-9397-08002B2CF9AE}" pid="7" name="Jive_LatestUserAccountName">
    <vt:lpwstr>wojdapi</vt:lpwstr>
  </property>
  <property fmtid="{D5CDD505-2E9C-101B-9397-08002B2CF9AE}" pid="8" name="ContentTypeId">
    <vt:lpwstr>0x0101008CF1E423E1053143A72AC4DF303AC6F5</vt:lpwstr>
  </property>
  <property fmtid="{D5CDD505-2E9C-101B-9397-08002B2CF9AE}" pid="9" name="MSIP_Label_6bd9ddd1-4d20-43f6-abfa-fc3c07406f94_Enabled">
    <vt:lpwstr>true</vt:lpwstr>
  </property>
  <property fmtid="{D5CDD505-2E9C-101B-9397-08002B2CF9AE}" pid="10" name="MSIP_Label_6bd9ddd1-4d20-43f6-abfa-fc3c07406f94_SetDate">
    <vt:lpwstr>2025-11-27T17:36:36Z</vt:lpwstr>
  </property>
  <property fmtid="{D5CDD505-2E9C-101B-9397-08002B2CF9AE}" pid="11" name="MSIP_Label_6bd9ddd1-4d20-43f6-abfa-fc3c07406f94_Method">
    <vt:lpwstr>Standard</vt:lpwstr>
  </property>
  <property fmtid="{D5CDD505-2E9C-101B-9397-08002B2CF9AE}" pid="12" name="MSIP_Label_6bd9ddd1-4d20-43f6-abfa-fc3c07406f94_Name">
    <vt:lpwstr>Commission Use</vt:lpwstr>
  </property>
  <property fmtid="{D5CDD505-2E9C-101B-9397-08002B2CF9AE}" pid="13" name="MSIP_Label_6bd9ddd1-4d20-43f6-abfa-fc3c07406f94_SiteId">
    <vt:lpwstr>b24c8b06-522c-46fe-9080-70926f8dddb1</vt:lpwstr>
  </property>
  <property fmtid="{D5CDD505-2E9C-101B-9397-08002B2CF9AE}" pid="14" name="MSIP_Label_6bd9ddd1-4d20-43f6-abfa-fc3c07406f94_ActionId">
    <vt:lpwstr>7eed690b-4686-40e3-95b3-413fe8628c53</vt:lpwstr>
  </property>
  <property fmtid="{D5CDD505-2E9C-101B-9397-08002B2CF9AE}" pid="15" name="MSIP_Label_6bd9ddd1-4d20-43f6-abfa-fc3c07406f94_ContentBits">
    <vt:lpwstr>0</vt:lpwstr>
  </property>
  <property fmtid="{D5CDD505-2E9C-101B-9397-08002B2CF9AE}" pid="16" name="MSIP_Label_6bd9ddd1-4d20-43f6-abfa-fc3c07406f94_Tag">
    <vt:lpwstr>10, 3, 0, 1</vt:lpwstr>
  </property>
</Properties>
</file>