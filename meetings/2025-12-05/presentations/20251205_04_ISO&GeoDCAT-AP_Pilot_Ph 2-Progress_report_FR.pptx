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967320" y="1825560"/>
            <a:ext cx="1026684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Google Shape;22;p9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Google Shape;30;p1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gradFill rotWithShape="0"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rgbClr val="3e99da"/>
              </a:gs>
            </a:gsLst>
            <a:path path="circle">
              <a:fillToRect l="0" t="0" r="10000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800" strike="noStrike" u="none">
              <a:solidFill>
                <a:schemeClr val="accent4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070280" y="1122480"/>
            <a:ext cx="102808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Google Shape;33;p11"/>
          <p:cNvCxnSpPr/>
          <p:nvPr/>
        </p:nvCxnSpPr>
        <p:spPr>
          <a:xfrm>
            <a:off x="838080" y="0"/>
            <a:ext cx="720" cy="3478680"/>
          </a:xfrm>
          <a:prstGeom prst="straightConnector1">
            <a:avLst/>
          </a:prstGeom>
          <a:ln w="28575">
            <a:solidFill>
              <a:srgbClr val="ffd129"/>
            </a:solidFill>
            <a:miter/>
          </a:ln>
        </p:spPr>
      </p:cxnSp>
      <p:pic>
        <p:nvPicPr>
          <p:cNvPr id="10" name="Google Shape;34;p11" descr=""/>
          <p:cNvPicPr/>
          <p:nvPr/>
        </p:nvPicPr>
        <p:blipFill>
          <a:blip r:embed="rId3"/>
          <a:stretch/>
        </p:blipFill>
        <p:spPr>
          <a:xfrm>
            <a:off x="9946080" y="6193800"/>
            <a:ext cx="1717920" cy="450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967320" y="1825560"/>
            <a:ext cx="1026684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Google Shape;43;p13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and 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6232680" y="1825560"/>
            <a:ext cx="500148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" name="Google Shape;51;p15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967320" y="1825560"/>
            <a:ext cx="500328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- 2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6232680" y="1825560"/>
            <a:ext cx="500328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" name="Google Shape;56;p16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67320" y="1825560"/>
            <a:ext cx="500328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- 3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970560" y="1825560"/>
            <a:ext cx="322884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475880" y="1825560"/>
            <a:ext cx="323928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7990920" y="1825560"/>
            <a:ext cx="323928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Google Shape;63;p17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970560" y="1681200"/>
            <a:ext cx="500328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970560" y="2597760"/>
            <a:ext cx="5003280" cy="33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32680" y="1681200"/>
            <a:ext cx="500328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232680" y="2597760"/>
            <a:ext cx="5003280" cy="33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" name="Google Shape;70;p18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  <p:sp>
        <p:nvSpPr>
          <p:cNvPr id="37" name="PlaceHolder 5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pho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0" y="1750680"/>
            <a:ext cx="12191400" cy="4244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Google Shape;75;p19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Google Shape;13;p8"/>
          <p:cNvSpPr/>
          <p:nvPr/>
        </p:nvSpPr>
        <p:spPr>
          <a:xfrm>
            <a:off x="0" y="1073160"/>
            <a:ext cx="12191400" cy="5784120"/>
          </a:xfrm>
          <a:prstGeom prst="rect">
            <a:avLst/>
          </a:prstGeom>
          <a:gradFill rotWithShape="0"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rgbClr val="3e99da"/>
              </a:gs>
            </a:gsLst>
            <a:path path="circle">
              <a:fillToRect l="0" t="0" r="10000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800" strike="noStrike" u="none">
              <a:solidFill>
                <a:schemeClr val="accent4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71360" y="1992600"/>
            <a:ext cx="10289520" cy="214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" name="Google Shape;15;p8"/>
          <p:cNvCxnSpPr/>
          <p:nvPr/>
        </p:nvCxnSpPr>
        <p:spPr>
          <a:xfrm>
            <a:off x="838080" y="1978920"/>
            <a:ext cx="720" cy="487980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440" y="5391720"/>
            <a:ext cx="5266440" cy="87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Google Shape;18;p8" descr="Footer.jpg"/>
          <p:cNvPicPr/>
          <p:nvPr/>
        </p:nvPicPr>
        <p:blipFill>
          <a:blip r:embed="rId3"/>
          <a:stretch/>
        </p:blipFill>
        <p:spPr>
          <a:xfrm>
            <a:off x="5747400" y="6390000"/>
            <a:ext cx="696960" cy="46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Google Shape;19;p8" descr="EC-JRC-logo_vertical_EN_pos_transparent-background.png"/>
          <p:cNvPicPr/>
          <p:nvPr/>
        </p:nvPicPr>
        <p:blipFill>
          <a:blip r:embed="rId4"/>
          <a:srcRect l="3737" t="5038" r="4153" b="4387"/>
          <a:stretch/>
        </p:blipFill>
        <p:spPr>
          <a:xfrm>
            <a:off x="5373720" y="264960"/>
            <a:ext cx="1674360" cy="1151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-59760" y="-59760"/>
            <a:ext cx="6154920" cy="6983280"/>
          </a:xfrm>
          <a:prstGeom prst="rect">
            <a:avLst/>
          </a:prstGeom>
          <a:solidFill>
            <a:schemeClr val="lt2"/>
          </a:solidFill>
          <a:ln w="28440">
            <a:solidFill>
              <a:schemeClr val="accent5"/>
            </a:solidFill>
            <a:round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78;p20"/>
          <p:cNvSpPr/>
          <p:nvPr/>
        </p:nvSpPr>
        <p:spPr>
          <a:xfrm>
            <a:off x="3214080" y="1992600"/>
            <a:ext cx="8549640" cy="3615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8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52" name="Google Shape;79;p20" descr=""/>
          <p:cNvPicPr/>
          <p:nvPr/>
        </p:nvPicPr>
        <p:blipFill>
          <a:blip r:embed="rId3"/>
          <a:stretch/>
        </p:blipFill>
        <p:spPr>
          <a:xfrm>
            <a:off x="11127600" y="743760"/>
            <a:ext cx="544320" cy="54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214080" y="1992600"/>
            <a:ext cx="8010000" cy="3615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360000" rIns="360000" tIns="360000" bIns="36000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and Content (half page)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6662520" y="1825560"/>
            <a:ext cx="4582800" cy="41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"/>
          </p:nvPr>
        </p:nvSpPr>
        <p:spPr>
          <a:xfrm>
            <a:off x="838080" y="613116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rgbClr val="9494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E37ADCE-50D8-4A0B-9E4A-ABAA5E82840E}" type="slidenum">
              <a:rPr b="0" lang="es-ES" sz="1200" strike="noStrike" u="none">
                <a:solidFill>
                  <a:srgbClr val="949494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title"/>
          </p:nvPr>
        </p:nvSpPr>
        <p:spPr>
          <a:xfrm>
            <a:off x="6662520" y="586800"/>
            <a:ext cx="458100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-46440" y="-46440"/>
            <a:ext cx="6141600" cy="6963120"/>
          </a:xfrm>
          <a:prstGeom prst="rect">
            <a:avLst/>
          </a:prstGeom>
          <a:solidFill>
            <a:schemeClr val="lt2"/>
          </a:solidFill>
          <a:ln w="28440">
            <a:solidFill>
              <a:schemeClr val="accent5"/>
            </a:solidFill>
            <a:round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izontal Pictur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body"/>
          </p:nvPr>
        </p:nvSpPr>
        <p:spPr>
          <a:xfrm>
            <a:off x="-63360" y="-62280"/>
            <a:ext cx="12317760" cy="3468240"/>
          </a:xfrm>
          <a:prstGeom prst="rect">
            <a:avLst/>
          </a:prstGeom>
          <a:solidFill>
            <a:schemeClr val="lt2"/>
          </a:solidFill>
          <a:ln w="28440">
            <a:solidFill>
              <a:schemeClr val="accent5"/>
            </a:solidFill>
            <a:round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957240" y="2818440"/>
            <a:ext cx="10286280" cy="366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45720" bIns="4572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957240" y="3630600"/>
            <a:ext cx="10286280" cy="23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image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840240" y="2284560"/>
            <a:ext cx="3347280" cy="2090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940520" y="2284560"/>
            <a:ext cx="3419280" cy="2090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390200" y="2284560"/>
            <a:ext cx="3347280" cy="2090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179360" y="4038840"/>
            <a:ext cx="2668680" cy="1523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000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729680" y="4042080"/>
            <a:ext cx="2668680" cy="1523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000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body"/>
          </p:nvPr>
        </p:nvSpPr>
        <p:spPr>
          <a:xfrm>
            <a:off x="8315640" y="4037400"/>
            <a:ext cx="2668680" cy="1523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000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Google Shape;98;p23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image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body"/>
          </p:nvPr>
        </p:nvSpPr>
        <p:spPr>
          <a:xfrm>
            <a:off x="3489120" y="2160000"/>
            <a:ext cx="2518200" cy="1727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489120" y="4076280"/>
            <a:ext cx="2519280" cy="1727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197400" y="2160000"/>
            <a:ext cx="2519280" cy="1727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8887680" y="4076280"/>
            <a:ext cx="2482920" cy="17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000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957240" y="2160000"/>
            <a:ext cx="2334240" cy="17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000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6197400" y="4076280"/>
            <a:ext cx="2519280" cy="1727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957240" y="4076280"/>
            <a:ext cx="2334240" cy="17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000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8"/>
          <p:cNvSpPr>
            <a:spLocks noGrp="1"/>
          </p:cNvSpPr>
          <p:nvPr>
            <p:ph type="body"/>
          </p:nvPr>
        </p:nvSpPr>
        <p:spPr>
          <a:xfrm>
            <a:off x="8919360" y="2160000"/>
            <a:ext cx="2451240" cy="17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000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9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Google Shape;109;p24"/>
          <p:cNvCxnSpPr/>
          <p:nvPr/>
        </p:nvCxnSpPr>
        <p:spPr>
          <a:xfrm>
            <a:off x="838080" y="0"/>
            <a:ext cx="720" cy="1365840"/>
          </a:xfrm>
          <a:prstGeom prst="straightConnector1">
            <a:avLst/>
          </a:prstGeom>
          <a:ln w="28575">
            <a:solidFill>
              <a:srgbClr val="f8cc29"/>
            </a:solidFill>
            <a:miter/>
          </a:ln>
        </p:spPr>
      </p:cxn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st slide (option 2)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0;p7" descr="EC-JRC-logo_horizontal_EN_pos_transparent-background.png"/>
          <p:cNvPicPr/>
          <p:nvPr/>
        </p:nvPicPr>
        <p:blipFill>
          <a:blip r:embed="rId2"/>
          <a:srcRect l="6897" t="10940" r="6663" b="9096"/>
          <a:stretch/>
        </p:blipFill>
        <p:spPr>
          <a:xfrm>
            <a:off x="9946080" y="6177960"/>
            <a:ext cx="172728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112;p26"/>
          <p:cNvSpPr/>
          <p:nvPr/>
        </p:nvSpPr>
        <p:spPr>
          <a:xfrm>
            <a:off x="0" y="0"/>
            <a:ext cx="12191400" cy="3431520"/>
          </a:xfrm>
          <a:prstGeom prst="rect">
            <a:avLst/>
          </a:prstGeom>
          <a:solidFill>
            <a:srgbClr val="ffc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8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86" name="Google Shape;113;p26"/>
          <p:cNvCxnSpPr/>
          <p:nvPr/>
        </p:nvCxnSpPr>
        <p:spPr>
          <a:xfrm>
            <a:off x="838080" y="0"/>
            <a:ext cx="720" cy="2363400"/>
          </a:xfrm>
          <a:prstGeom prst="straightConnector1">
            <a:avLst/>
          </a:prstGeom>
          <a:ln w="28575">
            <a:solidFill>
              <a:srgbClr val="2174b0"/>
            </a:solidFill>
            <a:miter/>
          </a:ln>
        </p:spPr>
      </p:cxn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077120" y="1122480"/>
            <a:ext cx="10020240" cy="12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ecolabdata/ecospheres-xslt" TargetMode="External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github.com/SEMICeu/iso-19139-to-dcat-ap/issues/57" TargetMode="External"/><Relationship Id="rId2" Type="http://schemas.openxmlformats.org/officeDocument/2006/relationships/hyperlink" Target="https://github.com/SEMICeu/GeoDCAT-AP/issues/135" TargetMode="External"/><Relationship Id="rId3" Type="http://schemas.openxmlformats.org/officeDocument/2006/relationships/hyperlink" Target="https://github.com/SEMICeu/iso-19139-to-dcat-ap/issues/84" TargetMode="External"/><Relationship Id="rId4" Type="http://schemas.openxmlformats.org/officeDocument/2006/relationships/hyperlink" Target="https://github.com/SEMICeu/iso-19139-to-dcat-ap/issues/87" TargetMode="External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071360" y="1992600"/>
            <a:ext cx="10289520" cy="214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ISO &amp; GeoDCAT-AP metadata</a:t>
            </a:r>
            <a:br>
              <a:rPr sz="5600"/>
            </a:br>
            <a:r>
              <a:rPr b="0" lang="en-US" sz="5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implementation pilot</a:t>
            </a:r>
            <a:endParaRPr b="0" lang="en-GB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071360" y="3876840"/>
            <a:ext cx="9452520" cy="8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European Commission SEMIC Group (DG DIGIT), DG JRC,   Publications Office of the European Union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&amp; Member States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684400" y="5384880"/>
            <a:ext cx="5676480" cy="136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GB" sz="22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FRANCE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GB" sz="2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Phase2 Kick-off Meeting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GB" sz="2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December 5, 2025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967320" y="1463040"/>
            <a:ext cx="10266840" cy="501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News at national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data.gouv.fr catalogue currently harvest ISO-19139 records using patched SEMIC XSLT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Around 28K datasets currently harvested with XSLT transformation from 13 catalogs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Work on upstream catalogs to improve and adapt ISO-19139 XML metadata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Using lightweight dedicated XSLTs : </a:t>
            </a:r>
            <a:r>
              <a:rPr b="0" lang="en-US" sz="1800" strike="noStrike" u="none">
                <a:solidFill>
                  <a:srgbClr val="0563c1"/>
                </a:solidFill>
                <a:effectLst/>
                <a:uFillTx/>
                <a:latin typeface="Arial"/>
                <a:ea typeface="Arial"/>
                <a:hlinkClick r:id="rId1"/>
              </a:rPr>
              <a:t>https://github.com/ecolabdata/ecospheres-xslt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Phase 1 – Feedback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Previous tests on INSPIRE x GeoDCAT-AP interoperability are already working nicely, with room for improvement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Need to clarify the process for ticket handling and tagging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Encourage more implementation of reported issues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Pilot report </a:t>
            </a:r>
            <a:br>
              <a:rPr sz="3600"/>
            </a:br>
            <a:r>
              <a:rPr b="1" lang="en-GB" sz="36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FRANCE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967320" y="1463040"/>
            <a:ext cx="10912320" cy="501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Phase 2 – Expectations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New tickets and potential contributions with PRs if specs are approved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Better resource mapping: </a:t>
            </a:r>
            <a:r>
              <a:rPr b="0" lang="en-US" sz="1800" strike="noStrike" u="none">
                <a:solidFill>
                  <a:srgbClr val="0563c1"/>
                </a:solidFill>
                <a:effectLst/>
                <a:uFillTx/>
                <a:latin typeface="Arial"/>
                <a:ea typeface="Arial"/>
                <a:hlinkClick r:id="rId1"/>
              </a:rPr>
              <a:t>SEMICeu/iso-19139-to-dcat-ap#57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-US" sz="1800" strike="noStrike" u="none">
                <a:solidFill>
                  <a:srgbClr val="0563c1"/>
                </a:solidFill>
                <a:effectLst/>
                <a:uFillTx/>
                <a:latin typeface="Arial"/>
                <a:ea typeface="Arial"/>
                <a:hlinkClick r:id="rId2"/>
              </a:rPr>
              <a:t>SEMICeu/GeoDCAT-AP#135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New metadata elements: </a:t>
            </a:r>
            <a:r>
              <a:rPr b="0" lang="en-US" sz="1800" strike="noStrike" u="none">
                <a:solidFill>
                  <a:srgbClr val="0563c1"/>
                </a:solidFill>
                <a:effectLst/>
                <a:uFillTx/>
                <a:latin typeface="Arial"/>
                <a:ea typeface="Arial"/>
                <a:hlinkClick r:id="rId3"/>
              </a:rPr>
              <a:t>SEMICeu/iso-19139-to-dcat-ap#84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Rights at the dataset level: </a:t>
            </a:r>
            <a:r>
              <a:rPr b="0" lang="en-US" sz="1800" strike="noStrike" u="none">
                <a:solidFill>
                  <a:srgbClr val="0563c1"/>
                </a:solidFill>
                <a:effectLst/>
                <a:uFillTx/>
                <a:latin typeface="Arial"/>
                <a:ea typeface="Arial"/>
                <a:hlinkClick r:id="rId4"/>
              </a:rPr>
              <a:t>SEMICeu/iso-19139-to-dcat-ap#87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More to come...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There should be one reference implementation (SEMIC XSLT?)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556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8cc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Coordination with the next INSPIRE revision (GreenData4All)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970560" y="575280"/>
            <a:ext cx="10263240" cy="78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Pilot report </a:t>
            </a:r>
            <a:br>
              <a:rPr sz="3600"/>
            </a:br>
            <a:r>
              <a:rPr b="1" lang="en-GB" sz="36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FRANCE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5136</TotalTime>
  <Application>LibreOffice/25.8.2.2$Linux_X86_64 LibreOffice_project/580$Build-2</Application>
  <AppVersion>15.0000</AppVersion>
  <Words>161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2019-08-09T12:06:42Z</dcterms:created>
  <dc:creator>JOHN Yvonne (COMM)</dc:creator>
  <dc:description/>
  <dc:language>en-GB</dc:language>
  <cp:lastModifiedBy/>
  <dcterms:modified xsi:type="dcterms:W3CDTF">2025-12-04T16:46:45Z</dcterms:modified>
  <cp:revision>287</cp:revision>
  <dc:subject/>
  <dc:title>INSPIRE Registry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0x0101008CF1E423E1053143A72AC4DF303AC6F5</vt:lpwstr>
  </property>
  <property fmtid="{D5CDD505-2E9C-101B-9397-08002B2CF9AE}" pid="3" name="Jive_LatestUserAccountName">
    <vt:lpwstr>wojdapi</vt:lpwstr>
  </property>
  <property fmtid="{D5CDD505-2E9C-101B-9397-08002B2CF9AE}" pid="4" name="Jive_VersionGuid">
    <vt:lpwstr>895d1684-e390-44f7-87f3-a893d9b6b3e1</vt:lpwstr>
  </property>
  <property fmtid="{D5CDD505-2E9C-101B-9397-08002B2CF9AE}" pid="5" name="MSIP_Label_6bd9ddd1-4d20-43f6-abfa-fc3c07406f94_ActionId">
    <vt:lpwstr>7eed690b-4686-40e3-95b3-413fe8628c53</vt:lpwstr>
  </property>
  <property fmtid="{D5CDD505-2E9C-101B-9397-08002B2CF9AE}" pid="6" name="MSIP_Label_6bd9ddd1-4d20-43f6-abfa-fc3c07406f94_ContentBits">
    <vt:lpwstr>0</vt:lpwstr>
  </property>
  <property fmtid="{D5CDD505-2E9C-101B-9397-08002B2CF9AE}" pid="7" name="MSIP_Label_6bd9ddd1-4d20-43f6-abfa-fc3c07406f94_Enabled">
    <vt:lpwstr>true</vt:lpwstr>
  </property>
  <property fmtid="{D5CDD505-2E9C-101B-9397-08002B2CF9AE}" pid="8" name="MSIP_Label_6bd9ddd1-4d20-43f6-abfa-fc3c07406f94_Method">
    <vt:lpwstr>Standard</vt:lpwstr>
  </property>
  <property fmtid="{D5CDD505-2E9C-101B-9397-08002B2CF9AE}" pid="9" name="MSIP_Label_6bd9ddd1-4d20-43f6-abfa-fc3c07406f94_Name">
    <vt:lpwstr>Commission Use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SiteId">
    <vt:lpwstr>b24c8b06-522c-46fe-9080-70926f8dddb1</vt:lpwstr>
  </property>
  <property fmtid="{D5CDD505-2E9C-101B-9397-08002B2CF9AE}" pid="12" name="MSIP_Label_6bd9ddd1-4d20-43f6-abfa-fc3c07406f94_Tag">
    <vt:lpwstr>10, 3, 0, 1</vt:lpwstr>
  </property>
  <property fmtid="{D5CDD505-2E9C-101B-9397-08002B2CF9AE}" pid="13" name="Notes">
    <vt:i4>1</vt:i4>
  </property>
  <property fmtid="{D5CDD505-2E9C-101B-9397-08002B2CF9AE}" pid="14" name="Offisync_ProviderInitializationData">
    <vt:lpwstr>https://webgate.ec.europa.eu/connected</vt:lpwstr>
  </property>
  <property fmtid="{D5CDD505-2E9C-101B-9397-08002B2CF9AE}" pid="15" name="Offisync_ServerID">
    <vt:lpwstr>0d3b22a6-6203-4efc-8e8e-b5279256493b</vt:lpwstr>
  </property>
  <property fmtid="{D5CDD505-2E9C-101B-9397-08002B2CF9AE}" pid="16" name="Offisync_UniqueId">
    <vt:lpwstr>216256</vt:lpwstr>
  </property>
  <property fmtid="{D5CDD505-2E9C-101B-9397-08002B2CF9AE}" pid="17" name="Offisync_UpdateToken">
    <vt:lpwstr>5</vt:lpwstr>
  </property>
  <property fmtid="{D5CDD505-2E9C-101B-9397-08002B2CF9AE}" pid="18" name="PresentationFormat">
    <vt:lpwstr>Widescreen</vt:lpwstr>
  </property>
  <property fmtid="{D5CDD505-2E9C-101B-9397-08002B2CF9AE}" pid="19" name="Slides">
    <vt:i4>2</vt:i4>
  </property>
</Properties>
</file>