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4" r:id="rId3"/>
    <p:sldId id="285" r:id="rId4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330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dirty="0">
                <a:solidFill>
                  <a:srgbClr val="FF0000"/>
                </a:solidFill>
              </a:rPr>
              <a:t>Denmark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Architecture we are implementing shown on next slide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We are following standardization and policy developments at the EU level closely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We would like to discuss the prospects of co-sponsoring </a:t>
            </a:r>
            <a:r>
              <a:rPr lang="en-US" sz="1800" dirty="0" err="1">
                <a:solidFill>
                  <a:srgbClr val="FF0000"/>
                </a:solidFill>
              </a:rPr>
              <a:t>GeoNetwork</a:t>
            </a:r>
            <a:r>
              <a:rPr lang="en-US" sz="1800" dirty="0">
                <a:solidFill>
                  <a:srgbClr val="FF0000"/>
                </a:solidFill>
              </a:rPr>
              <a:t> 5.x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1 –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We think the report from phase 1 provided a nice roadmap for issues still to tackle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As above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Denmark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013C-C98B-D97E-4CF4-2EE28545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233C2-062A-BC53-F838-4F219B1ED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4" y="1463041"/>
            <a:ext cx="10096180" cy="661532"/>
          </a:xfrm>
          <a:noFill/>
        </p:spPr>
        <p:txBody>
          <a:bodyPr/>
          <a:lstStyle/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rgbClr val="FF0000"/>
                </a:solidFill>
              </a:rPr>
              <a:t>Mock architecture for transforming INSPIRE to DCAT metadata: </a:t>
            </a: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endParaRPr lang="en-GB" b="1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5E3860-C4CC-5DE5-9762-BC822931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Denmark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23B0F63D-DE29-D620-7DCB-16973896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336" y="4126587"/>
            <a:ext cx="1015555" cy="945313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EAB1A4C3-F815-F7F8-D7C1-DFB14C389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26" y="3900461"/>
            <a:ext cx="1378721" cy="137872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5B1614BE-D8B8-9200-F193-54D24449B9DB}"/>
              </a:ext>
            </a:extLst>
          </p:cNvPr>
          <p:cNvSpPr txBox="1"/>
          <p:nvPr/>
        </p:nvSpPr>
        <p:spPr>
          <a:xfrm>
            <a:off x="1556622" y="5586116"/>
            <a:ext cx="29882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1. Geodata </a:t>
            </a:r>
            <a:r>
              <a:rPr lang="da-DK" dirty="0" err="1"/>
              <a:t>agencies</a:t>
            </a:r>
            <a:r>
              <a:rPr lang="da-DK" dirty="0"/>
              <a:t> enter metadata in Geodata-Info, the </a:t>
            </a:r>
            <a:r>
              <a:rPr lang="da-DK" dirty="0" err="1"/>
              <a:t>GeoNetwork</a:t>
            </a:r>
            <a:r>
              <a:rPr lang="da-DK" dirty="0"/>
              <a:t> </a:t>
            </a:r>
            <a:r>
              <a:rPr lang="da-DK" dirty="0" err="1"/>
              <a:t>instance</a:t>
            </a:r>
            <a:r>
              <a:rPr lang="da-DK" dirty="0"/>
              <a:t> run by the </a:t>
            </a:r>
            <a:r>
              <a:rPr lang="da-DK" dirty="0" err="1"/>
              <a:t>climate</a:t>
            </a:r>
            <a:r>
              <a:rPr lang="da-DK" dirty="0"/>
              <a:t> </a:t>
            </a:r>
            <a:r>
              <a:rPr lang="da-DK" dirty="0" err="1"/>
              <a:t>agency</a:t>
            </a:r>
            <a:r>
              <a:rPr lang="da-DK" dirty="0"/>
              <a:t> (or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own</a:t>
            </a:r>
            <a:r>
              <a:rPr lang="da-DK" dirty="0"/>
              <a:t> </a:t>
            </a:r>
            <a:r>
              <a:rPr lang="da-DK" dirty="0" err="1"/>
              <a:t>equivalent</a:t>
            </a:r>
            <a:r>
              <a:rPr lang="da-DK" dirty="0"/>
              <a:t> </a:t>
            </a:r>
            <a:r>
              <a:rPr lang="da-DK" dirty="0" err="1"/>
              <a:t>which</a:t>
            </a:r>
            <a:r>
              <a:rPr lang="da-DK" dirty="0"/>
              <a:t> is </a:t>
            </a:r>
            <a:r>
              <a:rPr lang="da-DK" dirty="0" err="1"/>
              <a:t>then</a:t>
            </a:r>
            <a:r>
              <a:rPr lang="da-DK" dirty="0"/>
              <a:t> harvested)</a:t>
            </a: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E4D8C64F-263D-AE37-4160-F8B16511A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311" y="2521132"/>
            <a:ext cx="2031175" cy="857085"/>
          </a:xfrm>
          <a:prstGeom prst="rect">
            <a:avLst/>
          </a:prstGeom>
        </p:spPr>
      </p:pic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0BD3FBD6-FEB1-A394-8775-9572D274A872}"/>
              </a:ext>
            </a:extLst>
          </p:cNvPr>
          <p:cNvCxnSpPr/>
          <p:nvPr/>
        </p:nvCxnSpPr>
        <p:spPr>
          <a:xfrm>
            <a:off x="0" y="3730027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felt 20">
            <a:extLst>
              <a:ext uri="{FF2B5EF4-FFF2-40B4-BE49-F238E27FC236}">
                <a16:creationId xmlns:a16="http://schemas.microsoft.com/office/drawing/2014/main" id="{EC60DEE2-D84C-6F12-D35F-3097968F78E8}"/>
              </a:ext>
            </a:extLst>
          </p:cNvPr>
          <p:cNvSpPr txBox="1"/>
          <p:nvPr/>
        </p:nvSpPr>
        <p:spPr>
          <a:xfrm>
            <a:off x="126748" y="2909700"/>
            <a:ext cx="98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Actors</a:t>
            </a:r>
            <a:endParaRPr lang="da-DK" dirty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CBE4998-DA33-8F56-EF5B-C19FFD1BD6BB}"/>
              </a:ext>
            </a:extLst>
          </p:cNvPr>
          <p:cNvSpPr txBox="1"/>
          <p:nvPr/>
        </p:nvSpPr>
        <p:spPr>
          <a:xfrm>
            <a:off x="71581" y="4402527"/>
            <a:ext cx="1351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Technologies/platforms</a:t>
            </a:r>
          </a:p>
        </p:txBody>
      </p: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522D3A85-0CFD-784C-8B7A-38E9916CF55C}"/>
              </a:ext>
            </a:extLst>
          </p:cNvPr>
          <p:cNvCxnSpPr/>
          <p:nvPr/>
        </p:nvCxnSpPr>
        <p:spPr>
          <a:xfrm>
            <a:off x="0" y="5502997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kstfelt 23">
            <a:extLst>
              <a:ext uri="{FF2B5EF4-FFF2-40B4-BE49-F238E27FC236}">
                <a16:creationId xmlns:a16="http://schemas.microsoft.com/office/drawing/2014/main" id="{D1833529-D053-7062-1184-64DA2374D0B0}"/>
              </a:ext>
            </a:extLst>
          </p:cNvPr>
          <p:cNvSpPr txBox="1"/>
          <p:nvPr/>
        </p:nvSpPr>
        <p:spPr>
          <a:xfrm>
            <a:off x="6668" y="5861531"/>
            <a:ext cx="1351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Processes</a:t>
            </a:r>
            <a:endParaRPr lang="da-DK" dirty="0"/>
          </a:p>
        </p:txBody>
      </p: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869BBEF8-60C1-5B25-A91E-3BB386DCF592}"/>
              </a:ext>
            </a:extLst>
          </p:cNvPr>
          <p:cNvCxnSpPr>
            <a:cxnSpLocks/>
          </p:cNvCxnSpPr>
          <p:nvPr/>
        </p:nvCxnSpPr>
        <p:spPr>
          <a:xfrm>
            <a:off x="1466028" y="2732637"/>
            <a:ext cx="0" cy="4125363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forbindelse 29">
            <a:extLst>
              <a:ext uri="{FF2B5EF4-FFF2-40B4-BE49-F238E27FC236}">
                <a16:creationId xmlns:a16="http://schemas.microsoft.com/office/drawing/2014/main" id="{7A7D255A-B716-E42F-4A9C-4F8085E8F38F}"/>
              </a:ext>
            </a:extLst>
          </p:cNvPr>
          <p:cNvCxnSpPr/>
          <p:nvPr/>
        </p:nvCxnSpPr>
        <p:spPr>
          <a:xfrm>
            <a:off x="0" y="2732637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Billede 32">
            <a:extLst>
              <a:ext uri="{FF2B5EF4-FFF2-40B4-BE49-F238E27FC236}">
                <a16:creationId xmlns:a16="http://schemas.microsoft.com/office/drawing/2014/main" id="{A62D839E-D60D-59F8-155C-57EFE9931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124" y="3196474"/>
            <a:ext cx="851327" cy="476743"/>
          </a:xfrm>
          <a:prstGeom prst="rect">
            <a:avLst/>
          </a:prstGeom>
        </p:spPr>
      </p:pic>
      <p:pic>
        <p:nvPicPr>
          <p:cNvPr id="35" name="Billede 34">
            <a:extLst>
              <a:ext uri="{FF2B5EF4-FFF2-40B4-BE49-F238E27FC236}">
                <a16:creationId xmlns:a16="http://schemas.microsoft.com/office/drawing/2014/main" id="{1F8F7514-79F5-DFC1-310A-76F0930CE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3050" y="3271796"/>
            <a:ext cx="1921953" cy="396039"/>
          </a:xfrm>
          <a:prstGeom prst="rect">
            <a:avLst/>
          </a:prstGeom>
        </p:spPr>
      </p:pic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B7A22071-F016-3015-1295-9025A7B6E4A2}"/>
              </a:ext>
            </a:extLst>
          </p:cNvPr>
          <p:cNvCxnSpPr>
            <a:cxnSpLocks/>
          </p:cNvCxnSpPr>
          <p:nvPr/>
        </p:nvCxnSpPr>
        <p:spPr>
          <a:xfrm>
            <a:off x="4660396" y="2749237"/>
            <a:ext cx="0" cy="4125363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Billede 37">
            <a:extLst>
              <a:ext uri="{FF2B5EF4-FFF2-40B4-BE49-F238E27FC236}">
                <a16:creationId xmlns:a16="http://schemas.microsoft.com/office/drawing/2014/main" id="{F6947104-C791-E4E8-0E9E-5414568E6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5861" y="4420852"/>
            <a:ext cx="937081" cy="737858"/>
          </a:xfrm>
          <a:prstGeom prst="rect">
            <a:avLst/>
          </a:prstGeom>
        </p:spPr>
      </p:pic>
      <p:sp>
        <p:nvSpPr>
          <p:cNvPr id="39" name="Tekstfelt 38">
            <a:extLst>
              <a:ext uri="{FF2B5EF4-FFF2-40B4-BE49-F238E27FC236}">
                <a16:creationId xmlns:a16="http://schemas.microsoft.com/office/drawing/2014/main" id="{519B0DCA-F689-B917-E7D5-9084494F3C7C}"/>
              </a:ext>
            </a:extLst>
          </p:cNvPr>
          <p:cNvSpPr txBox="1"/>
          <p:nvPr/>
        </p:nvSpPr>
        <p:spPr>
          <a:xfrm>
            <a:off x="3848527" y="3006000"/>
            <a:ext cx="98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Etc.</a:t>
            </a:r>
          </a:p>
        </p:txBody>
      </p:sp>
      <p:pic>
        <p:nvPicPr>
          <p:cNvPr id="41" name="Billede 40">
            <a:extLst>
              <a:ext uri="{FF2B5EF4-FFF2-40B4-BE49-F238E27FC236}">
                <a16:creationId xmlns:a16="http://schemas.microsoft.com/office/drawing/2014/main" id="{59B963F5-5E84-F36A-2049-35C0DD850A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3636" y="2909700"/>
            <a:ext cx="1649686" cy="543426"/>
          </a:xfrm>
          <a:prstGeom prst="rect">
            <a:avLst/>
          </a:prstGeom>
        </p:spPr>
      </p:pic>
      <p:pic>
        <p:nvPicPr>
          <p:cNvPr id="43" name="Billede 42">
            <a:extLst>
              <a:ext uri="{FF2B5EF4-FFF2-40B4-BE49-F238E27FC236}">
                <a16:creationId xmlns:a16="http://schemas.microsoft.com/office/drawing/2014/main" id="{A082F674-B1C8-15BE-BCEB-56444249AB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0342" y="3076925"/>
            <a:ext cx="910209" cy="511895"/>
          </a:xfrm>
          <a:prstGeom prst="rect">
            <a:avLst/>
          </a:prstGeom>
        </p:spPr>
      </p:pic>
      <p:cxnSp>
        <p:nvCxnSpPr>
          <p:cNvPr id="45" name="Lige forbindelse 44">
            <a:extLst>
              <a:ext uri="{FF2B5EF4-FFF2-40B4-BE49-F238E27FC236}">
                <a16:creationId xmlns:a16="http://schemas.microsoft.com/office/drawing/2014/main" id="{CF094806-C85B-0AC8-518E-95B049C281C0}"/>
              </a:ext>
            </a:extLst>
          </p:cNvPr>
          <p:cNvCxnSpPr/>
          <p:nvPr/>
        </p:nvCxnSpPr>
        <p:spPr>
          <a:xfrm flipH="1">
            <a:off x="6495247" y="2775550"/>
            <a:ext cx="561314" cy="918598"/>
          </a:xfrm>
          <a:prstGeom prst="line">
            <a:avLst/>
          </a:prstGeom>
          <a:ln w="38100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kstfelt 47">
            <a:extLst>
              <a:ext uri="{FF2B5EF4-FFF2-40B4-BE49-F238E27FC236}">
                <a16:creationId xmlns:a16="http://schemas.microsoft.com/office/drawing/2014/main" id="{2CCAC282-DAB2-6754-C33D-4D15C8EDDC84}"/>
              </a:ext>
            </a:extLst>
          </p:cNvPr>
          <p:cNvSpPr txBox="1"/>
          <p:nvPr/>
        </p:nvSpPr>
        <p:spPr>
          <a:xfrm>
            <a:off x="4750989" y="5586118"/>
            <a:ext cx="24827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2. National data portal (Datavejviser) </a:t>
            </a:r>
            <a:r>
              <a:rPr lang="da-DK" dirty="0" err="1"/>
              <a:t>queries</a:t>
            </a:r>
            <a:r>
              <a:rPr lang="da-DK" dirty="0"/>
              <a:t> CSW </a:t>
            </a:r>
            <a:r>
              <a:rPr lang="da-DK" dirty="0" err="1"/>
              <a:t>endpoint</a:t>
            </a:r>
            <a:r>
              <a:rPr lang="da-DK" dirty="0"/>
              <a:t> with </a:t>
            </a:r>
            <a:r>
              <a:rPr lang="da-DK" dirty="0" err="1"/>
              <a:t>GeoDCAT</a:t>
            </a:r>
            <a:r>
              <a:rPr lang="da-DK" dirty="0"/>
              <a:t>-AP metadata (</a:t>
            </a:r>
            <a:r>
              <a:rPr lang="da-DK" dirty="0" err="1"/>
              <a:t>using</a:t>
            </a:r>
            <a:r>
              <a:rPr lang="da-DK" dirty="0"/>
              <a:t> an Excel ”</a:t>
            </a:r>
            <a:r>
              <a:rPr lang="da-DK" dirty="0" err="1"/>
              <a:t>query</a:t>
            </a:r>
            <a:r>
              <a:rPr lang="da-DK" dirty="0"/>
              <a:t> </a:t>
            </a:r>
            <a:r>
              <a:rPr lang="da-DK" dirty="0" err="1"/>
              <a:t>builder</a:t>
            </a:r>
            <a:r>
              <a:rPr lang="da-DK" dirty="0"/>
              <a:t>”) </a:t>
            </a:r>
          </a:p>
        </p:txBody>
      </p:sp>
      <p:pic>
        <p:nvPicPr>
          <p:cNvPr id="49" name="Billede 48">
            <a:extLst>
              <a:ext uri="{FF2B5EF4-FFF2-40B4-BE49-F238E27FC236}">
                <a16:creationId xmlns:a16="http://schemas.microsoft.com/office/drawing/2014/main" id="{58F278C4-EE47-A4B0-43E6-31FE901E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10" y="4059125"/>
            <a:ext cx="1166968" cy="1166968"/>
          </a:xfrm>
          <a:prstGeom prst="rect">
            <a:avLst/>
          </a:prstGeom>
        </p:spPr>
      </p:pic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DA3B1239-B69F-04DE-5D2F-166193C1C941}"/>
              </a:ext>
            </a:extLst>
          </p:cNvPr>
          <p:cNvCxnSpPr>
            <a:cxnSpLocks/>
          </p:cNvCxnSpPr>
          <p:nvPr/>
        </p:nvCxnSpPr>
        <p:spPr>
          <a:xfrm>
            <a:off x="8162578" y="3730027"/>
            <a:ext cx="0" cy="3122435"/>
          </a:xfrm>
          <a:prstGeom prst="line">
            <a:avLst/>
          </a:prstGeom>
          <a:ln w="38100">
            <a:solidFill>
              <a:schemeClr val="tx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Billede 54">
            <a:extLst>
              <a:ext uri="{FF2B5EF4-FFF2-40B4-BE49-F238E27FC236}">
                <a16:creationId xmlns:a16="http://schemas.microsoft.com/office/drawing/2014/main" id="{41110AD6-053C-EF1D-1572-62CEC8D83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7689" y="4081448"/>
            <a:ext cx="994735" cy="994735"/>
          </a:xfrm>
          <a:prstGeom prst="rect">
            <a:avLst/>
          </a:prstGeom>
        </p:spPr>
      </p:pic>
      <p:pic>
        <p:nvPicPr>
          <p:cNvPr id="57" name="Billede 56">
            <a:extLst>
              <a:ext uri="{FF2B5EF4-FFF2-40B4-BE49-F238E27FC236}">
                <a16:creationId xmlns:a16="http://schemas.microsoft.com/office/drawing/2014/main" id="{55D08C8A-E194-4BAF-93BB-769FDB75D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8733" y="4242578"/>
            <a:ext cx="2431686" cy="824129"/>
          </a:xfrm>
          <a:prstGeom prst="rect">
            <a:avLst/>
          </a:prstGeom>
        </p:spPr>
      </p:pic>
      <p:sp>
        <p:nvSpPr>
          <p:cNvPr id="58" name="Tekstfelt 57">
            <a:extLst>
              <a:ext uri="{FF2B5EF4-FFF2-40B4-BE49-F238E27FC236}">
                <a16:creationId xmlns:a16="http://schemas.microsoft.com/office/drawing/2014/main" id="{6B6BEA99-DFE4-BCCB-7956-ABC33A28A668}"/>
              </a:ext>
            </a:extLst>
          </p:cNvPr>
          <p:cNvSpPr txBox="1"/>
          <p:nvPr/>
        </p:nvSpPr>
        <p:spPr>
          <a:xfrm>
            <a:off x="8162578" y="5502997"/>
            <a:ext cx="196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3. </a:t>
            </a:r>
            <a:r>
              <a:rPr lang="da-DK" dirty="0" err="1"/>
              <a:t>GeoDCAT</a:t>
            </a:r>
            <a:r>
              <a:rPr lang="da-DK" dirty="0"/>
              <a:t>-AP CSW output is run </a:t>
            </a:r>
            <a:r>
              <a:rPr lang="da-DK" dirty="0" err="1"/>
              <a:t>through</a:t>
            </a:r>
            <a:r>
              <a:rPr lang="da-DK" dirty="0"/>
              <a:t> script to ”RDF-fy” and perform HVD tag </a:t>
            </a:r>
            <a:r>
              <a:rPr lang="da-DK" dirty="0" err="1"/>
              <a:t>mapping</a:t>
            </a:r>
            <a:r>
              <a:rPr lang="da-DK" dirty="0"/>
              <a:t>. The </a:t>
            </a:r>
            <a:r>
              <a:rPr lang="da-DK" dirty="0" err="1"/>
              <a:t>result</a:t>
            </a:r>
            <a:r>
              <a:rPr lang="da-DK" dirty="0"/>
              <a:t> is harvested to CKAN </a:t>
            </a:r>
          </a:p>
        </p:txBody>
      </p:sp>
    </p:spTree>
    <p:extLst>
      <p:ext uri="{BB962C8B-B14F-4D97-AF65-F5344CB8AC3E}">
        <p14:creationId xmlns:p14="http://schemas.microsoft.com/office/powerpoint/2010/main" val="408035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197</Words>
  <Application>Microsoft Office PowerPoint</Application>
  <PresentationFormat>Widescreen</PresentationFormat>
  <Paragraphs>24</Paragraphs>
  <Slides>3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ISO &amp; GeoDCAT-AP metadata implementation pilot</vt:lpstr>
      <vt:lpstr>Pilot report  Denmark</vt:lpstr>
      <vt:lpstr>Pilot report  Denmark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Christian Nicolai Larsen</cp:lastModifiedBy>
  <cp:revision>233</cp:revision>
  <dcterms:created xsi:type="dcterms:W3CDTF">2019-08-09T12:06:42Z</dcterms:created>
  <dcterms:modified xsi:type="dcterms:W3CDTF">2025-12-04T16:12:57Z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