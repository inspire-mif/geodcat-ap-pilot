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84" r:id="rId3"/>
    <p:sldId id="285" r:id="rId4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39" autoAdjust="0"/>
    <p:restoredTop sz="94660"/>
  </p:normalViewPr>
  <p:slideViewPr>
    <p:cSldViewPr snapToGrid="0">
      <p:cViewPr varScale="1">
        <p:scale>
          <a:sx n="56" d="100"/>
          <a:sy n="56" d="100"/>
        </p:scale>
        <p:origin x="604" y="44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UNDO Antonio" userId="821229aa-e62b-4e00-a2f6-d86e1618bccf" providerId="ADAL" clId="{A3126EE1-C07D-40C9-B562-20A4A32C4081}"/>
    <pc:docChg chg="undo custSel addSld modSld">
      <pc:chgData name="ROTUNDO Antonio" userId="821229aa-e62b-4e00-a2f6-d86e1618bccf" providerId="ADAL" clId="{A3126EE1-C07D-40C9-B562-20A4A32C4081}" dt="2025-12-04T14:18:05.489" v="370" actId="478"/>
      <pc:docMkLst>
        <pc:docMk/>
      </pc:docMkLst>
      <pc:sldChg chg="modSp mod">
        <pc:chgData name="ROTUNDO Antonio" userId="821229aa-e62b-4e00-a2f6-d86e1618bccf" providerId="ADAL" clId="{A3126EE1-C07D-40C9-B562-20A4A32C4081}" dt="2025-12-04T14:00:41.366" v="347" actId="20577"/>
        <pc:sldMkLst>
          <pc:docMk/>
          <pc:sldMk cId="4051915537" sldId="284"/>
        </pc:sldMkLst>
        <pc:spChg chg="mod">
          <ac:chgData name="ROTUNDO Antonio" userId="821229aa-e62b-4e00-a2f6-d86e1618bccf" providerId="ADAL" clId="{A3126EE1-C07D-40C9-B562-20A4A32C4081}" dt="2025-12-04T14:00:41.366" v="347" actId="20577"/>
          <ac:spMkLst>
            <pc:docMk/>
            <pc:sldMk cId="4051915537" sldId="284"/>
            <ac:spMk id="2" creationId="{00000000-0000-0000-0000-000000000000}"/>
          </ac:spMkLst>
        </pc:spChg>
      </pc:sldChg>
      <pc:sldChg chg="delSp modSp add mod">
        <pc:chgData name="ROTUNDO Antonio" userId="821229aa-e62b-4e00-a2f6-d86e1618bccf" providerId="ADAL" clId="{A3126EE1-C07D-40C9-B562-20A4A32C4081}" dt="2025-12-04T14:18:05.489" v="370" actId="478"/>
        <pc:sldMkLst>
          <pc:docMk/>
          <pc:sldMk cId="2037845501" sldId="285"/>
        </pc:sldMkLst>
        <pc:spChg chg="mod">
          <ac:chgData name="ROTUNDO Antonio" userId="821229aa-e62b-4e00-a2f6-d86e1618bccf" providerId="ADAL" clId="{A3126EE1-C07D-40C9-B562-20A4A32C4081}" dt="2025-12-04T14:02:20.556" v="369" actId="20577"/>
          <ac:spMkLst>
            <pc:docMk/>
            <pc:sldMk cId="2037845501" sldId="285"/>
            <ac:spMk id="2" creationId="{B6FF4508-3ED6-B979-1C4C-773D93865F86}"/>
          </ac:spMkLst>
        </pc:spChg>
        <pc:spChg chg="del">
          <ac:chgData name="ROTUNDO Antonio" userId="821229aa-e62b-4e00-a2f6-d86e1618bccf" providerId="ADAL" clId="{A3126EE1-C07D-40C9-B562-20A4A32C4081}" dt="2025-12-04T14:18:05.489" v="370" actId="478"/>
          <ac:spMkLst>
            <pc:docMk/>
            <pc:sldMk cId="2037845501" sldId="285"/>
            <ac:spMk id="5" creationId="{E88E5109-B5C9-81F9-DE62-FB80636FBF63}"/>
          </ac:spMkLst>
        </pc:spChg>
        <pc:picChg chg="del">
          <ac:chgData name="ROTUNDO Antonio" userId="821229aa-e62b-4e00-a2f6-d86e1618bccf" providerId="ADAL" clId="{A3126EE1-C07D-40C9-B562-20A4A32C4081}" dt="2025-12-04T14:18:05.489" v="370" actId="478"/>
          <ac:picMkLst>
            <pc:docMk/>
            <pc:sldMk cId="2037845501" sldId="285"/>
            <ac:picMk id="4" creationId="{771AD57B-7A1F-5328-C9AA-EA282D1072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5600" dirty="0"/>
              <a:t>ISO &amp; GeoDCAT-AP metadata</a:t>
            </a:r>
            <a:br>
              <a:rPr lang="en-US" sz="5600" dirty="0"/>
            </a:br>
            <a:r>
              <a:rPr lang="en-US" sz="5600" dirty="0"/>
              <a:t>implementation pilot</a:t>
            </a:r>
            <a:endParaRPr sz="5600" dirty="0"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071350" y="3876692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US" sz="2400" b="1" dirty="0"/>
              <a:t>European Commission SEMIC Group (DG DIGIT), DG JRC,   Publications Office of the European Union </a:t>
            </a:r>
          </a:p>
          <a:p>
            <a:pPr>
              <a:buSzPts val="2300"/>
            </a:pPr>
            <a:r>
              <a:rPr lang="en-US" sz="2400" b="1" dirty="0"/>
              <a:t>&amp; Member States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5684519" y="5384800"/>
            <a:ext cx="5677095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GB" dirty="0">
                <a:solidFill>
                  <a:srgbClr val="FF0000"/>
                </a:solidFill>
              </a:rPr>
              <a:t>Antonio Rotundo (Italy)</a:t>
            </a:r>
          </a:p>
          <a:p>
            <a:pPr marL="0" lvl="0" indent="0"/>
            <a:r>
              <a:rPr lang="en-GB" dirty="0"/>
              <a:t>Phase2 Kick-off Meeting</a:t>
            </a:r>
          </a:p>
          <a:p>
            <a:pPr marL="0" lvl="0" indent="0"/>
            <a:r>
              <a:rPr lang="en-GB" dirty="0"/>
              <a:t>December 5, 2025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9630505" cy="4170363"/>
          </a:xfrm>
          <a:noFill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News at national level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National metadata profile updated by including the rules for tagging HVDs as agreed in the Phase 1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Validation system and national XSLT updated as well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Assessment activities ongoing for the migration of the national OD portal to DCAT-AP v3 (which will be followed by migration to GeoDCAT-AP v3)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1 – Feedback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We need to implement the activities identified and fix the issues raised in the Phase 1. Inter alia: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FF0000"/>
                </a:solidFill>
              </a:rPr>
              <a:t>Common repository to share transformation assets between Member States;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FF0000"/>
                </a:solidFill>
              </a:rPr>
              <a:t>Coordination and documentation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FF0000"/>
                </a:solidFill>
              </a:rPr>
              <a:t>Addressing the issues related to Data Services and API endpoints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FF0000"/>
                </a:solidFill>
              </a:rPr>
              <a:t>Assessing the possible revision of the current INSPIRE metadata technical guidelines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en-GB" sz="3600" b="1" dirty="0">
                <a:solidFill>
                  <a:srgbClr val="FF0000"/>
                </a:solidFill>
              </a:rPr>
              <a:t>Italy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04CB3E7-78CD-AB4A-2BB9-E6357EEED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010" y="1249298"/>
            <a:ext cx="1247237" cy="1776170"/>
          </a:xfrm>
          <a:prstGeom prst="rect">
            <a:avLst/>
          </a:prstGeom>
          <a:ln w="38100">
            <a:solidFill>
              <a:schemeClr val="bg2"/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6FF9335-2959-8322-C4B4-2050B48DDEB9}"/>
              </a:ext>
            </a:extLst>
          </p:cNvPr>
          <p:cNvSpPr txBox="1"/>
          <p:nvPr/>
        </p:nvSpPr>
        <p:spPr>
          <a:xfrm>
            <a:off x="10534624" y="2453024"/>
            <a:ext cx="161394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b="1" dirty="0">
                <a:latin typeface="Raleway" pitchFamily="2" charset="0"/>
              </a:rPr>
              <a:t>IT metadata </a:t>
            </a:r>
            <a:r>
              <a:rPr lang="it-IT" sz="1200" b="1" dirty="0" err="1">
                <a:latin typeface="Raleway" pitchFamily="2" charset="0"/>
              </a:rPr>
              <a:t>profile</a:t>
            </a:r>
            <a:endParaRPr lang="it-IT" sz="1200" b="1" dirty="0">
              <a:latin typeface="Raleway" pitchFamily="2" charset="0"/>
            </a:endParaRPr>
          </a:p>
          <a:p>
            <a:r>
              <a:rPr lang="it-IT" sz="1200" b="1" dirty="0">
                <a:latin typeface="Raleway" pitchFamily="2" charset="0"/>
              </a:rPr>
              <a:t> for </a:t>
            </a:r>
            <a:r>
              <a:rPr lang="it-IT" sz="1200" b="1" dirty="0" err="1">
                <a:latin typeface="Raleway" pitchFamily="2" charset="0"/>
              </a:rPr>
              <a:t>spatial</a:t>
            </a:r>
            <a:r>
              <a:rPr lang="it-IT" sz="1200" b="1" dirty="0">
                <a:latin typeface="Raleway" pitchFamily="2" charset="0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ECDD-A980-96AB-B4EF-D08D451D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FF4508-3ED6-B979-1C4C-773D93865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9630505" cy="4170363"/>
          </a:xfrm>
          <a:noFill/>
        </p:spPr>
        <p:txBody>
          <a:bodyPr/>
          <a:lstStyle/>
          <a:p>
            <a:pPr lvl="2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16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2 – Expectations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Reaching a common agreement on open issues in order to complete the definition and implementation of GeoDCAT-AP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EF0D41-33B6-A378-F3BF-01ACD1B9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en-GB" sz="3600" b="1" dirty="0">
                <a:solidFill>
                  <a:srgbClr val="FF0000"/>
                </a:solidFill>
              </a:rPr>
              <a:t>Italy</a:t>
            </a:r>
          </a:p>
        </p:txBody>
      </p:sp>
    </p:spTree>
    <p:extLst>
      <p:ext uri="{BB962C8B-B14F-4D97-AF65-F5344CB8AC3E}">
        <p14:creationId xmlns:p14="http://schemas.microsoft.com/office/powerpoint/2010/main" val="2037845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3876</TotalTime>
  <Words>187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Arial</vt:lpstr>
      <vt:lpstr>Calibri</vt:lpstr>
      <vt:lpstr>Courier New</vt:lpstr>
      <vt:lpstr>Raleway</vt:lpstr>
      <vt:lpstr>Office Theme</vt:lpstr>
      <vt:lpstr>ISO &amp; GeoDCAT-AP metadata implementation pilot</vt:lpstr>
      <vt:lpstr>Pilot report  Italy</vt:lpstr>
      <vt:lpstr>Pilot report  Italy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lastModifiedBy>ROTUNDO Antonio</cp:lastModifiedBy>
  <cp:revision>232</cp:revision>
  <dcterms:created xsi:type="dcterms:W3CDTF">2019-08-09T12:06:42Z</dcterms:created>
  <dcterms:modified xsi:type="dcterms:W3CDTF">2025-12-04T14:18:07Z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0x0101008CF1E423E1053143A72AC4DF303AC6F5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</Properties>
</file>