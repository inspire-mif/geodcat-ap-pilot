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2192000" cy="6858000"/>
  <p:notesSz cx="6794500" cy="9906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orient="horz" pos="3777">
          <p15:clr>
            <a:srgbClr val="A4A3A4"/>
          </p15:clr>
        </p15:guide>
        <p15:guide id="4" pos="3839">
          <p15:clr>
            <a:srgbClr val="A4A3A4"/>
          </p15:clr>
        </p15:guide>
        <p15:guide id="5" orient="horz" pos="2162">
          <p15:clr>
            <a:srgbClr val="A4A3A4"/>
          </p15:clr>
        </p15:guide>
        <p15:guide id="6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ZfmPaAZDOGffchqPWS8+vvHl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39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44"/>
      </p:cViewPr>
      <p:guideLst>
        <p:guide orient="horz" pos="1026"/>
        <p:guide pos="529"/>
        <p:guide orient="horz" pos="3777"/>
        <p:guide pos="3839"/>
        <p:guide orient="horz" pos="2162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645" y="0"/>
            <a:ext cx="2944283" cy="49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/>
          <p:nvPr/>
        </p:nvSpPr>
        <p:spPr>
          <a:xfrm>
            <a:off x="0" y="1073101"/>
            <a:ext cx="12192000" cy="57849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838200" y="1978925"/>
            <a:ext cx="0" cy="487907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8"/>
          <p:cNvSpPr txBox="1">
            <a:spLocks noGrp="1"/>
          </p:cNvSpPr>
          <p:nvPr>
            <p:ph type="subTitle" idx="1"/>
          </p:nvPr>
        </p:nvSpPr>
        <p:spPr>
          <a:xfrm>
            <a:off x="1071350" y="4418049"/>
            <a:ext cx="10290265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body" idx="2"/>
          </p:nvPr>
        </p:nvSpPr>
        <p:spPr>
          <a:xfrm>
            <a:off x="6094413" y="5391726"/>
            <a:ext cx="5267202" cy="87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200"/>
              <a:buFont typeface="Arial"/>
              <a:buNone/>
              <a:defRPr sz="22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8" descr="Foote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47221" y="6390001"/>
            <a:ext cx="697559" cy="46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 descr="EC-JRC-logo_vertical_EN_pos_transparent-background.png"/>
          <p:cNvPicPr preferRelativeResize="0"/>
          <p:nvPr/>
        </p:nvPicPr>
        <p:blipFill rotWithShape="1">
          <a:blip r:embed="rId3">
            <a:alphaModFix/>
          </a:blip>
          <a:srcRect l="3733" t="5039" r="4158" b="4382"/>
          <a:stretch/>
        </p:blipFill>
        <p:spPr>
          <a:xfrm>
            <a:off x="5373779" y="264907"/>
            <a:ext cx="1674947" cy="11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2" name="Google Shape;22;p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1)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0D6CB4"/>
              </a:gs>
              <a:gs pos="47000">
                <a:srgbClr val="0D6CB4"/>
              </a:gs>
              <a:gs pos="77000">
                <a:srgbClr val="227DC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 txBox="1">
            <a:spLocks noGrp="1"/>
          </p:cNvSpPr>
          <p:nvPr>
            <p:ph type="ctrTitle"/>
          </p:nvPr>
        </p:nvSpPr>
        <p:spPr>
          <a:xfrm>
            <a:off x="1070189" y="1122363"/>
            <a:ext cx="1028165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129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FFD12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165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3" name="Google Shape;33;p11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FFD12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7154" y="1825624"/>
            <a:ext cx="10267462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43" name="Google Shape;43;p1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>
  <p:cSld name="Content and 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232525" y="1825625"/>
            <a:ext cx="500209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1" name="Google Shape;51;p15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56" name="Google Shape;56;p16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6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3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3" name="Google Shape;63;p17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970722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970722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3"/>
          </p:nvPr>
        </p:nvSpPr>
        <p:spPr>
          <a:xfrm>
            <a:off x="6232768" y="1681163"/>
            <a:ext cx="5003999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4"/>
          </p:nvPr>
        </p:nvSpPr>
        <p:spPr>
          <a:xfrm>
            <a:off x="6232768" y="2597727"/>
            <a:ext cx="5003999" cy="3398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0" name="Google Shape;70;p18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photo">
  <p:cSld name="Title_phot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9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-59635" y="-59635"/>
            <a:ext cx="6155635" cy="6983896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20"/>
          <p:cNvSpPr/>
          <p:nvPr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615" y="743802"/>
            <a:ext cx="544923" cy="54492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214048" y="1992572"/>
            <a:ext cx="8010798" cy="36166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360000" rIns="360000" bIns="3600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and Content (half page)">
  <p:cSld name="Picture and Content (half page)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6662614" y="1825625"/>
            <a:ext cx="4583519" cy="417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662614" y="586765"/>
            <a:ext cx="458177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-46383" y="-46383"/>
            <a:ext cx="6142383" cy="6964017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tal Picture and Content">
  <p:cSld name="Horizontal Pictur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>
            <a:spLocks noGrp="1"/>
          </p:cNvSpPr>
          <p:nvPr>
            <p:ph type="pic" idx="2"/>
          </p:nvPr>
        </p:nvSpPr>
        <p:spPr>
          <a:xfrm>
            <a:off x="-63280" y="-62165"/>
            <a:ext cx="12318560" cy="3468939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957385" y="2818576"/>
            <a:ext cx="10287000" cy="6283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957385" y="3630613"/>
            <a:ext cx="10287000" cy="236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3 image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>
            <a:spLocks noGrp="1"/>
          </p:cNvSpPr>
          <p:nvPr>
            <p:ph type="pic" idx="2"/>
          </p:nvPr>
        </p:nvSpPr>
        <p:spPr>
          <a:xfrm>
            <a:off x="840157" y="2284667"/>
            <a:ext cx="3347997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2" name="Google Shape;92;p23"/>
          <p:cNvSpPr>
            <a:spLocks noGrp="1"/>
          </p:cNvSpPr>
          <p:nvPr>
            <p:ph type="pic" idx="3"/>
          </p:nvPr>
        </p:nvSpPr>
        <p:spPr>
          <a:xfrm>
            <a:off x="7940525" y="2284668"/>
            <a:ext cx="3419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23"/>
          <p:cNvSpPr>
            <a:spLocks noGrp="1"/>
          </p:cNvSpPr>
          <p:nvPr>
            <p:ph type="pic" idx="4"/>
          </p:nvPr>
        </p:nvSpPr>
        <p:spPr>
          <a:xfrm>
            <a:off x="4390340" y="2284667"/>
            <a:ext cx="3347998" cy="209073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1179376" y="403868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5"/>
          </p:nvPr>
        </p:nvSpPr>
        <p:spPr>
          <a:xfrm>
            <a:off x="4729560" y="4041944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6"/>
          </p:nvPr>
        </p:nvSpPr>
        <p:spPr>
          <a:xfrm>
            <a:off x="8315745" y="4037437"/>
            <a:ext cx="2669558" cy="15242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8" name="Google Shape;98;p23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mages">
  <p:cSld name="4 image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>
            <a:spLocks noGrp="1"/>
          </p:cNvSpPr>
          <p:nvPr>
            <p:ph type="pic" idx="2"/>
          </p:nvPr>
        </p:nvSpPr>
        <p:spPr>
          <a:xfrm>
            <a:off x="3489177" y="2159957"/>
            <a:ext cx="25189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1" name="Google Shape;101;p24"/>
          <p:cNvSpPr>
            <a:spLocks noGrp="1"/>
          </p:cNvSpPr>
          <p:nvPr>
            <p:ph type="pic" idx="3"/>
          </p:nvPr>
        </p:nvSpPr>
        <p:spPr>
          <a:xfrm>
            <a:off x="3489175" y="4076343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2" name="Google Shape;102;p24"/>
          <p:cNvSpPr>
            <a:spLocks noGrp="1"/>
          </p:cNvSpPr>
          <p:nvPr>
            <p:ph type="pic" idx="4"/>
          </p:nvPr>
        </p:nvSpPr>
        <p:spPr>
          <a:xfrm>
            <a:off x="6197546" y="2159956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>
            <a:off x="8887605" y="4076342"/>
            <a:ext cx="2483779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5"/>
          </p:nvPr>
        </p:nvSpPr>
        <p:spPr>
          <a:xfrm>
            <a:off x="957385" y="2159957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>
            <a:spLocks noGrp="1"/>
          </p:cNvSpPr>
          <p:nvPr>
            <p:ph type="pic" idx="6"/>
          </p:nvPr>
        </p:nvSpPr>
        <p:spPr>
          <a:xfrm>
            <a:off x="6197548" y="4076342"/>
            <a:ext cx="2520000" cy="17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6" name="Google Shape;106;p24"/>
          <p:cNvSpPr txBox="1">
            <a:spLocks noGrp="1"/>
          </p:cNvSpPr>
          <p:nvPr>
            <p:ph type="body" idx="7"/>
          </p:nvPr>
        </p:nvSpPr>
        <p:spPr>
          <a:xfrm>
            <a:off x="957385" y="4076343"/>
            <a:ext cx="2334846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8"/>
          </p:nvPr>
        </p:nvSpPr>
        <p:spPr>
          <a:xfrm>
            <a:off x="8919308" y="2159956"/>
            <a:ext cx="2452077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0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9" name="Google Shape;109;p24"/>
          <p:cNvCxnSpPr/>
          <p:nvPr/>
        </p:nvCxnSpPr>
        <p:spPr>
          <a:xfrm flipH="1">
            <a:off x="838201" y="0"/>
            <a:ext cx="1" cy="1365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2)">
  <p:cSld name="Last slide (option 2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/>
          <p:nvPr/>
        </p:nvSpPr>
        <p:spPr>
          <a:xfrm>
            <a:off x="0" y="0"/>
            <a:ext cx="12192000" cy="34321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6"/>
          <p:cNvCxnSpPr/>
          <p:nvPr/>
        </p:nvCxnSpPr>
        <p:spPr>
          <a:xfrm>
            <a:off x="838200" y="0"/>
            <a:ext cx="0" cy="2362711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6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020968" cy="124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18">
            <a:alphaModFix/>
          </a:blip>
          <a:srcRect l="6902" t="10944" r="6668" b="9112"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metadata101/dcat-a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>
            <a:spLocks noGrp="1"/>
          </p:cNvSpPr>
          <p:nvPr>
            <p:ph type="ctrTitle"/>
          </p:nvPr>
        </p:nvSpPr>
        <p:spPr>
          <a:xfrm>
            <a:off x="1071349" y="1992572"/>
            <a:ext cx="10290265" cy="214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5600" dirty="0"/>
              <a:t>ISO &amp; GeoDCAT-AP metadata</a:t>
            </a:r>
            <a:br>
              <a:rPr lang="en-US" sz="5600" dirty="0"/>
            </a:br>
            <a:r>
              <a:rPr lang="en-US" sz="5600" dirty="0"/>
              <a:t>implementation pilot</a:t>
            </a:r>
            <a:endParaRPr sz="5600" dirty="0"/>
          </a:p>
        </p:txBody>
      </p:sp>
      <p:sp>
        <p:nvSpPr>
          <p:cNvPr id="121" name="Google Shape;121;p1"/>
          <p:cNvSpPr txBox="1">
            <a:spLocks noGrp="1"/>
          </p:cNvSpPr>
          <p:nvPr>
            <p:ph type="subTitle" idx="1"/>
          </p:nvPr>
        </p:nvSpPr>
        <p:spPr>
          <a:xfrm>
            <a:off x="1071350" y="3876692"/>
            <a:ext cx="9453393" cy="89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300"/>
            </a:pPr>
            <a:r>
              <a:rPr lang="en-US" sz="2400" b="1" dirty="0"/>
              <a:t>European Commission SEMIC Group (DG DIGIT), DG JRC,   Publications Office of the European Union </a:t>
            </a:r>
          </a:p>
          <a:p>
            <a:pPr>
              <a:buSzPts val="2300"/>
            </a:pPr>
            <a:r>
              <a:rPr lang="en-US" sz="2400" b="1" dirty="0"/>
              <a:t>&amp; Member States</a:t>
            </a: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2"/>
          </p:nvPr>
        </p:nvSpPr>
        <p:spPr>
          <a:xfrm>
            <a:off x="5684519" y="5384800"/>
            <a:ext cx="5677095" cy="136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GB" dirty="0">
                <a:solidFill>
                  <a:srgbClr val="FF0000"/>
                </a:solidFill>
              </a:rPr>
              <a:t>Denmark II</a:t>
            </a:r>
          </a:p>
          <a:p>
            <a:pPr marL="0" lvl="0" indent="0"/>
            <a:r>
              <a:rPr lang="en-GB" dirty="0"/>
              <a:t>Phase2 Kick-off Meeting</a:t>
            </a:r>
          </a:p>
          <a:p>
            <a:pPr marL="0" lvl="0" indent="0"/>
            <a:r>
              <a:rPr lang="en-GB" dirty="0"/>
              <a:t>December 5, 2025</a:t>
            </a:r>
          </a:p>
          <a:p>
            <a:pPr marL="0" lvl="0" indent="0" algn="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67154" y="1463040"/>
            <a:ext cx="10267462" cy="4875130"/>
          </a:xfrm>
          <a:noFill/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chemeClr val="bg2"/>
                </a:solidFill>
              </a:rPr>
              <a:t>News at national level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</a:rPr>
              <a:t>Installed and tested DCAT-AP Schema Plugin for </a:t>
            </a:r>
            <a:r>
              <a:rPr lang="en-US" sz="1200" dirty="0" err="1">
                <a:solidFill>
                  <a:srgbClr val="FF0000"/>
                </a:solidFill>
              </a:rPr>
              <a:t>GeoNetwork</a:t>
            </a:r>
            <a:r>
              <a:rPr lang="en-US" sz="1200" dirty="0">
                <a:solidFill>
                  <a:srgbClr val="FF0000"/>
                </a:solidFill>
              </a:rPr>
              <a:t> (</a:t>
            </a:r>
            <a:r>
              <a:rPr lang="en-US" sz="1200" dirty="0">
                <a:solidFill>
                  <a:srgbClr val="FF0000"/>
                </a:solidFill>
                <a:hlinkClick r:id="rId2"/>
              </a:rPr>
              <a:t>https://github.com/metadata101/dcat-ap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100" dirty="0">
                <a:solidFill>
                  <a:srgbClr val="FF0000"/>
                </a:solidFill>
              </a:rPr>
              <a:t>Use case: Data for energy consumption (not INSPIRE or geospatial data)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</a:rPr>
              <a:t>POC for </a:t>
            </a:r>
            <a:r>
              <a:rPr lang="en-US" sz="1200" dirty="0" err="1">
                <a:solidFill>
                  <a:srgbClr val="FF0000"/>
                </a:solidFill>
              </a:rPr>
              <a:t>GeoNetwork</a:t>
            </a:r>
            <a:r>
              <a:rPr lang="en-US" sz="1200" dirty="0">
                <a:solidFill>
                  <a:srgbClr val="FF0000"/>
                </a:solidFill>
              </a:rPr>
              <a:t> as NAP (ITS Directive)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100" dirty="0">
                <a:solidFill>
                  <a:srgbClr val="FF0000"/>
                </a:solidFill>
              </a:rPr>
              <a:t>ISO 19115-3:2023 -&gt; </a:t>
            </a:r>
            <a:r>
              <a:rPr lang="en-US" sz="1100" dirty="0" err="1">
                <a:solidFill>
                  <a:srgbClr val="FF0000"/>
                </a:solidFill>
              </a:rPr>
              <a:t>mobilityDCAT</a:t>
            </a:r>
            <a:r>
              <a:rPr lang="en-US" sz="1100" dirty="0">
                <a:solidFill>
                  <a:srgbClr val="FF0000"/>
                </a:solidFill>
              </a:rPr>
              <a:t> (Build-in XLST in </a:t>
            </a:r>
            <a:r>
              <a:rPr lang="en-US" sz="1100" dirty="0" err="1">
                <a:solidFill>
                  <a:srgbClr val="FF0000"/>
                </a:solidFill>
              </a:rPr>
              <a:t>GeoNetwork</a:t>
            </a:r>
            <a:r>
              <a:rPr lang="en-US" sz="1100" dirty="0">
                <a:solidFill>
                  <a:srgbClr val="FF0000"/>
                </a:solidFill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chemeClr val="bg2"/>
                </a:solidFill>
              </a:rPr>
              <a:t>Phase 1 – Feedback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</a:rPr>
              <a:t>At least three transformations exist – which one is the “Master”? Need for </a:t>
            </a:r>
            <a:r>
              <a:rPr lang="en-US" sz="1200">
                <a:solidFill>
                  <a:srgbClr val="FF0000"/>
                </a:solidFill>
              </a:rPr>
              <a:t>an overview?: </a:t>
            </a:r>
            <a:endParaRPr lang="en-US" sz="1200" dirty="0">
              <a:solidFill>
                <a:srgbClr val="FF0000"/>
              </a:solidFill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100" dirty="0">
                <a:solidFill>
                  <a:srgbClr val="FF0000"/>
                </a:solidFill>
              </a:rPr>
              <a:t>SEMICs ISO 19139 - &gt; </a:t>
            </a:r>
            <a:r>
              <a:rPr lang="en-US" sz="1100" dirty="0" err="1">
                <a:solidFill>
                  <a:srgbClr val="FF0000"/>
                </a:solidFill>
              </a:rPr>
              <a:t>GeoDCAT</a:t>
            </a:r>
            <a:r>
              <a:rPr lang="en-US" sz="1100" dirty="0">
                <a:solidFill>
                  <a:srgbClr val="FF0000"/>
                </a:solidFill>
              </a:rPr>
              <a:t>-AP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100" dirty="0" err="1">
                <a:solidFill>
                  <a:srgbClr val="FF0000"/>
                </a:solidFill>
              </a:rPr>
              <a:t>GeoNetworks</a:t>
            </a:r>
            <a:r>
              <a:rPr lang="en-US" sz="1100" dirty="0">
                <a:solidFill>
                  <a:srgbClr val="FF0000"/>
                </a:solidFill>
              </a:rPr>
              <a:t> ISO 19115-3 -&gt; </a:t>
            </a:r>
            <a:r>
              <a:rPr lang="en-US" sz="1100" dirty="0" err="1">
                <a:solidFill>
                  <a:srgbClr val="FF0000"/>
                </a:solidFill>
              </a:rPr>
              <a:t>GeoDCAT</a:t>
            </a:r>
            <a:r>
              <a:rPr lang="en-US" sz="1100" dirty="0">
                <a:solidFill>
                  <a:srgbClr val="FF0000"/>
                </a:solidFill>
              </a:rPr>
              <a:t>-AP, </a:t>
            </a:r>
            <a:r>
              <a:rPr lang="en-US" sz="1100" dirty="0" err="1">
                <a:solidFill>
                  <a:srgbClr val="FF0000"/>
                </a:solidFill>
              </a:rPr>
              <a:t>mobilityDCAT</a:t>
            </a:r>
            <a:r>
              <a:rPr lang="en-US" sz="1100" dirty="0">
                <a:solidFill>
                  <a:srgbClr val="FF0000"/>
                </a:solidFill>
              </a:rPr>
              <a:t>, DCAT-AP-HVD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100" dirty="0" err="1">
                <a:solidFill>
                  <a:srgbClr val="FF0000"/>
                </a:solidFill>
              </a:rPr>
              <a:t>Geoharvester</a:t>
            </a:r>
            <a:r>
              <a:rPr lang="en-US" sz="1100" dirty="0">
                <a:solidFill>
                  <a:srgbClr val="FF0000"/>
                </a:solidFill>
              </a:rPr>
              <a:t> (EDP) ISO 19115/19139 -&gt; </a:t>
            </a:r>
            <a:r>
              <a:rPr lang="en-US" sz="1100" dirty="0" err="1">
                <a:solidFill>
                  <a:srgbClr val="FF0000"/>
                </a:solidFill>
              </a:rPr>
              <a:t>GeoDCAT</a:t>
            </a:r>
            <a:r>
              <a:rPr lang="en-US" sz="1100" dirty="0">
                <a:solidFill>
                  <a:srgbClr val="FF0000"/>
                </a:solidFill>
              </a:rPr>
              <a:t>-AP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chemeClr val="bg2"/>
                </a:solidFill>
              </a:rPr>
              <a:t>Phase 2 – Expectations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</a:rPr>
              <a:t>Is there a interface to ISO/AWI TS 19115-5 (Geographic information — Metadata Part 5: DCAT mapping) – a conceptual mapping?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Pilot report </a:t>
            </a:r>
            <a:br>
              <a:rPr lang="en-GB" sz="3600" b="1" dirty="0"/>
            </a:br>
            <a:r>
              <a:rPr lang="en-GB" sz="3600" b="1" dirty="0">
                <a:solidFill>
                  <a:srgbClr val="FF0000"/>
                </a:solidFill>
              </a:rPr>
              <a:t>Denmark II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6ADC7554-1B7D-4732-86E0-E4BB47BC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989" y="5603950"/>
            <a:ext cx="3821964" cy="107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1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3590</TotalTime>
  <Words>172</Words>
  <Application>Microsoft Office PowerPoint</Application>
  <PresentationFormat>Widescreen</PresentationFormat>
  <Paragraphs>19</Paragraphs>
  <Slides>2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ISO &amp; GeoDCAT-AP metadata implementation pilot</vt:lpstr>
      <vt:lpstr>Pilot report  Denmark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 Registry</dc:title>
  <dc:creator>JOHN Yvonne (COMM)</dc:creator>
  <cp:lastModifiedBy>Lars Erik Storgaard</cp:lastModifiedBy>
  <cp:revision>236</cp:revision>
  <dcterms:created xsi:type="dcterms:W3CDTF">2019-08-09T12:06:42Z</dcterms:created>
  <dcterms:modified xsi:type="dcterms:W3CDTF">2025-12-04T16:40:42Z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ServerID">
    <vt:lpwstr>0d3b22a6-6203-4efc-8e8e-b5279256493b</vt:lpwstr>
  </property>
  <property fmtid="{D5CDD505-2E9C-101B-9397-08002B2CF9AE}" pid="3" name="Offisync_UpdateToken">
    <vt:lpwstr>5</vt:lpwstr>
  </property>
  <property fmtid="{D5CDD505-2E9C-101B-9397-08002B2CF9AE}" pid="4" name="Jive_VersionGuid">
    <vt:lpwstr>895d1684-e390-44f7-87f3-a893d9b6b3e1</vt:lpwstr>
  </property>
  <property fmtid="{D5CDD505-2E9C-101B-9397-08002B2CF9AE}" pid="5" name="Offisync_UniqueId">
    <vt:lpwstr>216256</vt:lpwstr>
  </property>
  <property fmtid="{D5CDD505-2E9C-101B-9397-08002B2CF9AE}" pid="6" name="Offisync_ProviderInitializationData">
    <vt:lpwstr>https://webgate.ec.europa.eu/connected</vt:lpwstr>
  </property>
  <property fmtid="{D5CDD505-2E9C-101B-9397-08002B2CF9AE}" pid="7" name="Jive_LatestUserAccountName">
    <vt:lpwstr>wojdapi</vt:lpwstr>
  </property>
  <property fmtid="{D5CDD505-2E9C-101B-9397-08002B2CF9AE}" pid="8" name="ContentTypeId">
    <vt:lpwstr>0x0101008CF1E423E1053143A72AC4DF303AC6F5</vt:lpwstr>
  </property>
  <property fmtid="{D5CDD505-2E9C-101B-9397-08002B2CF9AE}" pid="9" name="MSIP_Label_6bd9ddd1-4d20-43f6-abfa-fc3c07406f94_Enabled">
    <vt:lpwstr>true</vt:lpwstr>
  </property>
  <property fmtid="{D5CDD505-2E9C-101B-9397-08002B2CF9AE}" pid="10" name="MSIP_Label_6bd9ddd1-4d20-43f6-abfa-fc3c07406f94_SetDate">
    <vt:lpwstr>2025-11-27T17:36:36Z</vt:lpwstr>
  </property>
  <property fmtid="{D5CDD505-2E9C-101B-9397-08002B2CF9AE}" pid="11" name="MSIP_Label_6bd9ddd1-4d20-43f6-abfa-fc3c07406f94_Method">
    <vt:lpwstr>Standard</vt:lpwstr>
  </property>
  <property fmtid="{D5CDD505-2E9C-101B-9397-08002B2CF9AE}" pid="12" name="MSIP_Label_6bd9ddd1-4d20-43f6-abfa-fc3c07406f94_Name">
    <vt:lpwstr>Commission Use</vt:lpwstr>
  </property>
  <property fmtid="{D5CDD505-2E9C-101B-9397-08002B2CF9AE}" pid="13" name="MSIP_Label_6bd9ddd1-4d20-43f6-abfa-fc3c07406f94_SiteId">
    <vt:lpwstr>b24c8b06-522c-46fe-9080-70926f8dddb1</vt:lpwstr>
  </property>
  <property fmtid="{D5CDD505-2E9C-101B-9397-08002B2CF9AE}" pid="14" name="MSIP_Label_6bd9ddd1-4d20-43f6-abfa-fc3c07406f94_ActionId">
    <vt:lpwstr>7eed690b-4686-40e3-95b3-413fe8628c53</vt:lpwstr>
  </property>
  <property fmtid="{D5CDD505-2E9C-101B-9397-08002B2CF9AE}" pid="15" name="MSIP_Label_6bd9ddd1-4d20-43f6-abfa-fc3c07406f94_ContentBits">
    <vt:lpwstr>0</vt:lpwstr>
  </property>
  <property fmtid="{D5CDD505-2E9C-101B-9397-08002B2CF9AE}" pid="16" name="MSIP_Label_6bd9ddd1-4d20-43f6-abfa-fc3c07406f94_Tag">
    <vt:lpwstr>10, 3, 0, 1</vt:lpwstr>
  </property>
</Properties>
</file>